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72"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6389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 will be presenting my data analytics capstone project analyzing OSHA severe workplace injury reports from January 2015 through October 2025. This analysis was conducted across four tools </a:t>
            </a:r>
            <a:r>
              <a:rPr lang="en-US"/>
              <a:t>-</a:t>
            </a:r>
            <a:r>
              <a:rPr lang="en-US" dirty="0"/>
              <a:t> Excel, MySQL, Python, and Tableau.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agenda for today. We will cover 7 sections starting with dataset overview and ending with recommendations. I will be keeping an eye on time to make sure we get through everything.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comes from the OSHA Severe Injury Dashboard. Employers are required by federal law to report three types of injuries within 24 hours. Our dataset contains 105,317 records spanning 10 years across all 50 states plus DC and 5 US territories.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questions guided the entire analysis. Every chart, query, and cleaning decision was made in service of answering these questions. We will address each one throughout the presentation.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cleaning was performed across all three tools. The most significant cleaning task was building the hierarchical NAICS lookup that matched industry codes across multiple digit levels </a:t>
            </a:r>
            <a:r>
              <a:rPr lang="en-US"/>
              <a:t>-</a:t>
            </a:r>
            <a:r>
              <a:rPr lang="en-US" dirty="0"/>
              <a:t> this reduced our unmatched records from over 10,000 to just 32.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statistical summary confirms that hospitalization is the dominant outcome at 81.63%. The skewness analysis was particularly interesting </a:t>
            </a:r>
            <a:r>
              <a:rPr lang="en-US"/>
              <a:t>-</a:t>
            </a:r>
            <a:r>
              <a:rPr lang="en-US" dirty="0"/>
              <a:t> Loss of Eye has an extreme skewness of 54.83 reflecting just how rare that outcome is. I also want to note that we confirmed with the data that the Hospitalized and Amputation columns are counts, not binary flags.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correlation coefficient of -0.79 between Hospitalization and Amputation is one of the most interesting findings. It confirms these are distinct injury types with different mechanisms. This reinforces the importance of analyzing each outcome variable independently.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major geographic and industry patterns emerge. Construction consistently leads injury counts across all analysis levels. Texas leads all states by a significant margin </a:t>
            </a:r>
            <a:r>
              <a:rPr lang="en-US"/>
              <a:t>-</a:t>
            </a:r>
            <a:r>
              <a:rPr lang="en-US" dirty="0"/>
              <a:t> nearly 50% more than second place Florida. Ohio appearing in the top 5 is particularly relevant for our audience.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Fractures and amputations dominate injury types </a:t>
            </a:r>
            <a:r>
              <a:rPr lang="en-US"/>
              <a:t>-</a:t>
            </a:r>
            <a:r>
              <a:rPr lang="en-US" dirty="0"/>
              <a:t> together they account for over half of all severe injuries. On the time side, mid-week days Tuesday through Thursday are consistently the most dangerous. This suggests peak operational activity mid-week may be a contributing factor.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the full 10-year trend. Injuries climbed steadily from 2015 peaking at 11,156 in 2018. The COVID-19 pandemic caused a sharp drop in 2020 and injuries have not recovered to pre-pandemic levels. The 2025 bar only covers January through October so it is not directly comparable to prior years.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switch to Tableau Public to demonstrate the interactive dashboards live during the presentation. Each dashboard has year filtering enabled so the audience can see how patterns change year by year. The bubble chart and bar charts are particularly effective at showing the Construction industry dominance.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two different forecasting approaches. Python used a simple linear trend which was appropriate given what we covered in class. Tableau used exponential smoothing which is more sophisticated. Both models agree </a:t>
            </a:r>
            <a:r>
              <a:rPr lang="en-US"/>
              <a:t>-</a:t>
            </a:r>
            <a:r>
              <a:rPr lang="en-US" dirty="0"/>
              <a:t> monthly incidents will stabilize around 700 to 800 and are not expected to return to pre-COVID levels.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recommendations are directly grounded in the data findings. The first two are the most impactful </a:t>
            </a:r>
            <a:r>
              <a:rPr lang="en-US"/>
              <a:t>-</a:t>
            </a:r>
            <a:r>
              <a:rPr lang="en-US" dirty="0"/>
              <a:t> root cause analysis in high-risk industries and targeted training programs. The mid-week finding is particularly actionable since it is something organizations can implement immediately without significant cost.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important to be transparent about the limitations of this analysis. The most significant is that the data is employer-submitted which means underreporting is a real possibility. The NAICS matching gaps and partial 2025 data are also worth noting to the audience.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I am happy to answer any questions. Some anticipated questions: Why did we use LEFT JOIN instead of INNER JOIN in SQL? </a:t>
            </a:r>
            <a:r>
              <a:rPr lang="en-US"/>
              <a:t>- </a:t>
            </a:r>
            <a:r>
              <a:rPr lang="en-US" dirty="0"/>
              <a:t>Because we wanted to keep all injury records even if they did not match an industry code. Why did injuries not recover after COVID? </a:t>
            </a:r>
            <a:r>
              <a:rPr lang="en-US"/>
              <a:t>-</a:t>
            </a:r>
            <a:r>
              <a:rPr lang="en-US" dirty="0"/>
              <a:t> This is likely a combination of reduced workforce activity and possibly improved reporting compliance changes.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rot="900000">
            <a:off x="-457200" y="5029200"/>
            <a:ext cx="1280160" cy="2286000"/>
          </a:xfrm>
          <a:prstGeom prst="rect">
            <a:avLst/>
          </a:prstGeom>
          <a:solidFill>
            <a:srgbClr val="1B4F72">
              <a:alpha val="25000"/>
            </a:srgbClr>
          </a:solidFill>
          <a:ln w="12700">
            <a:solidFill>
              <a:srgbClr val="1B4F72">
                <a:alpha val="25000"/>
              </a:srgbClr>
            </a:solidFill>
            <a:prstDash val="solid"/>
          </a:ln>
        </p:spPr>
        <p:txBody>
          <a:bodyPr/>
          <a:lstStyle/>
          <a:p>
            <a:endParaRPr lang="en-US"/>
          </a:p>
        </p:txBody>
      </p:sp>
      <p:sp>
        <p:nvSpPr>
          <p:cNvPr id="3" name="Shape 1"/>
          <p:cNvSpPr/>
          <p:nvPr/>
        </p:nvSpPr>
        <p:spPr>
          <a:xfrm rot="900000">
            <a:off x="1280160" y="5029200"/>
            <a:ext cx="1280160" cy="2286000"/>
          </a:xfrm>
          <a:prstGeom prst="rect">
            <a:avLst/>
          </a:prstGeom>
          <a:solidFill>
            <a:srgbClr val="1B4F72">
              <a:alpha val="25000"/>
            </a:srgbClr>
          </a:solidFill>
          <a:ln w="12700">
            <a:solidFill>
              <a:srgbClr val="1B4F72">
                <a:alpha val="25000"/>
              </a:srgbClr>
            </a:solidFill>
            <a:prstDash val="solid"/>
          </a:ln>
        </p:spPr>
        <p:txBody>
          <a:bodyPr/>
          <a:lstStyle/>
          <a:p>
            <a:endParaRPr lang="en-US"/>
          </a:p>
        </p:txBody>
      </p:sp>
      <p:sp>
        <p:nvSpPr>
          <p:cNvPr id="4" name="Shape 2"/>
          <p:cNvSpPr/>
          <p:nvPr/>
        </p:nvSpPr>
        <p:spPr>
          <a:xfrm rot="900000">
            <a:off x="3017520" y="5029200"/>
            <a:ext cx="1280160" cy="2286000"/>
          </a:xfrm>
          <a:prstGeom prst="rect">
            <a:avLst/>
          </a:prstGeom>
          <a:solidFill>
            <a:srgbClr val="1B4F72">
              <a:alpha val="25000"/>
            </a:srgbClr>
          </a:solidFill>
          <a:ln w="12700">
            <a:solidFill>
              <a:srgbClr val="1B4F72">
                <a:alpha val="25000"/>
              </a:srgbClr>
            </a:solidFill>
            <a:prstDash val="solid"/>
          </a:ln>
        </p:spPr>
        <p:txBody>
          <a:bodyPr/>
          <a:lstStyle/>
          <a:p>
            <a:endParaRPr lang="en-US"/>
          </a:p>
        </p:txBody>
      </p:sp>
      <p:sp>
        <p:nvSpPr>
          <p:cNvPr id="5" name="Shape 3"/>
          <p:cNvSpPr/>
          <p:nvPr/>
        </p:nvSpPr>
        <p:spPr>
          <a:xfrm rot="900000">
            <a:off x="4754880" y="5029200"/>
            <a:ext cx="1280160" cy="2286000"/>
          </a:xfrm>
          <a:prstGeom prst="rect">
            <a:avLst/>
          </a:prstGeom>
          <a:solidFill>
            <a:srgbClr val="1B4F72">
              <a:alpha val="25000"/>
            </a:srgbClr>
          </a:solidFill>
          <a:ln w="12700">
            <a:solidFill>
              <a:srgbClr val="1B4F72">
                <a:alpha val="25000"/>
              </a:srgbClr>
            </a:solidFill>
            <a:prstDash val="solid"/>
          </a:ln>
        </p:spPr>
        <p:txBody>
          <a:bodyPr/>
          <a:lstStyle/>
          <a:p>
            <a:endParaRPr lang="en-US"/>
          </a:p>
        </p:txBody>
      </p:sp>
      <p:sp>
        <p:nvSpPr>
          <p:cNvPr id="6" name="Shape 4"/>
          <p:cNvSpPr/>
          <p:nvPr/>
        </p:nvSpPr>
        <p:spPr>
          <a:xfrm rot="900000">
            <a:off x="6492240" y="5029200"/>
            <a:ext cx="1280160" cy="2286000"/>
          </a:xfrm>
          <a:prstGeom prst="rect">
            <a:avLst/>
          </a:prstGeom>
          <a:solidFill>
            <a:srgbClr val="1B4F72">
              <a:alpha val="25000"/>
            </a:srgbClr>
          </a:solidFill>
          <a:ln w="12700">
            <a:solidFill>
              <a:srgbClr val="1B4F72">
                <a:alpha val="25000"/>
              </a:srgbClr>
            </a:solidFill>
            <a:prstDash val="solid"/>
          </a:ln>
        </p:spPr>
        <p:txBody>
          <a:bodyPr/>
          <a:lstStyle/>
          <a:p>
            <a:endParaRPr lang="en-US"/>
          </a:p>
        </p:txBody>
      </p:sp>
      <p:sp>
        <p:nvSpPr>
          <p:cNvPr id="7" name="Shape 5"/>
          <p:cNvSpPr/>
          <p:nvPr/>
        </p:nvSpPr>
        <p:spPr>
          <a:xfrm rot="900000">
            <a:off x="8229600" y="5029200"/>
            <a:ext cx="1280160" cy="2286000"/>
          </a:xfrm>
          <a:prstGeom prst="rect">
            <a:avLst/>
          </a:prstGeom>
          <a:solidFill>
            <a:srgbClr val="1B4F72">
              <a:alpha val="25000"/>
            </a:srgbClr>
          </a:solidFill>
          <a:ln w="12700">
            <a:solidFill>
              <a:srgbClr val="1B4F72">
                <a:alpha val="25000"/>
              </a:srgbClr>
            </a:solidFill>
            <a:prstDash val="solid"/>
          </a:ln>
        </p:spPr>
        <p:txBody>
          <a:bodyPr/>
          <a:lstStyle/>
          <a:p>
            <a:endParaRPr lang="en-US"/>
          </a:p>
        </p:txBody>
      </p:sp>
      <p:sp>
        <p:nvSpPr>
          <p:cNvPr id="8" name="Shape 6"/>
          <p:cNvSpPr/>
          <p:nvPr/>
        </p:nvSpPr>
        <p:spPr>
          <a:xfrm rot="900000">
            <a:off x="9966960" y="5029200"/>
            <a:ext cx="1280160" cy="2286000"/>
          </a:xfrm>
          <a:prstGeom prst="rect">
            <a:avLst/>
          </a:prstGeom>
          <a:solidFill>
            <a:srgbClr val="1B4F72">
              <a:alpha val="25000"/>
            </a:srgbClr>
          </a:solidFill>
          <a:ln w="12700">
            <a:solidFill>
              <a:srgbClr val="1B4F72">
                <a:alpha val="25000"/>
              </a:srgbClr>
            </a:solidFill>
            <a:prstDash val="solid"/>
          </a:ln>
        </p:spPr>
        <p:txBody>
          <a:bodyPr/>
          <a:lstStyle/>
          <a:p>
            <a:endParaRPr lang="en-US"/>
          </a:p>
        </p:txBody>
      </p:sp>
      <p:sp>
        <p:nvSpPr>
          <p:cNvPr id="9" name="Shape 7"/>
          <p:cNvSpPr/>
          <p:nvPr/>
        </p:nvSpPr>
        <p:spPr>
          <a:xfrm rot="900000">
            <a:off x="11704320" y="5029200"/>
            <a:ext cx="1280160" cy="2286000"/>
          </a:xfrm>
          <a:prstGeom prst="rect">
            <a:avLst/>
          </a:prstGeom>
          <a:solidFill>
            <a:srgbClr val="1B4F72">
              <a:alpha val="25000"/>
            </a:srgbClr>
          </a:solidFill>
          <a:ln w="12700">
            <a:solidFill>
              <a:srgbClr val="1B4F72">
                <a:alpha val="25000"/>
              </a:srgbClr>
            </a:solidFill>
            <a:prstDash val="solid"/>
          </a:ln>
        </p:spPr>
        <p:txBody>
          <a:bodyPr/>
          <a:lstStyle/>
          <a:p>
            <a:endParaRPr lang="en-US"/>
          </a:p>
        </p:txBody>
      </p:sp>
      <p:sp>
        <p:nvSpPr>
          <p:cNvPr id="10" name="Text 8"/>
          <p:cNvSpPr/>
          <p:nvPr/>
        </p:nvSpPr>
        <p:spPr>
          <a:xfrm>
            <a:off x="1371600" y="914400"/>
            <a:ext cx="9418320" cy="457200"/>
          </a:xfrm>
          <a:prstGeom prst="rect">
            <a:avLst/>
          </a:prstGeom>
          <a:noFill/>
          <a:ln/>
        </p:spPr>
        <p:txBody>
          <a:bodyPr wrap="square" rtlCol="0" anchor="ctr"/>
          <a:lstStyle/>
          <a:p>
            <a:pPr marL="0" indent="0" algn="ctr">
              <a:buNone/>
            </a:pPr>
            <a:r>
              <a:rPr lang="en-US" sz="1300" b="1" kern="0" spc="400" dirty="0">
                <a:solidFill>
                  <a:srgbClr val="E09F3E"/>
                </a:solidFill>
                <a:latin typeface="Calibri" pitchFamily="34" charset="0"/>
                <a:ea typeface="Calibri" pitchFamily="34" charset="-122"/>
                <a:cs typeface="Calibri" pitchFamily="34" charset="-120"/>
              </a:rPr>
              <a:t>DATA ANALYTICS CAPSTONE PROJECT</a:t>
            </a:r>
            <a:endParaRPr lang="en-US" sz="1300" dirty="0"/>
          </a:p>
        </p:txBody>
      </p:sp>
      <p:sp>
        <p:nvSpPr>
          <p:cNvPr id="11" name="Text 9"/>
          <p:cNvSpPr/>
          <p:nvPr/>
        </p:nvSpPr>
        <p:spPr>
          <a:xfrm>
            <a:off x="914400" y="1463040"/>
            <a:ext cx="10332720" cy="1645920"/>
          </a:xfrm>
          <a:prstGeom prst="rect">
            <a:avLst/>
          </a:prstGeom>
          <a:noFill/>
          <a:ln/>
        </p:spPr>
        <p:txBody>
          <a:bodyPr wrap="square"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OSHA Severe Workplace</a:t>
            </a:r>
            <a:endParaRPr lang="en-US" sz="4200" dirty="0"/>
          </a:p>
          <a:p>
            <a:pPr marL="0" indent="0" algn="ctr">
              <a:buNone/>
            </a:pPr>
            <a:r>
              <a:rPr lang="en-US" sz="4200" b="1" dirty="0">
                <a:solidFill>
                  <a:srgbClr val="FFFFFF"/>
                </a:solidFill>
                <a:latin typeface="Calibri" pitchFamily="34" charset="0"/>
                <a:ea typeface="Calibri" pitchFamily="34" charset="-122"/>
                <a:cs typeface="Calibri" pitchFamily="34" charset="-120"/>
              </a:rPr>
              <a:t>Injury Analysis</a:t>
            </a:r>
            <a:endParaRPr lang="en-US" sz="4200" dirty="0"/>
          </a:p>
        </p:txBody>
      </p:sp>
      <p:sp>
        <p:nvSpPr>
          <p:cNvPr id="12" name="Text 10"/>
          <p:cNvSpPr/>
          <p:nvPr/>
        </p:nvSpPr>
        <p:spPr>
          <a:xfrm>
            <a:off x="1371600" y="3246120"/>
            <a:ext cx="9418320" cy="411480"/>
          </a:xfrm>
          <a:prstGeom prst="rect">
            <a:avLst/>
          </a:prstGeom>
          <a:noFill/>
          <a:ln/>
        </p:spPr>
        <p:txBody>
          <a:bodyPr wrap="square" rtlCol="0" anchor="ctr"/>
          <a:lstStyle/>
          <a:p>
            <a:pPr marL="0" indent="0" algn="ctr">
              <a:buNone/>
            </a:pPr>
            <a:r>
              <a:rPr lang="en-US" sz="1400" dirty="0">
                <a:solidFill>
                  <a:srgbClr val="D6E8F5"/>
                </a:solidFill>
                <a:latin typeface="Calibri" pitchFamily="34" charset="0"/>
                <a:ea typeface="Calibri" pitchFamily="34" charset="-122"/>
                <a:cs typeface="Calibri" pitchFamily="34" charset="-120"/>
              </a:rPr>
              <a:t>January 2015 – October 2025  |  105,317 Records  |  56 States &amp; Territories</a:t>
            </a:r>
            <a:endParaRPr lang="en-US" sz="1400" dirty="0"/>
          </a:p>
        </p:txBody>
      </p:sp>
      <p:sp>
        <p:nvSpPr>
          <p:cNvPr id="13" name="Shape 11"/>
          <p:cNvSpPr/>
          <p:nvPr/>
        </p:nvSpPr>
        <p:spPr>
          <a:xfrm>
            <a:off x="1554480" y="3931920"/>
            <a:ext cx="2103120" cy="384048"/>
          </a:xfrm>
          <a:prstGeom prst="roundRect">
            <a:avLst>
              <a:gd name="adj" fmla="val 23810"/>
            </a:avLst>
          </a:prstGeom>
          <a:solidFill>
            <a:srgbClr val="1B4F72"/>
          </a:solidFill>
          <a:ln w="12700">
            <a:solidFill>
              <a:srgbClr val="2E86AB"/>
            </a:solidFill>
            <a:prstDash val="solid"/>
          </a:ln>
        </p:spPr>
        <p:txBody>
          <a:bodyPr/>
          <a:lstStyle/>
          <a:p>
            <a:endParaRPr lang="en-US"/>
          </a:p>
        </p:txBody>
      </p:sp>
      <p:sp>
        <p:nvSpPr>
          <p:cNvPr id="14" name="Text 12"/>
          <p:cNvSpPr/>
          <p:nvPr/>
        </p:nvSpPr>
        <p:spPr>
          <a:xfrm>
            <a:off x="1554480" y="3931920"/>
            <a:ext cx="2103120" cy="38404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Microsoft Excel</a:t>
            </a:r>
            <a:endParaRPr lang="en-US" sz="1100" dirty="0"/>
          </a:p>
        </p:txBody>
      </p:sp>
      <p:sp>
        <p:nvSpPr>
          <p:cNvPr id="15" name="Shape 13"/>
          <p:cNvSpPr/>
          <p:nvPr/>
        </p:nvSpPr>
        <p:spPr>
          <a:xfrm>
            <a:off x="3886200" y="3931920"/>
            <a:ext cx="2103120" cy="384048"/>
          </a:xfrm>
          <a:prstGeom prst="roundRect">
            <a:avLst>
              <a:gd name="adj" fmla="val 23810"/>
            </a:avLst>
          </a:prstGeom>
          <a:solidFill>
            <a:srgbClr val="1B4F72"/>
          </a:solidFill>
          <a:ln w="12700">
            <a:solidFill>
              <a:srgbClr val="2E86AB"/>
            </a:solidFill>
            <a:prstDash val="solid"/>
          </a:ln>
        </p:spPr>
        <p:txBody>
          <a:bodyPr/>
          <a:lstStyle/>
          <a:p>
            <a:endParaRPr lang="en-US"/>
          </a:p>
        </p:txBody>
      </p:sp>
      <p:sp>
        <p:nvSpPr>
          <p:cNvPr id="16" name="Text 14"/>
          <p:cNvSpPr/>
          <p:nvPr/>
        </p:nvSpPr>
        <p:spPr>
          <a:xfrm>
            <a:off x="3886200" y="3931920"/>
            <a:ext cx="2103120" cy="38404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MySQL / DBeaver</a:t>
            </a:r>
            <a:endParaRPr lang="en-US" sz="1100" dirty="0"/>
          </a:p>
        </p:txBody>
      </p:sp>
      <p:sp>
        <p:nvSpPr>
          <p:cNvPr id="17" name="Shape 15"/>
          <p:cNvSpPr/>
          <p:nvPr/>
        </p:nvSpPr>
        <p:spPr>
          <a:xfrm>
            <a:off x="6217920" y="3931920"/>
            <a:ext cx="2103120" cy="384048"/>
          </a:xfrm>
          <a:prstGeom prst="roundRect">
            <a:avLst>
              <a:gd name="adj" fmla="val 23810"/>
            </a:avLst>
          </a:prstGeom>
          <a:solidFill>
            <a:srgbClr val="1B4F72"/>
          </a:solidFill>
          <a:ln w="12700">
            <a:solidFill>
              <a:srgbClr val="2E86AB"/>
            </a:solidFill>
            <a:prstDash val="solid"/>
          </a:ln>
        </p:spPr>
        <p:txBody>
          <a:bodyPr/>
          <a:lstStyle/>
          <a:p>
            <a:endParaRPr lang="en-US"/>
          </a:p>
        </p:txBody>
      </p:sp>
      <p:sp>
        <p:nvSpPr>
          <p:cNvPr id="18" name="Text 16"/>
          <p:cNvSpPr/>
          <p:nvPr/>
        </p:nvSpPr>
        <p:spPr>
          <a:xfrm>
            <a:off x="6217920" y="3931920"/>
            <a:ext cx="2103120" cy="38404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Python / Jupyter</a:t>
            </a:r>
            <a:endParaRPr lang="en-US" sz="1100" dirty="0"/>
          </a:p>
        </p:txBody>
      </p:sp>
      <p:sp>
        <p:nvSpPr>
          <p:cNvPr id="19" name="Shape 17"/>
          <p:cNvSpPr/>
          <p:nvPr/>
        </p:nvSpPr>
        <p:spPr>
          <a:xfrm>
            <a:off x="8549640" y="3931920"/>
            <a:ext cx="2103120" cy="384048"/>
          </a:xfrm>
          <a:prstGeom prst="roundRect">
            <a:avLst>
              <a:gd name="adj" fmla="val 23810"/>
            </a:avLst>
          </a:prstGeom>
          <a:solidFill>
            <a:srgbClr val="1B4F72"/>
          </a:solidFill>
          <a:ln w="12700">
            <a:solidFill>
              <a:srgbClr val="2E86AB"/>
            </a:solidFill>
            <a:prstDash val="solid"/>
          </a:ln>
        </p:spPr>
        <p:txBody>
          <a:bodyPr/>
          <a:lstStyle/>
          <a:p>
            <a:endParaRPr lang="en-US"/>
          </a:p>
        </p:txBody>
      </p:sp>
      <p:sp>
        <p:nvSpPr>
          <p:cNvPr id="20" name="Text 18"/>
          <p:cNvSpPr/>
          <p:nvPr/>
        </p:nvSpPr>
        <p:spPr>
          <a:xfrm>
            <a:off x="8549640" y="3931920"/>
            <a:ext cx="2103120" cy="38404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Tableau Public</a:t>
            </a:r>
            <a:endParaRPr lang="en-US" sz="1100" dirty="0"/>
          </a:p>
        </p:txBody>
      </p:sp>
      <p:sp>
        <p:nvSpPr>
          <p:cNvPr id="21" name="Text 19"/>
          <p:cNvSpPr/>
          <p:nvPr/>
        </p:nvSpPr>
        <p:spPr>
          <a:xfrm>
            <a:off x="1371600" y="6217920"/>
            <a:ext cx="9418320" cy="320040"/>
          </a:xfrm>
          <a:prstGeom prst="rect">
            <a:avLst/>
          </a:prstGeom>
          <a:noFill/>
          <a:ln/>
        </p:spPr>
        <p:txBody>
          <a:bodyPr wrap="square" rtlCol="0" anchor="ctr"/>
          <a:lstStyle/>
          <a:p>
            <a:pPr marL="0" indent="0" algn="ctr">
              <a:buNone/>
            </a:pPr>
            <a:r>
              <a:rPr lang="en-US" sz="1000" dirty="0">
                <a:solidFill>
                  <a:srgbClr val="5A7A8E"/>
                </a:solidFill>
                <a:latin typeface="Calibri" pitchFamily="34" charset="0"/>
                <a:ea typeface="Calibri" pitchFamily="34" charset="-122"/>
                <a:cs typeface="Calibri" pitchFamily="34" charset="-120"/>
              </a:rPr>
              <a:t>Mary Becker  |  FullStack Academy Data Analytics Certificate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0D1B2A"/>
          </a:solidFill>
          <a:ln/>
        </p:spPr>
        <p:txBody>
          <a:bodyPr/>
          <a:lstStyle/>
          <a:p>
            <a:endParaRPr lang="en-US"/>
          </a:p>
        </p:txBody>
      </p:sp>
      <p:sp>
        <p:nvSpPr>
          <p:cNvPr id="3" name="Text 1"/>
          <p:cNvSpPr/>
          <p:nvPr/>
        </p:nvSpPr>
        <p:spPr>
          <a:xfrm>
            <a:off x="365760" y="73152"/>
            <a:ext cx="91440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Agenda</a:t>
            </a:r>
            <a:endParaRPr lang="en-US" sz="2800" dirty="0"/>
          </a:p>
        </p:txBody>
      </p:sp>
      <p:sp>
        <p:nvSpPr>
          <p:cNvPr id="4" name="Text 2"/>
          <p:cNvSpPr/>
          <p:nvPr/>
        </p:nvSpPr>
        <p:spPr>
          <a:xfrm>
            <a:off x="365760" y="594360"/>
            <a:ext cx="9144000" cy="347472"/>
          </a:xfrm>
          <a:prstGeom prst="rect">
            <a:avLst/>
          </a:prstGeom>
          <a:noFill/>
          <a:ln/>
        </p:spPr>
        <p:txBody>
          <a:bodyPr wrap="square" rtlCol="0" anchor="t"/>
          <a:lstStyle/>
          <a:p>
            <a:pPr marL="0" indent="0">
              <a:buNone/>
            </a:pPr>
            <a:r>
              <a:rPr lang="en-US" sz="1300" dirty="0">
                <a:solidFill>
                  <a:srgbClr val="D6E8F5"/>
                </a:solidFill>
                <a:latin typeface="Calibri" pitchFamily="34" charset="0"/>
                <a:ea typeface="Calibri" pitchFamily="34" charset="-122"/>
                <a:cs typeface="Calibri" pitchFamily="34" charset="-120"/>
              </a:rPr>
              <a:t>What we will cover in the next 7–10 minutes</a:t>
            </a:r>
            <a:endParaRPr lang="en-US" sz="1300" dirty="0"/>
          </a:p>
        </p:txBody>
      </p:sp>
      <p:sp>
        <p:nvSpPr>
          <p:cNvPr id="5" name="Shape 3"/>
          <p:cNvSpPr/>
          <p:nvPr/>
        </p:nvSpPr>
        <p:spPr>
          <a:xfrm>
            <a:off x="365760" y="1188720"/>
            <a:ext cx="5486400" cy="1005840"/>
          </a:xfrm>
          <a:prstGeom prst="rect">
            <a:avLst/>
          </a:prstGeom>
          <a:solidFill>
            <a:srgbClr val="F7F9FB"/>
          </a:solidFill>
          <a:ln w="12700">
            <a:solidFill>
              <a:srgbClr val="D6E8F5"/>
            </a:solidFill>
            <a:prstDash val="solid"/>
          </a:ln>
        </p:spPr>
        <p:txBody>
          <a:bodyPr/>
          <a:lstStyle/>
          <a:p>
            <a:endParaRPr lang="en-US"/>
          </a:p>
        </p:txBody>
      </p:sp>
      <p:sp>
        <p:nvSpPr>
          <p:cNvPr id="6" name="Text 4"/>
          <p:cNvSpPr/>
          <p:nvPr/>
        </p:nvSpPr>
        <p:spPr>
          <a:xfrm>
            <a:off x="502920" y="1280160"/>
            <a:ext cx="640080" cy="822960"/>
          </a:xfrm>
          <a:prstGeom prst="rect">
            <a:avLst/>
          </a:prstGeom>
          <a:noFill/>
          <a:ln/>
        </p:spPr>
        <p:txBody>
          <a:bodyPr wrap="square" rtlCol="0" anchor="ctr"/>
          <a:lstStyle/>
          <a:p>
            <a:pPr marL="0" indent="0">
              <a:buNone/>
            </a:pPr>
            <a:r>
              <a:rPr lang="en-US" sz="2200" b="1" dirty="0">
                <a:solidFill>
                  <a:srgbClr val="E09F3E"/>
                </a:solidFill>
                <a:latin typeface="Calibri" pitchFamily="34" charset="0"/>
                <a:ea typeface="Calibri" pitchFamily="34" charset="-122"/>
                <a:cs typeface="Calibri" pitchFamily="34" charset="-120"/>
              </a:rPr>
              <a:t>01</a:t>
            </a:r>
            <a:endParaRPr lang="en-US" sz="2200" dirty="0"/>
          </a:p>
        </p:txBody>
      </p:sp>
      <p:sp>
        <p:nvSpPr>
          <p:cNvPr id="7" name="Text 5"/>
          <p:cNvSpPr/>
          <p:nvPr/>
        </p:nvSpPr>
        <p:spPr>
          <a:xfrm>
            <a:off x="1188720" y="1261872"/>
            <a:ext cx="4480560" cy="420624"/>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Dataset Overview</a:t>
            </a:r>
            <a:endParaRPr lang="en-US" sz="1400" dirty="0"/>
          </a:p>
        </p:txBody>
      </p:sp>
      <p:sp>
        <p:nvSpPr>
          <p:cNvPr id="8" name="Text 6"/>
          <p:cNvSpPr/>
          <p:nvPr/>
        </p:nvSpPr>
        <p:spPr>
          <a:xfrm>
            <a:off x="1188720" y="1682496"/>
            <a:ext cx="4480560" cy="384048"/>
          </a:xfrm>
          <a:prstGeom prst="rect">
            <a:avLst/>
          </a:prstGeom>
          <a:noFill/>
          <a:ln/>
        </p:spPr>
        <p:txBody>
          <a:bodyPr wrap="square" rtlCol="0" anchor="ctr"/>
          <a:lstStyle/>
          <a:p>
            <a:pPr marL="0" indent="0">
              <a:buNone/>
            </a:pPr>
            <a:r>
              <a:rPr lang="en-US" sz="1100" dirty="0">
                <a:solidFill>
                  <a:srgbClr val="5A7A8E"/>
                </a:solidFill>
                <a:latin typeface="Calibri" pitchFamily="34" charset="0"/>
                <a:ea typeface="Calibri" pitchFamily="34" charset="-122"/>
                <a:cs typeface="Calibri" pitchFamily="34" charset="-120"/>
              </a:rPr>
              <a:t>Source, scope, and column definitions</a:t>
            </a:r>
            <a:endParaRPr lang="en-US" sz="1100" dirty="0"/>
          </a:p>
        </p:txBody>
      </p:sp>
      <p:sp>
        <p:nvSpPr>
          <p:cNvPr id="9" name="Shape 7"/>
          <p:cNvSpPr/>
          <p:nvPr/>
        </p:nvSpPr>
        <p:spPr>
          <a:xfrm>
            <a:off x="365760" y="2423160"/>
            <a:ext cx="5486400" cy="1005840"/>
          </a:xfrm>
          <a:prstGeom prst="rect">
            <a:avLst/>
          </a:prstGeom>
          <a:solidFill>
            <a:srgbClr val="FFFFFF"/>
          </a:solidFill>
          <a:ln w="12700">
            <a:solidFill>
              <a:srgbClr val="D6E8F5"/>
            </a:solidFill>
            <a:prstDash val="solid"/>
          </a:ln>
        </p:spPr>
        <p:txBody>
          <a:bodyPr/>
          <a:lstStyle/>
          <a:p>
            <a:endParaRPr lang="en-US"/>
          </a:p>
        </p:txBody>
      </p:sp>
      <p:sp>
        <p:nvSpPr>
          <p:cNvPr id="10" name="Text 8"/>
          <p:cNvSpPr/>
          <p:nvPr/>
        </p:nvSpPr>
        <p:spPr>
          <a:xfrm>
            <a:off x="502920" y="2514600"/>
            <a:ext cx="640080" cy="822960"/>
          </a:xfrm>
          <a:prstGeom prst="rect">
            <a:avLst/>
          </a:prstGeom>
          <a:noFill/>
          <a:ln/>
        </p:spPr>
        <p:txBody>
          <a:bodyPr wrap="square" rtlCol="0" anchor="ctr"/>
          <a:lstStyle/>
          <a:p>
            <a:pPr marL="0" indent="0">
              <a:buNone/>
            </a:pPr>
            <a:r>
              <a:rPr lang="en-US" sz="2200" b="1" dirty="0">
                <a:solidFill>
                  <a:srgbClr val="E09F3E"/>
                </a:solidFill>
                <a:latin typeface="Calibri" pitchFamily="34" charset="0"/>
                <a:ea typeface="Calibri" pitchFamily="34" charset="-122"/>
                <a:cs typeface="Calibri" pitchFamily="34" charset="-120"/>
              </a:rPr>
              <a:t>02</a:t>
            </a:r>
            <a:endParaRPr lang="en-US" sz="2200" dirty="0"/>
          </a:p>
        </p:txBody>
      </p:sp>
      <p:sp>
        <p:nvSpPr>
          <p:cNvPr id="11" name="Text 9"/>
          <p:cNvSpPr/>
          <p:nvPr/>
        </p:nvSpPr>
        <p:spPr>
          <a:xfrm>
            <a:off x="1188720" y="2496312"/>
            <a:ext cx="4480560" cy="420624"/>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Data Cleaning</a:t>
            </a:r>
            <a:endParaRPr lang="en-US" sz="1400" dirty="0"/>
          </a:p>
        </p:txBody>
      </p:sp>
      <p:sp>
        <p:nvSpPr>
          <p:cNvPr id="12" name="Text 10"/>
          <p:cNvSpPr/>
          <p:nvPr/>
        </p:nvSpPr>
        <p:spPr>
          <a:xfrm>
            <a:off x="1188720" y="2916936"/>
            <a:ext cx="4480560" cy="384048"/>
          </a:xfrm>
          <a:prstGeom prst="rect">
            <a:avLst/>
          </a:prstGeom>
          <a:noFill/>
          <a:ln/>
        </p:spPr>
        <p:txBody>
          <a:bodyPr wrap="square" rtlCol="0" anchor="ctr"/>
          <a:lstStyle/>
          <a:p>
            <a:pPr marL="0" indent="0">
              <a:buNone/>
            </a:pPr>
            <a:r>
              <a:rPr lang="en-US" sz="1100" dirty="0">
                <a:solidFill>
                  <a:srgbClr val="5A7A8E"/>
                </a:solidFill>
                <a:latin typeface="Calibri" pitchFamily="34" charset="0"/>
                <a:ea typeface="Calibri" pitchFamily="34" charset="-122"/>
                <a:cs typeface="Calibri" pitchFamily="34" charset="-120"/>
              </a:rPr>
              <a:t>Duplicates, formatting, NAICS lookup, standardization</a:t>
            </a:r>
            <a:endParaRPr lang="en-US" sz="1100" dirty="0"/>
          </a:p>
        </p:txBody>
      </p:sp>
      <p:sp>
        <p:nvSpPr>
          <p:cNvPr id="13" name="Shape 11"/>
          <p:cNvSpPr/>
          <p:nvPr/>
        </p:nvSpPr>
        <p:spPr>
          <a:xfrm>
            <a:off x="365760" y="3657600"/>
            <a:ext cx="5486400" cy="1005840"/>
          </a:xfrm>
          <a:prstGeom prst="rect">
            <a:avLst/>
          </a:prstGeom>
          <a:solidFill>
            <a:srgbClr val="F7F9FB"/>
          </a:solidFill>
          <a:ln w="12700">
            <a:solidFill>
              <a:srgbClr val="D6E8F5"/>
            </a:solidFill>
            <a:prstDash val="solid"/>
          </a:ln>
        </p:spPr>
        <p:txBody>
          <a:bodyPr/>
          <a:lstStyle/>
          <a:p>
            <a:endParaRPr lang="en-US"/>
          </a:p>
        </p:txBody>
      </p:sp>
      <p:sp>
        <p:nvSpPr>
          <p:cNvPr id="14" name="Text 12"/>
          <p:cNvSpPr/>
          <p:nvPr/>
        </p:nvSpPr>
        <p:spPr>
          <a:xfrm>
            <a:off x="502920" y="3749040"/>
            <a:ext cx="640080" cy="822960"/>
          </a:xfrm>
          <a:prstGeom prst="rect">
            <a:avLst/>
          </a:prstGeom>
          <a:noFill/>
          <a:ln/>
        </p:spPr>
        <p:txBody>
          <a:bodyPr wrap="square" rtlCol="0" anchor="ctr"/>
          <a:lstStyle/>
          <a:p>
            <a:pPr marL="0" indent="0">
              <a:buNone/>
            </a:pPr>
            <a:r>
              <a:rPr lang="en-US" sz="2200" b="1" dirty="0">
                <a:solidFill>
                  <a:srgbClr val="E09F3E"/>
                </a:solidFill>
                <a:latin typeface="Calibri" pitchFamily="34" charset="0"/>
                <a:ea typeface="Calibri" pitchFamily="34" charset="-122"/>
                <a:cs typeface="Calibri" pitchFamily="34" charset="-120"/>
              </a:rPr>
              <a:t>03</a:t>
            </a:r>
            <a:endParaRPr lang="en-US" sz="2200" dirty="0"/>
          </a:p>
        </p:txBody>
      </p:sp>
      <p:sp>
        <p:nvSpPr>
          <p:cNvPr id="15" name="Text 13"/>
          <p:cNvSpPr/>
          <p:nvPr/>
        </p:nvSpPr>
        <p:spPr>
          <a:xfrm>
            <a:off x="1188720" y="3730752"/>
            <a:ext cx="4480560" cy="420624"/>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Exploratory Data Analysis</a:t>
            </a:r>
            <a:endParaRPr lang="en-US" sz="1400" dirty="0"/>
          </a:p>
        </p:txBody>
      </p:sp>
      <p:sp>
        <p:nvSpPr>
          <p:cNvPr id="16" name="Text 14"/>
          <p:cNvSpPr/>
          <p:nvPr/>
        </p:nvSpPr>
        <p:spPr>
          <a:xfrm>
            <a:off x="1188720" y="4151376"/>
            <a:ext cx="4480560" cy="384048"/>
          </a:xfrm>
          <a:prstGeom prst="rect">
            <a:avLst/>
          </a:prstGeom>
          <a:noFill/>
          <a:ln/>
        </p:spPr>
        <p:txBody>
          <a:bodyPr wrap="square" rtlCol="0" anchor="ctr"/>
          <a:lstStyle/>
          <a:p>
            <a:pPr marL="0" indent="0">
              <a:buNone/>
            </a:pPr>
            <a:r>
              <a:rPr lang="en-US" sz="1100" dirty="0">
                <a:solidFill>
                  <a:srgbClr val="5A7A8E"/>
                </a:solidFill>
                <a:latin typeface="Calibri" pitchFamily="34" charset="0"/>
                <a:ea typeface="Calibri" pitchFamily="34" charset="-122"/>
                <a:cs typeface="Calibri" pitchFamily="34" charset="-120"/>
              </a:rPr>
              <a:t>Statistics, distributions, skewness, outliers</a:t>
            </a:r>
            <a:endParaRPr lang="en-US" sz="1100" dirty="0"/>
          </a:p>
        </p:txBody>
      </p:sp>
      <p:sp>
        <p:nvSpPr>
          <p:cNvPr id="17" name="Shape 15"/>
          <p:cNvSpPr/>
          <p:nvPr/>
        </p:nvSpPr>
        <p:spPr>
          <a:xfrm>
            <a:off x="365760" y="4892040"/>
            <a:ext cx="5486400" cy="1005840"/>
          </a:xfrm>
          <a:prstGeom prst="rect">
            <a:avLst/>
          </a:prstGeom>
          <a:solidFill>
            <a:srgbClr val="FFFFFF"/>
          </a:solidFill>
          <a:ln w="12700">
            <a:solidFill>
              <a:srgbClr val="D6E8F5"/>
            </a:solidFill>
            <a:prstDash val="solid"/>
          </a:ln>
        </p:spPr>
        <p:txBody>
          <a:bodyPr/>
          <a:lstStyle/>
          <a:p>
            <a:endParaRPr lang="en-US"/>
          </a:p>
        </p:txBody>
      </p:sp>
      <p:sp>
        <p:nvSpPr>
          <p:cNvPr id="18" name="Text 16"/>
          <p:cNvSpPr/>
          <p:nvPr/>
        </p:nvSpPr>
        <p:spPr>
          <a:xfrm>
            <a:off x="502920" y="4983480"/>
            <a:ext cx="640080" cy="822960"/>
          </a:xfrm>
          <a:prstGeom prst="rect">
            <a:avLst/>
          </a:prstGeom>
          <a:noFill/>
          <a:ln/>
        </p:spPr>
        <p:txBody>
          <a:bodyPr wrap="square" rtlCol="0" anchor="ctr"/>
          <a:lstStyle/>
          <a:p>
            <a:pPr marL="0" indent="0">
              <a:buNone/>
            </a:pPr>
            <a:r>
              <a:rPr lang="en-US" sz="2200" b="1" dirty="0">
                <a:solidFill>
                  <a:srgbClr val="E09F3E"/>
                </a:solidFill>
                <a:latin typeface="Calibri" pitchFamily="34" charset="0"/>
                <a:ea typeface="Calibri" pitchFamily="34" charset="-122"/>
                <a:cs typeface="Calibri" pitchFamily="34" charset="-120"/>
              </a:rPr>
              <a:t>04</a:t>
            </a:r>
            <a:endParaRPr lang="en-US" sz="2200" dirty="0"/>
          </a:p>
        </p:txBody>
      </p:sp>
      <p:sp>
        <p:nvSpPr>
          <p:cNvPr id="19" name="Text 17"/>
          <p:cNvSpPr/>
          <p:nvPr/>
        </p:nvSpPr>
        <p:spPr>
          <a:xfrm>
            <a:off x="1188720" y="4965192"/>
            <a:ext cx="4480560" cy="420624"/>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Key Findings</a:t>
            </a:r>
            <a:endParaRPr lang="en-US" sz="1400" dirty="0"/>
          </a:p>
        </p:txBody>
      </p:sp>
      <p:sp>
        <p:nvSpPr>
          <p:cNvPr id="20" name="Text 18"/>
          <p:cNvSpPr/>
          <p:nvPr/>
        </p:nvSpPr>
        <p:spPr>
          <a:xfrm>
            <a:off x="1188720" y="5385816"/>
            <a:ext cx="4480560" cy="384048"/>
          </a:xfrm>
          <a:prstGeom prst="rect">
            <a:avLst/>
          </a:prstGeom>
          <a:noFill/>
          <a:ln/>
        </p:spPr>
        <p:txBody>
          <a:bodyPr wrap="square" rtlCol="0" anchor="ctr"/>
          <a:lstStyle/>
          <a:p>
            <a:pPr marL="0" indent="0">
              <a:buNone/>
            </a:pPr>
            <a:r>
              <a:rPr lang="en-US" sz="1100" dirty="0">
                <a:solidFill>
                  <a:srgbClr val="5A7A8E"/>
                </a:solidFill>
                <a:latin typeface="Calibri" pitchFamily="34" charset="0"/>
                <a:ea typeface="Calibri" pitchFamily="34" charset="-122"/>
                <a:cs typeface="Calibri" pitchFamily="34" charset="-120"/>
              </a:rPr>
              <a:t>Industry, geography, injury type, time trends</a:t>
            </a:r>
            <a:endParaRPr lang="en-US" sz="1100" dirty="0"/>
          </a:p>
        </p:txBody>
      </p:sp>
      <p:sp>
        <p:nvSpPr>
          <p:cNvPr id="21" name="Shape 19"/>
          <p:cNvSpPr/>
          <p:nvPr/>
        </p:nvSpPr>
        <p:spPr>
          <a:xfrm>
            <a:off x="6309360" y="1188720"/>
            <a:ext cx="5486400" cy="1005840"/>
          </a:xfrm>
          <a:prstGeom prst="rect">
            <a:avLst/>
          </a:prstGeom>
          <a:solidFill>
            <a:srgbClr val="F7F9FB"/>
          </a:solidFill>
          <a:ln w="12700">
            <a:solidFill>
              <a:srgbClr val="D6E8F5"/>
            </a:solidFill>
            <a:prstDash val="solid"/>
          </a:ln>
        </p:spPr>
        <p:txBody>
          <a:bodyPr/>
          <a:lstStyle/>
          <a:p>
            <a:endParaRPr lang="en-US"/>
          </a:p>
        </p:txBody>
      </p:sp>
      <p:sp>
        <p:nvSpPr>
          <p:cNvPr id="22" name="Text 20"/>
          <p:cNvSpPr/>
          <p:nvPr/>
        </p:nvSpPr>
        <p:spPr>
          <a:xfrm>
            <a:off x="6446520" y="1280160"/>
            <a:ext cx="640080" cy="822960"/>
          </a:xfrm>
          <a:prstGeom prst="rect">
            <a:avLst/>
          </a:prstGeom>
          <a:noFill/>
          <a:ln/>
        </p:spPr>
        <p:txBody>
          <a:bodyPr wrap="square" rtlCol="0" anchor="ctr"/>
          <a:lstStyle/>
          <a:p>
            <a:pPr marL="0" indent="0">
              <a:buNone/>
            </a:pPr>
            <a:r>
              <a:rPr lang="en-US" sz="2200" b="1" dirty="0">
                <a:solidFill>
                  <a:srgbClr val="E09F3E"/>
                </a:solidFill>
                <a:latin typeface="Calibri" pitchFamily="34" charset="0"/>
                <a:ea typeface="Calibri" pitchFamily="34" charset="-122"/>
                <a:cs typeface="Calibri" pitchFamily="34" charset="-120"/>
              </a:rPr>
              <a:t>05</a:t>
            </a:r>
            <a:endParaRPr lang="en-US" sz="2200" dirty="0"/>
          </a:p>
        </p:txBody>
      </p:sp>
      <p:sp>
        <p:nvSpPr>
          <p:cNvPr id="23" name="Text 21"/>
          <p:cNvSpPr/>
          <p:nvPr/>
        </p:nvSpPr>
        <p:spPr>
          <a:xfrm>
            <a:off x="7132320" y="1261872"/>
            <a:ext cx="4480560" cy="420624"/>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Visualizations</a:t>
            </a:r>
            <a:endParaRPr lang="en-US" sz="1400" dirty="0"/>
          </a:p>
        </p:txBody>
      </p:sp>
      <p:sp>
        <p:nvSpPr>
          <p:cNvPr id="24" name="Text 22"/>
          <p:cNvSpPr/>
          <p:nvPr/>
        </p:nvSpPr>
        <p:spPr>
          <a:xfrm>
            <a:off x="7132320" y="1682496"/>
            <a:ext cx="4480560" cy="384048"/>
          </a:xfrm>
          <a:prstGeom prst="rect">
            <a:avLst/>
          </a:prstGeom>
          <a:noFill/>
          <a:ln/>
        </p:spPr>
        <p:txBody>
          <a:bodyPr wrap="square" rtlCol="0" anchor="ctr"/>
          <a:lstStyle/>
          <a:p>
            <a:pPr marL="0" indent="0">
              <a:buNone/>
            </a:pPr>
            <a:r>
              <a:rPr lang="en-US" sz="1100" dirty="0">
                <a:solidFill>
                  <a:srgbClr val="5A7A8E"/>
                </a:solidFill>
                <a:latin typeface="Calibri" pitchFamily="34" charset="0"/>
                <a:ea typeface="Calibri" pitchFamily="34" charset="-122"/>
                <a:cs typeface="Calibri" pitchFamily="34" charset="-120"/>
              </a:rPr>
              <a:t>Charts from Excel, Python, and Tableau dashboards</a:t>
            </a:r>
            <a:endParaRPr lang="en-US" sz="1100" dirty="0"/>
          </a:p>
        </p:txBody>
      </p:sp>
      <p:sp>
        <p:nvSpPr>
          <p:cNvPr id="25" name="Shape 23"/>
          <p:cNvSpPr/>
          <p:nvPr/>
        </p:nvSpPr>
        <p:spPr>
          <a:xfrm>
            <a:off x="6309360" y="2423160"/>
            <a:ext cx="5486400" cy="1005840"/>
          </a:xfrm>
          <a:prstGeom prst="rect">
            <a:avLst/>
          </a:prstGeom>
          <a:solidFill>
            <a:srgbClr val="FFFFFF"/>
          </a:solidFill>
          <a:ln w="12700">
            <a:solidFill>
              <a:srgbClr val="D6E8F5"/>
            </a:solidFill>
            <a:prstDash val="solid"/>
          </a:ln>
        </p:spPr>
        <p:txBody>
          <a:bodyPr/>
          <a:lstStyle/>
          <a:p>
            <a:endParaRPr lang="en-US"/>
          </a:p>
        </p:txBody>
      </p:sp>
      <p:sp>
        <p:nvSpPr>
          <p:cNvPr id="26" name="Text 24"/>
          <p:cNvSpPr/>
          <p:nvPr/>
        </p:nvSpPr>
        <p:spPr>
          <a:xfrm>
            <a:off x="6446520" y="2514600"/>
            <a:ext cx="640080" cy="822960"/>
          </a:xfrm>
          <a:prstGeom prst="rect">
            <a:avLst/>
          </a:prstGeom>
          <a:noFill/>
          <a:ln/>
        </p:spPr>
        <p:txBody>
          <a:bodyPr wrap="square" rtlCol="0" anchor="ctr"/>
          <a:lstStyle/>
          <a:p>
            <a:pPr marL="0" indent="0">
              <a:buNone/>
            </a:pPr>
            <a:r>
              <a:rPr lang="en-US" sz="2200" b="1" dirty="0">
                <a:solidFill>
                  <a:srgbClr val="E09F3E"/>
                </a:solidFill>
                <a:latin typeface="Calibri" pitchFamily="34" charset="0"/>
                <a:ea typeface="Calibri" pitchFamily="34" charset="-122"/>
                <a:cs typeface="Calibri" pitchFamily="34" charset="-120"/>
              </a:rPr>
              <a:t>06</a:t>
            </a:r>
            <a:endParaRPr lang="en-US" sz="2200" dirty="0"/>
          </a:p>
        </p:txBody>
      </p:sp>
      <p:sp>
        <p:nvSpPr>
          <p:cNvPr id="27" name="Text 25"/>
          <p:cNvSpPr/>
          <p:nvPr/>
        </p:nvSpPr>
        <p:spPr>
          <a:xfrm>
            <a:off x="7132320" y="2496312"/>
            <a:ext cx="4480560" cy="420624"/>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Forecasting</a:t>
            </a:r>
            <a:endParaRPr lang="en-US" sz="1400" dirty="0"/>
          </a:p>
        </p:txBody>
      </p:sp>
      <p:sp>
        <p:nvSpPr>
          <p:cNvPr id="28" name="Text 26"/>
          <p:cNvSpPr/>
          <p:nvPr/>
        </p:nvSpPr>
        <p:spPr>
          <a:xfrm>
            <a:off x="7132320" y="2916936"/>
            <a:ext cx="4480560" cy="384048"/>
          </a:xfrm>
          <a:prstGeom prst="rect">
            <a:avLst/>
          </a:prstGeom>
          <a:noFill/>
          <a:ln/>
        </p:spPr>
        <p:txBody>
          <a:bodyPr wrap="square" rtlCol="0" anchor="ctr"/>
          <a:lstStyle/>
          <a:p>
            <a:pPr marL="0" indent="0">
              <a:buNone/>
            </a:pPr>
            <a:r>
              <a:rPr lang="en-US" sz="1100" dirty="0">
                <a:solidFill>
                  <a:srgbClr val="5A7A8E"/>
                </a:solidFill>
                <a:latin typeface="Calibri" pitchFamily="34" charset="0"/>
                <a:ea typeface="Calibri" pitchFamily="34" charset="-122"/>
                <a:cs typeface="Calibri" pitchFamily="34" charset="-120"/>
              </a:rPr>
              <a:t>Projected injury trends through 2027</a:t>
            </a:r>
            <a:endParaRPr lang="en-US" sz="1100" dirty="0"/>
          </a:p>
        </p:txBody>
      </p:sp>
      <p:sp>
        <p:nvSpPr>
          <p:cNvPr id="29" name="Shape 27"/>
          <p:cNvSpPr/>
          <p:nvPr/>
        </p:nvSpPr>
        <p:spPr>
          <a:xfrm>
            <a:off x="6309360" y="3657600"/>
            <a:ext cx="5486400" cy="1005840"/>
          </a:xfrm>
          <a:prstGeom prst="rect">
            <a:avLst/>
          </a:prstGeom>
          <a:solidFill>
            <a:srgbClr val="F7F9FB"/>
          </a:solidFill>
          <a:ln w="12700">
            <a:solidFill>
              <a:srgbClr val="D6E8F5"/>
            </a:solidFill>
            <a:prstDash val="solid"/>
          </a:ln>
        </p:spPr>
        <p:txBody>
          <a:bodyPr/>
          <a:lstStyle/>
          <a:p>
            <a:endParaRPr lang="en-US"/>
          </a:p>
        </p:txBody>
      </p:sp>
      <p:sp>
        <p:nvSpPr>
          <p:cNvPr id="30" name="Text 28"/>
          <p:cNvSpPr/>
          <p:nvPr/>
        </p:nvSpPr>
        <p:spPr>
          <a:xfrm>
            <a:off x="6446520" y="3749040"/>
            <a:ext cx="640080" cy="822960"/>
          </a:xfrm>
          <a:prstGeom prst="rect">
            <a:avLst/>
          </a:prstGeom>
          <a:noFill/>
          <a:ln/>
        </p:spPr>
        <p:txBody>
          <a:bodyPr wrap="square" rtlCol="0" anchor="ctr"/>
          <a:lstStyle/>
          <a:p>
            <a:pPr marL="0" indent="0">
              <a:buNone/>
            </a:pPr>
            <a:r>
              <a:rPr lang="en-US" sz="2200" b="1" dirty="0">
                <a:solidFill>
                  <a:srgbClr val="E09F3E"/>
                </a:solidFill>
                <a:latin typeface="Calibri" pitchFamily="34" charset="0"/>
                <a:ea typeface="Calibri" pitchFamily="34" charset="-122"/>
                <a:cs typeface="Calibri" pitchFamily="34" charset="-120"/>
              </a:rPr>
              <a:t>07</a:t>
            </a:r>
            <a:endParaRPr lang="en-US" sz="2200" dirty="0"/>
          </a:p>
        </p:txBody>
      </p:sp>
      <p:sp>
        <p:nvSpPr>
          <p:cNvPr id="31" name="Text 29"/>
          <p:cNvSpPr/>
          <p:nvPr/>
        </p:nvSpPr>
        <p:spPr>
          <a:xfrm>
            <a:off x="7132320" y="3730752"/>
            <a:ext cx="4480560" cy="420624"/>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Recommendations</a:t>
            </a:r>
            <a:endParaRPr lang="en-US" sz="1400" dirty="0"/>
          </a:p>
        </p:txBody>
      </p:sp>
      <p:sp>
        <p:nvSpPr>
          <p:cNvPr id="32" name="Text 30"/>
          <p:cNvSpPr/>
          <p:nvPr/>
        </p:nvSpPr>
        <p:spPr>
          <a:xfrm>
            <a:off x="7132320" y="4151376"/>
            <a:ext cx="4480560" cy="384048"/>
          </a:xfrm>
          <a:prstGeom prst="rect">
            <a:avLst/>
          </a:prstGeom>
          <a:noFill/>
          <a:ln/>
        </p:spPr>
        <p:txBody>
          <a:bodyPr wrap="square" rtlCol="0" anchor="ctr"/>
          <a:lstStyle/>
          <a:p>
            <a:pPr marL="0" indent="0">
              <a:buNone/>
            </a:pPr>
            <a:r>
              <a:rPr lang="en-US" sz="1100" dirty="0">
                <a:solidFill>
                  <a:srgbClr val="5A7A8E"/>
                </a:solidFill>
                <a:latin typeface="Calibri" pitchFamily="34" charset="0"/>
                <a:ea typeface="Calibri" pitchFamily="34" charset="-122"/>
                <a:cs typeface="Calibri" pitchFamily="34" charset="-120"/>
              </a:rPr>
              <a:t>Actionable insights for safety professionals and HR leaders</a:t>
            </a:r>
            <a:endParaRPr lang="en-US" sz="1100" dirty="0"/>
          </a:p>
        </p:txBody>
      </p:sp>
      <p:sp>
        <p:nvSpPr>
          <p:cNvPr id="33" name="Text 31"/>
          <p:cNvSpPr/>
          <p:nvPr/>
        </p:nvSpPr>
        <p:spPr>
          <a:xfrm>
            <a:off x="0" y="6492240"/>
            <a:ext cx="12192000" cy="32004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OSHA Severe Injury Report Analysis  |  Mary Becker  |  Data Analytics Capstone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0D1B2A"/>
          </a:solidFill>
          <a:ln/>
        </p:spPr>
        <p:txBody>
          <a:bodyPr/>
          <a:lstStyle/>
          <a:p>
            <a:endParaRPr lang="en-US"/>
          </a:p>
        </p:txBody>
      </p:sp>
      <p:sp>
        <p:nvSpPr>
          <p:cNvPr id="3" name="Text 1"/>
          <p:cNvSpPr/>
          <p:nvPr/>
        </p:nvSpPr>
        <p:spPr>
          <a:xfrm>
            <a:off x="365760" y="73152"/>
            <a:ext cx="91440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Dataset Overview</a:t>
            </a:r>
            <a:endParaRPr lang="en-US" sz="2800" dirty="0"/>
          </a:p>
        </p:txBody>
      </p:sp>
      <p:sp>
        <p:nvSpPr>
          <p:cNvPr id="4" name="Text 2"/>
          <p:cNvSpPr/>
          <p:nvPr/>
        </p:nvSpPr>
        <p:spPr>
          <a:xfrm>
            <a:off x="365760" y="594360"/>
            <a:ext cx="9144000" cy="347472"/>
          </a:xfrm>
          <a:prstGeom prst="rect">
            <a:avLst/>
          </a:prstGeom>
          <a:noFill/>
          <a:ln/>
        </p:spPr>
        <p:txBody>
          <a:bodyPr wrap="square" rtlCol="0" anchor="t"/>
          <a:lstStyle/>
          <a:p>
            <a:pPr marL="0" indent="0">
              <a:buNone/>
            </a:pPr>
            <a:r>
              <a:rPr lang="en-US" sz="1300" dirty="0">
                <a:solidFill>
                  <a:srgbClr val="D6E8F5"/>
                </a:solidFill>
                <a:latin typeface="Calibri" pitchFamily="34" charset="0"/>
                <a:ea typeface="Calibri" pitchFamily="34" charset="-122"/>
                <a:cs typeface="Calibri" pitchFamily="34" charset="-120"/>
              </a:rPr>
              <a:t>OSHA Severe Injury Report </a:t>
            </a:r>
            <a:r>
              <a:rPr lang="en-US" sz="1300">
                <a:solidFill>
                  <a:srgbClr val="D6E8F5"/>
                </a:solidFill>
                <a:latin typeface="Calibri" pitchFamily="34" charset="0"/>
                <a:ea typeface="Calibri" pitchFamily="34" charset="-122"/>
                <a:cs typeface="Calibri" pitchFamily="34" charset="-120"/>
              </a:rPr>
              <a:t>-</a:t>
            </a:r>
            <a:r>
              <a:rPr lang="en-US" sz="1300" dirty="0">
                <a:solidFill>
                  <a:srgbClr val="D6E8F5"/>
                </a:solidFill>
                <a:latin typeface="Calibri" pitchFamily="34" charset="0"/>
                <a:ea typeface="Calibri" pitchFamily="34" charset="-122"/>
                <a:cs typeface="Calibri" pitchFamily="34" charset="-120"/>
              </a:rPr>
              <a:t> osha.gov/severe-injury-reports</a:t>
            </a:r>
            <a:endParaRPr lang="en-US" sz="1300" dirty="0"/>
          </a:p>
        </p:txBody>
      </p:sp>
      <p:sp>
        <p:nvSpPr>
          <p:cNvPr id="5" name="Text 3"/>
          <p:cNvSpPr/>
          <p:nvPr/>
        </p:nvSpPr>
        <p:spPr>
          <a:xfrm>
            <a:off x="365760" y="1143000"/>
            <a:ext cx="5303520" cy="365760"/>
          </a:xfrm>
          <a:prstGeom prst="rect">
            <a:avLst/>
          </a:prstGeom>
          <a:noFill/>
          <a:ln/>
        </p:spPr>
        <p:txBody>
          <a:bodyPr wrap="square" rtlCol="0" anchor="ctr"/>
          <a:lstStyle/>
          <a:p>
            <a:pPr marL="0" indent="0">
              <a:buNone/>
            </a:pPr>
            <a:r>
              <a:rPr lang="en-US" sz="1600" b="1" dirty="0">
                <a:solidFill>
                  <a:srgbClr val="0D1B2A"/>
                </a:solidFill>
                <a:latin typeface="Calibri" pitchFamily="34" charset="0"/>
                <a:ea typeface="Calibri" pitchFamily="34" charset="-122"/>
                <a:cs typeface="Calibri" pitchFamily="34" charset="-120"/>
              </a:rPr>
              <a:t>What is this dataset?</a:t>
            </a:r>
            <a:endParaRPr lang="en-US" sz="1600" dirty="0"/>
          </a:p>
        </p:txBody>
      </p:sp>
      <p:sp>
        <p:nvSpPr>
          <p:cNvPr id="6" name="Text 4"/>
          <p:cNvSpPr/>
          <p:nvPr/>
        </p:nvSpPr>
        <p:spPr>
          <a:xfrm>
            <a:off x="365760" y="1554480"/>
            <a:ext cx="5303520" cy="502920"/>
          </a:xfrm>
          <a:prstGeom prst="rect">
            <a:avLst/>
          </a:prstGeom>
          <a:noFill/>
          <a:ln/>
        </p:spPr>
        <p:txBody>
          <a:bodyPr wrap="square" rtlCol="0" anchor="ctr"/>
          <a:lstStyle/>
          <a:p>
            <a:pPr marL="0" indent="0">
              <a:buNone/>
            </a:pPr>
            <a:r>
              <a:rPr lang="en-US" sz="1200" dirty="0">
                <a:solidFill>
                  <a:srgbClr val="1A2E3B"/>
                </a:solidFill>
                <a:latin typeface="Calibri" pitchFamily="34" charset="0"/>
                <a:ea typeface="Calibri" pitchFamily="34" charset="-122"/>
                <a:cs typeface="Calibri" pitchFamily="34" charset="-120"/>
              </a:rPr>
              <a:t>Under 29 CFR 1904.39, employers must report three types of severe workplace injuries to OSHA within 24 hours:</a:t>
            </a:r>
            <a:endParaRPr lang="en-US" sz="1200" dirty="0"/>
          </a:p>
        </p:txBody>
      </p:sp>
      <p:sp>
        <p:nvSpPr>
          <p:cNvPr id="7" name="Shape 5"/>
          <p:cNvSpPr/>
          <p:nvPr/>
        </p:nvSpPr>
        <p:spPr>
          <a:xfrm>
            <a:off x="365760" y="2148840"/>
            <a:ext cx="1645920" cy="822960"/>
          </a:xfrm>
          <a:prstGeom prst="rect">
            <a:avLst/>
          </a:prstGeom>
          <a:solidFill>
            <a:srgbClr val="2E86AB"/>
          </a:solidFill>
          <a:ln w="12700">
            <a:solidFill>
              <a:srgbClr val="2E86AB"/>
            </a:solidFill>
            <a:prstDash val="solid"/>
          </a:ln>
        </p:spPr>
        <p:txBody>
          <a:bodyPr/>
          <a:lstStyle/>
          <a:p>
            <a:endParaRPr lang="en-US"/>
          </a:p>
        </p:txBody>
      </p:sp>
      <p:sp>
        <p:nvSpPr>
          <p:cNvPr id="8" name="Text 6"/>
          <p:cNvSpPr/>
          <p:nvPr/>
        </p:nvSpPr>
        <p:spPr>
          <a:xfrm>
            <a:off x="365760" y="2148840"/>
            <a:ext cx="1645920" cy="8229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In-patient Hospitalization</a:t>
            </a:r>
            <a:endParaRPr lang="en-US" sz="1100" dirty="0"/>
          </a:p>
        </p:txBody>
      </p:sp>
      <p:sp>
        <p:nvSpPr>
          <p:cNvPr id="9" name="Shape 7"/>
          <p:cNvSpPr/>
          <p:nvPr/>
        </p:nvSpPr>
        <p:spPr>
          <a:xfrm>
            <a:off x="2194560" y="2148840"/>
            <a:ext cx="1645920" cy="822960"/>
          </a:xfrm>
          <a:prstGeom prst="rect">
            <a:avLst/>
          </a:prstGeom>
          <a:solidFill>
            <a:srgbClr val="E09F3E"/>
          </a:solidFill>
          <a:ln w="12700">
            <a:solidFill>
              <a:srgbClr val="E09F3E"/>
            </a:solidFill>
            <a:prstDash val="solid"/>
          </a:ln>
        </p:spPr>
        <p:txBody>
          <a:bodyPr/>
          <a:lstStyle/>
          <a:p>
            <a:endParaRPr lang="en-US"/>
          </a:p>
        </p:txBody>
      </p:sp>
      <p:sp>
        <p:nvSpPr>
          <p:cNvPr id="10" name="Text 8"/>
          <p:cNvSpPr/>
          <p:nvPr/>
        </p:nvSpPr>
        <p:spPr>
          <a:xfrm>
            <a:off x="2194560" y="2148840"/>
            <a:ext cx="1645920" cy="8229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Amputation</a:t>
            </a:r>
            <a:endParaRPr lang="en-US" sz="1100" dirty="0"/>
          </a:p>
        </p:txBody>
      </p:sp>
      <p:sp>
        <p:nvSpPr>
          <p:cNvPr id="11" name="Shape 9"/>
          <p:cNvSpPr/>
          <p:nvPr/>
        </p:nvSpPr>
        <p:spPr>
          <a:xfrm>
            <a:off x="4023360" y="2148840"/>
            <a:ext cx="1645920" cy="822960"/>
          </a:xfrm>
          <a:prstGeom prst="rect">
            <a:avLst/>
          </a:prstGeom>
          <a:solidFill>
            <a:srgbClr val="1B4F72"/>
          </a:solidFill>
          <a:ln w="12700">
            <a:solidFill>
              <a:srgbClr val="1B4F72"/>
            </a:solidFill>
            <a:prstDash val="solid"/>
          </a:ln>
        </p:spPr>
        <p:txBody>
          <a:bodyPr/>
          <a:lstStyle/>
          <a:p>
            <a:endParaRPr lang="en-US"/>
          </a:p>
        </p:txBody>
      </p:sp>
      <p:sp>
        <p:nvSpPr>
          <p:cNvPr id="12" name="Text 10"/>
          <p:cNvSpPr/>
          <p:nvPr/>
        </p:nvSpPr>
        <p:spPr>
          <a:xfrm>
            <a:off x="4023360" y="2148840"/>
            <a:ext cx="1645920" cy="8229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Loss of an Eye</a:t>
            </a:r>
            <a:endParaRPr lang="en-US" sz="1100" dirty="0"/>
          </a:p>
        </p:txBody>
      </p:sp>
      <p:sp>
        <p:nvSpPr>
          <p:cNvPr id="13" name="Text 11"/>
          <p:cNvSpPr/>
          <p:nvPr/>
        </p:nvSpPr>
        <p:spPr>
          <a:xfrm>
            <a:off x="365760" y="3108960"/>
            <a:ext cx="5303520" cy="320040"/>
          </a:xfrm>
          <a:prstGeom prst="rect">
            <a:avLst/>
          </a:prstGeom>
          <a:noFill/>
          <a:ln/>
        </p:spPr>
        <p:txBody>
          <a:bodyPr wrap="square" rtlCol="0" anchor="ctr"/>
          <a:lstStyle/>
          <a:p>
            <a:pPr marL="0" indent="0">
              <a:buNone/>
            </a:pPr>
            <a:r>
              <a:rPr lang="en-US" sz="1200" b="1" dirty="0">
                <a:solidFill>
                  <a:srgbClr val="1B4F72"/>
                </a:solidFill>
                <a:latin typeface="Calibri" pitchFamily="34" charset="0"/>
                <a:ea typeface="Calibri" pitchFamily="34" charset="-122"/>
                <a:cs typeface="Calibri" pitchFamily="34" charset="-120"/>
              </a:rPr>
              <a:t>Each row = one reported incident</a:t>
            </a:r>
            <a:endParaRPr lang="en-US" sz="1200" dirty="0"/>
          </a:p>
        </p:txBody>
      </p:sp>
      <p:sp>
        <p:nvSpPr>
          <p:cNvPr id="14" name="Text 12"/>
          <p:cNvSpPr/>
          <p:nvPr/>
        </p:nvSpPr>
        <p:spPr>
          <a:xfrm>
            <a:off x="365760" y="3429000"/>
            <a:ext cx="5303520" cy="777240"/>
          </a:xfrm>
          <a:prstGeom prst="rect">
            <a:avLst/>
          </a:prstGeom>
          <a:noFill/>
          <a:ln/>
        </p:spPr>
        <p:txBody>
          <a:bodyPr wrap="square" rtlCol="0" anchor="ctr"/>
          <a:lstStyle/>
          <a:p>
            <a:pPr marL="0" indent="0">
              <a:buNone/>
            </a:pPr>
            <a:r>
              <a:rPr lang="en-US" sz="1200" dirty="0">
                <a:solidFill>
                  <a:srgbClr val="1A2E3B"/>
                </a:solidFill>
                <a:latin typeface="Calibri" pitchFamily="34" charset="0"/>
                <a:ea typeface="Calibri" pitchFamily="34" charset="-122"/>
                <a:cs typeface="Calibri" pitchFamily="34" charset="-120"/>
              </a:rPr>
              <a:t>25 columns including employer, location, date, injury type,</a:t>
            </a:r>
            <a:endParaRPr lang="en-US" sz="1200" dirty="0"/>
          </a:p>
          <a:p>
            <a:pPr marL="0" indent="0">
              <a:buNone/>
            </a:pPr>
            <a:r>
              <a:rPr lang="en-US" sz="1200" dirty="0">
                <a:solidFill>
                  <a:srgbClr val="1A2E3B"/>
                </a:solidFill>
                <a:latin typeface="Calibri" pitchFamily="34" charset="0"/>
                <a:ea typeface="Calibri" pitchFamily="34" charset="-122"/>
                <a:cs typeface="Calibri" pitchFamily="34" charset="-120"/>
              </a:rPr>
              <a:t>body part, event type, NAICS industry code, and three</a:t>
            </a:r>
            <a:endParaRPr lang="en-US" sz="1200" dirty="0"/>
          </a:p>
          <a:p>
            <a:pPr marL="0" indent="0">
              <a:buNone/>
            </a:pPr>
            <a:r>
              <a:rPr lang="en-US" sz="1200" dirty="0">
                <a:solidFill>
                  <a:srgbClr val="1A2E3B"/>
                </a:solidFill>
                <a:latin typeface="Calibri" pitchFamily="34" charset="0"/>
                <a:ea typeface="Calibri" pitchFamily="34" charset="-122"/>
                <a:cs typeface="Calibri" pitchFamily="34" charset="-120"/>
              </a:rPr>
              <a:t>outcome fields: Hospitalized, Amputation, Loss of Eye.</a:t>
            </a:r>
            <a:endParaRPr lang="en-US" sz="1200" dirty="0"/>
          </a:p>
        </p:txBody>
      </p:sp>
      <p:sp>
        <p:nvSpPr>
          <p:cNvPr id="15" name="Text 13"/>
          <p:cNvSpPr/>
          <p:nvPr/>
        </p:nvSpPr>
        <p:spPr>
          <a:xfrm>
            <a:off x="365760" y="4297680"/>
            <a:ext cx="5303520" cy="347472"/>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Target Audience</a:t>
            </a:r>
            <a:endParaRPr lang="en-US" sz="1400" dirty="0"/>
          </a:p>
        </p:txBody>
      </p:sp>
      <p:sp>
        <p:nvSpPr>
          <p:cNvPr id="16" name="Text 14"/>
          <p:cNvSpPr/>
          <p:nvPr/>
        </p:nvSpPr>
        <p:spPr>
          <a:xfrm>
            <a:off x="365760" y="4663440"/>
            <a:ext cx="5303520" cy="594360"/>
          </a:xfrm>
          <a:prstGeom prst="rect">
            <a:avLst/>
          </a:prstGeom>
          <a:noFill/>
          <a:ln/>
        </p:spPr>
        <p:txBody>
          <a:bodyPr wrap="square" rtlCol="0" anchor="ctr"/>
          <a:lstStyle/>
          <a:p>
            <a:pPr marL="0" indent="0">
              <a:buNone/>
            </a:pPr>
            <a:r>
              <a:rPr lang="en-US" sz="1200" dirty="0">
                <a:solidFill>
                  <a:srgbClr val="1A2E3B"/>
                </a:solidFill>
                <a:latin typeface="Calibri" pitchFamily="34" charset="0"/>
                <a:ea typeface="Calibri" pitchFamily="34" charset="-122"/>
                <a:cs typeface="Calibri" pitchFamily="34" charset="-120"/>
              </a:rPr>
              <a:t>Workplace safety professionals and industry HR leaders responsible for injury prevention, compliance reporting, and workforce wellbeing.</a:t>
            </a:r>
            <a:endParaRPr lang="en-US" sz="1200" dirty="0"/>
          </a:p>
        </p:txBody>
      </p:sp>
      <p:sp>
        <p:nvSpPr>
          <p:cNvPr id="17" name="Shape 15"/>
          <p:cNvSpPr/>
          <p:nvPr/>
        </p:nvSpPr>
        <p:spPr>
          <a:xfrm>
            <a:off x="6217920" y="1143000"/>
            <a:ext cx="2651760" cy="1234440"/>
          </a:xfrm>
          <a:prstGeom prst="rect">
            <a:avLst/>
          </a:prstGeom>
          <a:solidFill>
            <a:srgbClr val="0D1B2A"/>
          </a:solidFill>
          <a:ln w="12700">
            <a:solidFill>
              <a:srgbClr val="0D1B2A"/>
            </a:solidFill>
            <a:prstDash val="solid"/>
          </a:ln>
        </p:spPr>
        <p:txBody>
          <a:bodyPr/>
          <a:lstStyle/>
          <a:p>
            <a:endParaRPr lang="en-US"/>
          </a:p>
        </p:txBody>
      </p:sp>
      <p:sp>
        <p:nvSpPr>
          <p:cNvPr id="18" name="Text 16"/>
          <p:cNvSpPr/>
          <p:nvPr/>
        </p:nvSpPr>
        <p:spPr>
          <a:xfrm>
            <a:off x="6309360" y="1252728"/>
            <a:ext cx="2468880" cy="641909"/>
          </a:xfrm>
          <a:prstGeom prst="rect">
            <a:avLst/>
          </a:prstGeom>
          <a:noFill/>
          <a:ln/>
        </p:spPr>
        <p:txBody>
          <a:bodyPr wrap="square" rtlCol="0" anchor="ctr"/>
          <a:lstStyle/>
          <a:p>
            <a:pPr marL="0" indent="0" algn="ctr">
              <a:buNone/>
            </a:pPr>
            <a:r>
              <a:rPr lang="en-US" sz="3200" b="1" dirty="0">
                <a:solidFill>
                  <a:srgbClr val="E09F3E"/>
                </a:solidFill>
                <a:latin typeface="Calibri" pitchFamily="34" charset="0"/>
                <a:ea typeface="Calibri" pitchFamily="34" charset="-122"/>
                <a:cs typeface="Calibri" pitchFamily="34" charset="-120"/>
              </a:rPr>
              <a:t>105,317</a:t>
            </a:r>
            <a:endParaRPr lang="en-US" sz="3200" dirty="0"/>
          </a:p>
        </p:txBody>
      </p:sp>
      <p:sp>
        <p:nvSpPr>
          <p:cNvPr id="19" name="Text 17"/>
          <p:cNvSpPr/>
          <p:nvPr/>
        </p:nvSpPr>
        <p:spPr>
          <a:xfrm>
            <a:off x="6309360" y="1821942"/>
            <a:ext cx="2468880" cy="32095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Total Records</a:t>
            </a:r>
            <a:endParaRPr lang="en-US" sz="1100" dirty="0"/>
          </a:p>
        </p:txBody>
      </p:sp>
      <p:sp>
        <p:nvSpPr>
          <p:cNvPr id="20" name="Text 18"/>
          <p:cNvSpPr/>
          <p:nvPr/>
        </p:nvSpPr>
        <p:spPr>
          <a:xfrm>
            <a:off x="6309360" y="2105863"/>
            <a:ext cx="2468880" cy="246888"/>
          </a:xfrm>
          <a:prstGeom prst="rect">
            <a:avLst/>
          </a:prstGeom>
          <a:noFill/>
          <a:ln/>
        </p:spPr>
        <p:txBody>
          <a:bodyPr wrap="square" rtlCol="0" anchor="ctr"/>
          <a:lstStyle/>
          <a:p>
            <a:pPr marL="0" indent="0" algn="ctr">
              <a:buNone/>
            </a:pPr>
            <a:r>
              <a:rPr lang="en-US" sz="900" dirty="0">
                <a:solidFill>
                  <a:srgbClr val="D6E8F5"/>
                </a:solidFill>
                <a:latin typeface="Calibri" pitchFamily="34" charset="0"/>
                <a:ea typeface="Calibri" pitchFamily="34" charset="-122"/>
                <a:cs typeface="Calibri" pitchFamily="34" charset="-120"/>
              </a:rPr>
              <a:t>Jan 2015 – Oct 2025</a:t>
            </a:r>
            <a:endParaRPr lang="en-US" sz="900" dirty="0"/>
          </a:p>
        </p:txBody>
      </p:sp>
      <p:sp>
        <p:nvSpPr>
          <p:cNvPr id="21" name="Shape 19"/>
          <p:cNvSpPr/>
          <p:nvPr/>
        </p:nvSpPr>
        <p:spPr>
          <a:xfrm>
            <a:off x="9052560" y="1143000"/>
            <a:ext cx="2651760" cy="1234440"/>
          </a:xfrm>
          <a:prstGeom prst="rect">
            <a:avLst/>
          </a:prstGeom>
          <a:solidFill>
            <a:srgbClr val="0D1B2A"/>
          </a:solidFill>
          <a:ln w="12700">
            <a:solidFill>
              <a:srgbClr val="0D1B2A"/>
            </a:solidFill>
            <a:prstDash val="solid"/>
          </a:ln>
        </p:spPr>
        <p:txBody>
          <a:bodyPr/>
          <a:lstStyle/>
          <a:p>
            <a:endParaRPr lang="en-US"/>
          </a:p>
        </p:txBody>
      </p:sp>
      <p:sp>
        <p:nvSpPr>
          <p:cNvPr id="22" name="Text 20"/>
          <p:cNvSpPr/>
          <p:nvPr/>
        </p:nvSpPr>
        <p:spPr>
          <a:xfrm>
            <a:off x="9144000" y="1252728"/>
            <a:ext cx="2468880" cy="641909"/>
          </a:xfrm>
          <a:prstGeom prst="rect">
            <a:avLst/>
          </a:prstGeom>
          <a:noFill/>
          <a:ln/>
        </p:spPr>
        <p:txBody>
          <a:bodyPr wrap="square" rtlCol="0" anchor="ctr"/>
          <a:lstStyle/>
          <a:p>
            <a:pPr marL="0" indent="0" algn="ctr">
              <a:buNone/>
            </a:pPr>
            <a:r>
              <a:rPr lang="en-US" sz="3200" b="1" dirty="0">
                <a:solidFill>
                  <a:srgbClr val="E09F3E"/>
                </a:solidFill>
                <a:latin typeface="Calibri" pitchFamily="34" charset="0"/>
                <a:ea typeface="Calibri" pitchFamily="34" charset="-122"/>
                <a:cs typeface="Calibri" pitchFamily="34" charset="-120"/>
              </a:rPr>
              <a:t>10 Years</a:t>
            </a:r>
            <a:endParaRPr lang="en-US" sz="3200" dirty="0"/>
          </a:p>
        </p:txBody>
      </p:sp>
      <p:sp>
        <p:nvSpPr>
          <p:cNvPr id="23" name="Text 21"/>
          <p:cNvSpPr/>
          <p:nvPr/>
        </p:nvSpPr>
        <p:spPr>
          <a:xfrm>
            <a:off x="9144000" y="1821942"/>
            <a:ext cx="2468880" cy="32095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Date Range</a:t>
            </a:r>
            <a:endParaRPr lang="en-US" sz="1100" dirty="0"/>
          </a:p>
        </p:txBody>
      </p:sp>
      <p:sp>
        <p:nvSpPr>
          <p:cNvPr id="24" name="Text 22"/>
          <p:cNvSpPr/>
          <p:nvPr/>
        </p:nvSpPr>
        <p:spPr>
          <a:xfrm>
            <a:off x="9144000" y="2105863"/>
            <a:ext cx="2468880" cy="246888"/>
          </a:xfrm>
          <a:prstGeom prst="rect">
            <a:avLst/>
          </a:prstGeom>
          <a:noFill/>
          <a:ln/>
        </p:spPr>
        <p:txBody>
          <a:bodyPr wrap="square" rtlCol="0" anchor="ctr"/>
          <a:lstStyle/>
          <a:p>
            <a:pPr marL="0" indent="0" algn="ctr">
              <a:buNone/>
            </a:pPr>
            <a:r>
              <a:rPr lang="en-US" sz="900" dirty="0">
                <a:solidFill>
                  <a:srgbClr val="D6E8F5"/>
                </a:solidFill>
                <a:latin typeface="Calibri" pitchFamily="34" charset="0"/>
                <a:ea typeface="Calibri" pitchFamily="34" charset="-122"/>
                <a:cs typeface="Calibri" pitchFamily="34" charset="-120"/>
              </a:rPr>
              <a:t>Jan 2015 – Oct 2025</a:t>
            </a:r>
            <a:endParaRPr lang="en-US" sz="900" dirty="0"/>
          </a:p>
        </p:txBody>
      </p:sp>
      <p:sp>
        <p:nvSpPr>
          <p:cNvPr id="25" name="Shape 23"/>
          <p:cNvSpPr/>
          <p:nvPr/>
        </p:nvSpPr>
        <p:spPr>
          <a:xfrm>
            <a:off x="6217920" y="2514600"/>
            <a:ext cx="2651760" cy="1234440"/>
          </a:xfrm>
          <a:prstGeom prst="rect">
            <a:avLst/>
          </a:prstGeom>
          <a:solidFill>
            <a:srgbClr val="0D1B2A"/>
          </a:solidFill>
          <a:ln w="12700">
            <a:solidFill>
              <a:srgbClr val="0D1B2A"/>
            </a:solidFill>
            <a:prstDash val="solid"/>
          </a:ln>
        </p:spPr>
        <p:txBody>
          <a:bodyPr/>
          <a:lstStyle/>
          <a:p>
            <a:endParaRPr lang="en-US"/>
          </a:p>
        </p:txBody>
      </p:sp>
      <p:sp>
        <p:nvSpPr>
          <p:cNvPr id="26" name="Text 24"/>
          <p:cNvSpPr/>
          <p:nvPr/>
        </p:nvSpPr>
        <p:spPr>
          <a:xfrm>
            <a:off x="6309360" y="2624328"/>
            <a:ext cx="2468880" cy="641909"/>
          </a:xfrm>
          <a:prstGeom prst="rect">
            <a:avLst/>
          </a:prstGeom>
          <a:noFill/>
          <a:ln/>
        </p:spPr>
        <p:txBody>
          <a:bodyPr wrap="square" rtlCol="0" anchor="ctr"/>
          <a:lstStyle/>
          <a:p>
            <a:pPr marL="0" indent="0" algn="ctr">
              <a:buNone/>
            </a:pPr>
            <a:r>
              <a:rPr lang="en-US" sz="3200" b="1" dirty="0">
                <a:solidFill>
                  <a:srgbClr val="E09F3E"/>
                </a:solidFill>
                <a:latin typeface="Calibri" pitchFamily="34" charset="0"/>
                <a:ea typeface="Calibri" pitchFamily="34" charset="-122"/>
                <a:cs typeface="Calibri" pitchFamily="34" charset="-120"/>
              </a:rPr>
              <a:t>56</a:t>
            </a:r>
            <a:endParaRPr lang="en-US" sz="3200" dirty="0"/>
          </a:p>
        </p:txBody>
      </p:sp>
      <p:sp>
        <p:nvSpPr>
          <p:cNvPr id="27" name="Text 25"/>
          <p:cNvSpPr/>
          <p:nvPr/>
        </p:nvSpPr>
        <p:spPr>
          <a:xfrm>
            <a:off x="6309360" y="3193542"/>
            <a:ext cx="2468880" cy="32095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States &amp; Territories</a:t>
            </a:r>
            <a:endParaRPr lang="en-US" sz="1100" dirty="0"/>
          </a:p>
        </p:txBody>
      </p:sp>
      <p:sp>
        <p:nvSpPr>
          <p:cNvPr id="28" name="Text 26"/>
          <p:cNvSpPr/>
          <p:nvPr/>
        </p:nvSpPr>
        <p:spPr>
          <a:xfrm>
            <a:off x="6309360" y="3477463"/>
            <a:ext cx="2468880" cy="246888"/>
          </a:xfrm>
          <a:prstGeom prst="rect">
            <a:avLst/>
          </a:prstGeom>
          <a:noFill/>
          <a:ln/>
        </p:spPr>
        <p:txBody>
          <a:bodyPr wrap="square" rtlCol="0" anchor="ctr"/>
          <a:lstStyle/>
          <a:p>
            <a:pPr marL="0" indent="0" algn="ctr">
              <a:buNone/>
            </a:pPr>
            <a:r>
              <a:rPr lang="en-US" sz="900" dirty="0">
                <a:solidFill>
                  <a:srgbClr val="D6E8F5"/>
                </a:solidFill>
                <a:latin typeface="Calibri" pitchFamily="34" charset="0"/>
                <a:ea typeface="Calibri" pitchFamily="34" charset="-122"/>
                <a:cs typeface="Calibri" pitchFamily="34" charset="-120"/>
              </a:rPr>
              <a:t>All 50 + DC + 5 territories</a:t>
            </a:r>
            <a:endParaRPr lang="en-US" sz="900" dirty="0"/>
          </a:p>
        </p:txBody>
      </p:sp>
      <p:sp>
        <p:nvSpPr>
          <p:cNvPr id="29" name="Shape 27"/>
          <p:cNvSpPr/>
          <p:nvPr/>
        </p:nvSpPr>
        <p:spPr>
          <a:xfrm>
            <a:off x="9052560" y="2514600"/>
            <a:ext cx="2651760" cy="1234440"/>
          </a:xfrm>
          <a:prstGeom prst="rect">
            <a:avLst/>
          </a:prstGeom>
          <a:solidFill>
            <a:srgbClr val="0D1B2A"/>
          </a:solidFill>
          <a:ln w="12700">
            <a:solidFill>
              <a:srgbClr val="0D1B2A"/>
            </a:solidFill>
            <a:prstDash val="solid"/>
          </a:ln>
        </p:spPr>
        <p:txBody>
          <a:bodyPr/>
          <a:lstStyle/>
          <a:p>
            <a:endParaRPr lang="en-US"/>
          </a:p>
        </p:txBody>
      </p:sp>
      <p:sp>
        <p:nvSpPr>
          <p:cNvPr id="30" name="Text 28"/>
          <p:cNvSpPr/>
          <p:nvPr/>
        </p:nvSpPr>
        <p:spPr>
          <a:xfrm>
            <a:off x="9144000" y="2624328"/>
            <a:ext cx="2468880" cy="641909"/>
          </a:xfrm>
          <a:prstGeom prst="rect">
            <a:avLst/>
          </a:prstGeom>
          <a:noFill/>
          <a:ln/>
        </p:spPr>
        <p:txBody>
          <a:bodyPr wrap="square" rtlCol="0" anchor="ctr"/>
          <a:lstStyle/>
          <a:p>
            <a:pPr marL="0" indent="0" algn="ctr">
              <a:buNone/>
            </a:pPr>
            <a:r>
              <a:rPr lang="en-US" sz="3200" b="1" dirty="0">
                <a:solidFill>
                  <a:srgbClr val="E09F3E"/>
                </a:solidFill>
                <a:latin typeface="Calibri" pitchFamily="34" charset="0"/>
                <a:ea typeface="Calibri" pitchFamily="34" charset="-122"/>
                <a:cs typeface="Calibri" pitchFamily="34" charset="-120"/>
              </a:rPr>
              <a:t>2,328</a:t>
            </a:r>
            <a:endParaRPr lang="en-US" sz="3200" dirty="0"/>
          </a:p>
        </p:txBody>
      </p:sp>
      <p:sp>
        <p:nvSpPr>
          <p:cNvPr id="31" name="Text 29"/>
          <p:cNvSpPr/>
          <p:nvPr/>
        </p:nvSpPr>
        <p:spPr>
          <a:xfrm>
            <a:off x="9144000" y="3193542"/>
            <a:ext cx="2468880" cy="32095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Unique NAICS Codes</a:t>
            </a:r>
            <a:endParaRPr lang="en-US" sz="1100" dirty="0"/>
          </a:p>
        </p:txBody>
      </p:sp>
      <p:sp>
        <p:nvSpPr>
          <p:cNvPr id="32" name="Text 30"/>
          <p:cNvSpPr/>
          <p:nvPr/>
        </p:nvSpPr>
        <p:spPr>
          <a:xfrm>
            <a:off x="9144000" y="3477463"/>
            <a:ext cx="2468880" cy="246888"/>
          </a:xfrm>
          <a:prstGeom prst="rect">
            <a:avLst/>
          </a:prstGeom>
          <a:noFill/>
          <a:ln/>
        </p:spPr>
        <p:txBody>
          <a:bodyPr wrap="square" rtlCol="0" anchor="ctr"/>
          <a:lstStyle/>
          <a:p>
            <a:pPr marL="0" indent="0" algn="ctr">
              <a:buNone/>
            </a:pPr>
            <a:r>
              <a:rPr lang="en-US" sz="900" dirty="0">
                <a:solidFill>
                  <a:srgbClr val="D6E8F5"/>
                </a:solidFill>
                <a:latin typeface="Calibri" pitchFamily="34" charset="0"/>
                <a:ea typeface="Calibri" pitchFamily="34" charset="-122"/>
                <a:cs typeface="Calibri" pitchFamily="34" charset="-120"/>
              </a:rPr>
              <a:t>Matched via Census reference</a:t>
            </a:r>
            <a:endParaRPr lang="en-US" sz="900" dirty="0"/>
          </a:p>
        </p:txBody>
      </p:sp>
      <p:sp>
        <p:nvSpPr>
          <p:cNvPr id="33" name="Shape 31"/>
          <p:cNvSpPr/>
          <p:nvPr/>
        </p:nvSpPr>
        <p:spPr>
          <a:xfrm>
            <a:off x="6217920" y="3886200"/>
            <a:ext cx="2651760" cy="1234440"/>
          </a:xfrm>
          <a:prstGeom prst="rect">
            <a:avLst/>
          </a:prstGeom>
          <a:solidFill>
            <a:srgbClr val="0D1B2A"/>
          </a:solidFill>
          <a:ln w="12700">
            <a:solidFill>
              <a:srgbClr val="0D1B2A"/>
            </a:solidFill>
            <a:prstDash val="solid"/>
          </a:ln>
        </p:spPr>
        <p:txBody>
          <a:bodyPr/>
          <a:lstStyle/>
          <a:p>
            <a:endParaRPr lang="en-US"/>
          </a:p>
        </p:txBody>
      </p:sp>
      <p:sp>
        <p:nvSpPr>
          <p:cNvPr id="34" name="Text 32"/>
          <p:cNvSpPr/>
          <p:nvPr/>
        </p:nvSpPr>
        <p:spPr>
          <a:xfrm>
            <a:off x="6309360" y="3995928"/>
            <a:ext cx="2468880" cy="641909"/>
          </a:xfrm>
          <a:prstGeom prst="rect">
            <a:avLst/>
          </a:prstGeom>
          <a:noFill/>
          <a:ln/>
        </p:spPr>
        <p:txBody>
          <a:bodyPr wrap="square" rtlCol="0" anchor="ctr"/>
          <a:lstStyle/>
          <a:p>
            <a:pPr marL="0" indent="0" algn="ctr">
              <a:buNone/>
            </a:pPr>
            <a:r>
              <a:rPr lang="en-US" sz="3200" b="1" dirty="0">
                <a:solidFill>
                  <a:srgbClr val="E09F3E"/>
                </a:solidFill>
                <a:latin typeface="Calibri" pitchFamily="34" charset="0"/>
                <a:ea typeface="Calibri" pitchFamily="34" charset="-122"/>
                <a:cs typeface="Calibri" pitchFamily="34" charset="-120"/>
              </a:rPr>
              <a:t>67,507</a:t>
            </a:r>
            <a:endParaRPr lang="en-US" sz="3200" dirty="0"/>
          </a:p>
        </p:txBody>
      </p:sp>
      <p:sp>
        <p:nvSpPr>
          <p:cNvPr id="35" name="Text 33"/>
          <p:cNvSpPr/>
          <p:nvPr/>
        </p:nvSpPr>
        <p:spPr>
          <a:xfrm>
            <a:off x="6309360" y="4565142"/>
            <a:ext cx="2468880" cy="32095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Unique Employers</a:t>
            </a:r>
            <a:endParaRPr lang="en-US" sz="1100" dirty="0"/>
          </a:p>
        </p:txBody>
      </p:sp>
      <p:sp>
        <p:nvSpPr>
          <p:cNvPr id="36" name="Text 34"/>
          <p:cNvSpPr/>
          <p:nvPr/>
        </p:nvSpPr>
        <p:spPr>
          <a:xfrm>
            <a:off x="6309360" y="4849063"/>
            <a:ext cx="2468880" cy="246888"/>
          </a:xfrm>
          <a:prstGeom prst="rect">
            <a:avLst/>
          </a:prstGeom>
          <a:noFill/>
          <a:ln/>
        </p:spPr>
        <p:txBody>
          <a:bodyPr wrap="square" rtlCol="0" anchor="ctr"/>
          <a:lstStyle/>
          <a:p>
            <a:pPr marL="0" indent="0" algn="ctr">
              <a:buNone/>
            </a:pPr>
            <a:r>
              <a:rPr lang="en-US" sz="900" dirty="0">
                <a:solidFill>
                  <a:srgbClr val="D6E8F5"/>
                </a:solidFill>
                <a:latin typeface="Calibri" pitchFamily="34" charset="0"/>
                <a:ea typeface="Calibri" pitchFamily="34" charset="-122"/>
                <a:cs typeface="Calibri" pitchFamily="34" charset="-120"/>
              </a:rPr>
              <a:t>After standardization</a:t>
            </a:r>
            <a:endParaRPr lang="en-US" sz="900" dirty="0"/>
          </a:p>
        </p:txBody>
      </p:sp>
      <p:sp>
        <p:nvSpPr>
          <p:cNvPr id="37" name="Shape 35"/>
          <p:cNvSpPr/>
          <p:nvPr/>
        </p:nvSpPr>
        <p:spPr>
          <a:xfrm>
            <a:off x="9052560" y="3886200"/>
            <a:ext cx="2651760" cy="1234440"/>
          </a:xfrm>
          <a:prstGeom prst="rect">
            <a:avLst/>
          </a:prstGeom>
          <a:solidFill>
            <a:srgbClr val="0D1B2A"/>
          </a:solidFill>
          <a:ln w="12700">
            <a:solidFill>
              <a:srgbClr val="0D1B2A"/>
            </a:solidFill>
            <a:prstDash val="solid"/>
          </a:ln>
        </p:spPr>
        <p:txBody>
          <a:bodyPr/>
          <a:lstStyle/>
          <a:p>
            <a:endParaRPr lang="en-US"/>
          </a:p>
        </p:txBody>
      </p:sp>
      <p:sp>
        <p:nvSpPr>
          <p:cNvPr id="38" name="Text 36"/>
          <p:cNvSpPr/>
          <p:nvPr/>
        </p:nvSpPr>
        <p:spPr>
          <a:xfrm>
            <a:off x="9144000" y="3995928"/>
            <a:ext cx="2468880" cy="641909"/>
          </a:xfrm>
          <a:prstGeom prst="rect">
            <a:avLst/>
          </a:prstGeom>
          <a:noFill/>
          <a:ln/>
        </p:spPr>
        <p:txBody>
          <a:bodyPr wrap="square" rtlCol="0" anchor="ctr"/>
          <a:lstStyle/>
          <a:p>
            <a:pPr marL="0" indent="0" algn="ctr">
              <a:buNone/>
            </a:pPr>
            <a:r>
              <a:rPr lang="en-US" sz="3200" b="1" dirty="0">
                <a:solidFill>
                  <a:srgbClr val="E09F3E"/>
                </a:solidFill>
                <a:latin typeface="Calibri" pitchFamily="34" charset="0"/>
                <a:ea typeface="Calibri" pitchFamily="34" charset="-122"/>
                <a:cs typeface="Calibri" pitchFamily="34" charset="-120"/>
              </a:rPr>
              <a:t>4</a:t>
            </a:r>
            <a:endParaRPr lang="en-US" sz="3200" dirty="0"/>
          </a:p>
        </p:txBody>
      </p:sp>
      <p:sp>
        <p:nvSpPr>
          <p:cNvPr id="39" name="Text 37"/>
          <p:cNvSpPr/>
          <p:nvPr/>
        </p:nvSpPr>
        <p:spPr>
          <a:xfrm>
            <a:off x="9144000" y="4565142"/>
            <a:ext cx="2468880" cy="32095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Analytical Tools</a:t>
            </a:r>
            <a:endParaRPr lang="en-US" sz="1100" dirty="0"/>
          </a:p>
        </p:txBody>
      </p:sp>
      <p:sp>
        <p:nvSpPr>
          <p:cNvPr id="40" name="Text 38"/>
          <p:cNvSpPr/>
          <p:nvPr/>
        </p:nvSpPr>
        <p:spPr>
          <a:xfrm>
            <a:off x="9144000" y="4849063"/>
            <a:ext cx="2468880" cy="246888"/>
          </a:xfrm>
          <a:prstGeom prst="rect">
            <a:avLst/>
          </a:prstGeom>
          <a:noFill/>
          <a:ln/>
        </p:spPr>
        <p:txBody>
          <a:bodyPr wrap="square" rtlCol="0" anchor="ctr"/>
          <a:lstStyle/>
          <a:p>
            <a:pPr marL="0" indent="0" algn="ctr">
              <a:buNone/>
            </a:pPr>
            <a:r>
              <a:rPr lang="en-US" sz="900" dirty="0">
                <a:solidFill>
                  <a:srgbClr val="D6E8F5"/>
                </a:solidFill>
                <a:latin typeface="Calibri" pitchFamily="34" charset="0"/>
                <a:ea typeface="Calibri" pitchFamily="34" charset="-122"/>
                <a:cs typeface="Calibri" pitchFamily="34" charset="-120"/>
              </a:rPr>
              <a:t>Excel · SQL · Python · Tableau</a:t>
            </a:r>
            <a:endParaRPr lang="en-US" sz="900" dirty="0"/>
          </a:p>
        </p:txBody>
      </p:sp>
      <p:sp>
        <p:nvSpPr>
          <p:cNvPr id="41" name="Text 39"/>
          <p:cNvSpPr/>
          <p:nvPr/>
        </p:nvSpPr>
        <p:spPr>
          <a:xfrm>
            <a:off x="0" y="6492240"/>
            <a:ext cx="12192000" cy="32004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OSHA Severe Injury Report Analysis  |  Mary Becker  |  Data Analytics Capstone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0D1B2A"/>
          </a:solidFill>
          <a:ln/>
        </p:spPr>
        <p:txBody>
          <a:bodyPr/>
          <a:lstStyle/>
          <a:p>
            <a:endParaRPr lang="en-US"/>
          </a:p>
        </p:txBody>
      </p:sp>
      <p:sp>
        <p:nvSpPr>
          <p:cNvPr id="3" name="Text 1"/>
          <p:cNvSpPr/>
          <p:nvPr/>
        </p:nvSpPr>
        <p:spPr>
          <a:xfrm>
            <a:off x="365760" y="73152"/>
            <a:ext cx="91440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Research Questions</a:t>
            </a:r>
            <a:endParaRPr lang="en-US" sz="2800" dirty="0"/>
          </a:p>
        </p:txBody>
      </p:sp>
      <p:sp>
        <p:nvSpPr>
          <p:cNvPr id="4" name="Text 2"/>
          <p:cNvSpPr/>
          <p:nvPr/>
        </p:nvSpPr>
        <p:spPr>
          <a:xfrm>
            <a:off x="365760" y="594360"/>
            <a:ext cx="9144000" cy="347472"/>
          </a:xfrm>
          <a:prstGeom prst="rect">
            <a:avLst/>
          </a:prstGeom>
          <a:noFill/>
          <a:ln/>
        </p:spPr>
        <p:txBody>
          <a:bodyPr wrap="square" rtlCol="0" anchor="t"/>
          <a:lstStyle/>
          <a:p>
            <a:pPr marL="0" indent="0">
              <a:buNone/>
            </a:pPr>
            <a:r>
              <a:rPr lang="en-US" sz="1300" dirty="0">
                <a:solidFill>
                  <a:srgbClr val="D6E8F5"/>
                </a:solidFill>
                <a:latin typeface="Calibri" pitchFamily="34" charset="0"/>
                <a:ea typeface="Calibri" pitchFamily="34" charset="-122"/>
                <a:cs typeface="Calibri" pitchFamily="34" charset="-120"/>
              </a:rPr>
              <a:t>What this analysis set out to answer</a:t>
            </a:r>
            <a:endParaRPr lang="en-US" sz="1300" dirty="0"/>
          </a:p>
        </p:txBody>
      </p:sp>
      <p:sp>
        <p:nvSpPr>
          <p:cNvPr id="5" name="Shape 3"/>
          <p:cNvSpPr/>
          <p:nvPr/>
        </p:nvSpPr>
        <p:spPr>
          <a:xfrm>
            <a:off x="365760" y="1188720"/>
            <a:ext cx="5486400" cy="1508760"/>
          </a:xfrm>
          <a:prstGeom prst="rect">
            <a:avLst/>
          </a:prstGeom>
          <a:solidFill>
            <a:srgbClr val="F7F9FB"/>
          </a:solidFill>
          <a:ln w="12700">
            <a:solidFill>
              <a:srgbClr val="D6E8F5"/>
            </a:solidFill>
            <a:prstDash val="solid"/>
          </a:ln>
        </p:spPr>
        <p:txBody>
          <a:bodyPr/>
          <a:lstStyle/>
          <a:p>
            <a:endParaRPr lang="en-US"/>
          </a:p>
        </p:txBody>
      </p:sp>
      <p:sp>
        <p:nvSpPr>
          <p:cNvPr id="6" name="Text 4"/>
          <p:cNvSpPr/>
          <p:nvPr/>
        </p:nvSpPr>
        <p:spPr>
          <a:xfrm>
            <a:off x="502920" y="1280160"/>
            <a:ext cx="640080" cy="1280160"/>
          </a:xfrm>
          <a:prstGeom prst="rect">
            <a:avLst/>
          </a:prstGeom>
          <a:noFill/>
          <a:ln/>
        </p:spPr>
        <p:txBody>
          <a:bodyPr wrap="square" rtlCol="0" anchor="t"/>
          <a:lstStyle/>
          <a:p>
            <a:pPr marL="0" indent="0" algn="ctr">
              <a:buNone/>
            </a:pPr>
            <a:r>
              <a:rPr lang="en-US" sz="2400" dirty="0">
                <a:solidFill>
                  <a:srgbClr val="000000"/>
                </a:solidFill>
              </a:rPr>
              <a:t>🏭</a:t>
            </a:r>
            <a:endParaRPr lang="en-US" sz="2400" dirty="0"/>
          </a:p>
        </p:txBody>
      </p:sp>
      <p:sp>
        <p:nvSpPr>
          <p:cNvPr id="7" name="Shape 5"/>
          <p:cNvSpPr/>
          <p:nvPr/>
        </p:nvSpPr>
        <p:spPr>
          <a:xfrm>
            <a:off x="1234440" y="1463040"/>
            <a:ext cx="36576" cy="1005840"/>
          </a:xfrm>
          <a:prstGeom prst="rect">
            <a:avLst/>
          </a:prstGeom>
          <a:solidFill>
            <a:srgbClr val="2E86AB"/>
          </a:solidFill>
          <a:ln w="12700">
            <a:solidFill>
              <a:srgbClr val="2E86AB"/>
            </a:solidFill>
            <a:prstDash val="solid"/>
          </a:ln>
        </p:spPr>
        <p:txBody>
          <a:bodyPr/>
          <a:lstStyle/>
          <a:p>
            <a:endParaRPr lang="en-US"/>
          </a:p>
        </p:txBody>
      </p:sp>
      <p:sp>
        <p:nvSpPr>
          <p:cNvPr id="8" name="Text 6"/>
          <p:cNvSpPr/>
          <p:nvPr/>
        </p:nvSpPr>
        <p:spPr>
          <a:xfrm>
            <a:off x="1371600" y="1371600"/>
            <a:ext cx="4297680" cy="1188720"/>
          </a:xfrm>
          <a:prstGeom prst="rect">
            <a:avLst/>
          </a:prstGeom>
          <a:noFill/>
          <a:ln/>
        </p:spPr>
        <p:txBody>
          <a:bodyPr wrap="square" rtlCol="0" anchor="ctr"/>
          <a:lstStyle/>
          <a:p>
            <a:pPr marL="0" indent="0">
              <a:buNone/>
            </a:pPr>
            <a:r>
              <a:rPr lang="en-US" sz="1300" dirty="0">
                <a:solidFill>
                  <a:srgbClr val="1A2E3B"/>
                </a:solidFill>
                <a:latin typeface="Calibri" pitchFamily="34" charset="0"/>
                <a:ea typeface="Calibri" pitchFamily="34" charset="-122"/>
                <a:cs typeface="Calibri" pitchFamily="34" charset="-120"/>
              </a:rPr>
              <a:t>Which industries have the highest rates of severe workplace injuries?</a:t>
            </a:r>
            <a:endParaRPr lang="en-US" sz="1300" dirty="0"/>
          </a:p>
        </p:txBody>
      </p:sp>
      <p:sp>
        <p:nvSpPr>
          <p:cNvPr id="9" name="Shape 7"/>
          <p:cNvSpPr/>
          <p:nvPr/>
        </p:nvSpPr>
        <p:spPr>
          <a:xfrm>
            <a:off x="365760" y="2926080"/>
            <a:ext cx="5486400" cy="1508760"/>
          </a:xfrm>
          <a:prstGeom prst="rect">
            <a:avLst/>
          </a:prstGeom>
          <a:solidFill>
            <a:srgbClr val="F7F9FB"/>
          </a:solidFill>
          <a:ln w="12700">
            <a:solidFill>
              <a:srgbClr val="D6E8F5"/>
            </a:solidFill>
            <a:prstDash val="solid"/>
          </a:ln>
        </p:spPr>
        <p:txBody>
          <a:bodyPr/>
          <a:lstStyle/>
          <a:p>
            <a:endParaRPr lang="en-US"/>
          </a:p>
        </p:txBody>
      </p:sp>
      <p:sp>
        <p:nvSpPr>
          <p:cNvPr id="10" name="Text 8"/>
          <p:cNvSpPr/>
          <p:nvPr/>
        </p:nvSpPr>
        <p:spPr>
          <a:xfrm>
            <a:off x="502920" y="3017520"/>
            <a:ext cx="640080" cy="1280160"/>
          </a:xfrm>
          <a:prstGeom prst="rect">
            <a:avLst/>
          </a:prstGeom>
          <a:noFill/>
          <a:ln/>
        </p:spPr>
        <p:txBody>
          <a:bodyPr wrap="square" rtlCol="0" anchor="t"/>
          <a:lstStyle/>
          <a:p>
            <a:pPr marL="0" indent="0" algn="ctr">
              <a:buNone/>
            </a:pPr>
            <a:r>
              <a:rPr lang="en-US" sz="2400" dirty="0">
                <a:solidFill>
                  <a:srgbClr val="000000"/>
                </a:solidFill>
              </a:rPr>
              <a:t>📈</a:t>
            </a:r>
            <a:endParaRPr lang="en-US" sz="2400" dirty="0"/>
          </a:p>
        </p:txBody>
      </p:sp>
      <p:sp>
        <p:nvSpPr>
          <p:cNvPr id="11" name="Shape 9"/>
          <p:cNvSpPr/>
          <p:nvPr/>
        </p:nvSpPr>
        <p:spPr>
          <a:xfrm>
            <a:off x="1234440" y="3200400"/>
            <a:ext cx="36576" cy="1005840"/>
          </a:xfrm>
          <a:prstGeom prst="rect">
            <a:avLst/>
          </a:prstGeom>
          <a:solidFill>
            <a:srgbClr val="2E86AB"/>
          </a:solidFill>
          <a:ln w="12700">
            <a:solidFill>
              <a:srgbClr val="2E86AB"/>
            </a:solidFill>
            <a:prstDash val="solid"/>
          </a:ln>
        </p:spPr>
        <p:txBody>
          <a:bodyPr/>
          <a:lstStyle/>
          <a:p>
            <a:endParaRPr lang="en-US"/>
          </a:p>
        </p:txBody>
      </p:sp>
      <p:sp>
        <p:nvSpPr>
          <p:cNvPr id="12" name="Text 10"/>
          <p:cNvSpPr/>
          <p:nvPr/>
        </p:nvSpPr>
        <p:spPr>
          <a:xfrm>
            <a:off x="1371600" y="3108960"/>
            <a:ext cx="4297680" cy="1188720"/>
          </a:xfrm>
          <a:prstGeom prst="rect">
            <a:avLst/>
          </a:prstGeom>
          <a:noFill/>
          <a:ln/>
        </p:spPr>
        <p:txBody>
          <a:bodyPr wrap="square" rtlCol="0" anchor="ctr"/>
          <a:lstStyle/>
          <a:p>
            <a:pPr marL="0" indent="0">
              <a:buNone/>
            </a:pPr>
            <a:r>
              <a:rPr lang="en-US" sz="1300" dirty="0">
                <a:solidFill>
                  <a:srgbClr val="1A2E3B"/>
                </a:solidFill>
                <a:latin typeface="Calibri" pitchFamily="34" charset="0"/>
                <a:ea typeface="Calibri" pitchFamily="34" charset="-122"/>
                <a:cs typeface="Calibri" pitchFamily="34" charset="-120"/>
              </a:rPr>
              <a:t>How has the frequency of severe injuries changed over time from 2015 to 2025?</a:t>
            </a:r>
            <a:endParaRPr lang="en-US" sz="1300" dirty="0"/>
          </a:p>
        </p:txBody>
      </p:sp>
      <p:sp>
        <p:nvSpPr>
          <p:cNvPr id="13" name="Shape 11"/>
          <p:cNvSpPr/>
          <p:nvPr/>
        </p:nvSpPr>
        <p:spPr>
          <a:xfrm>
            <a:off x="365760" y="4663440"/>
            <a:ext cx="5486400" cy="1508760"/>
          </a:xfrm>
          <a:prstGeom prst="rect">
            <a:avLst/>
          </a:prstGeom>
          <a:solidFill>
            <a:srgbClr val="F7F9FB"/>
          </a:solidFill>
          <a:ln w="12700">
            <a:solidFill>
              <a:srgbClr val="D6E8F5"/>
            </a:solidFill>
            <a:prstDash val="solid"/>
          </a:ln>
        </p:spPr>
        <p:txBody>
          <a:bodyPr/>
          <a:lstStyle/>
          <a:p>
            <a:endParaRPr lang="en-US"/>
          </a:p>
        </p:txBody>
      </p:sp>
      <p:sp>
        <p:nvSpPr>
          <p:cNvPr id="14" name="Text 12"/>
          <p:cNvSpPr/>
          <p:nvPr/>
        </p:nvSpPr>
        <p:spPr>
          <a:xfrm>
            <a:off x="502920" y="4754880"/>
            <a:ext cx="640080" cy="1280160"/>
          </a:xfrm>
          <a:prstGeom prst="rect">
            <a:avLst/>
          </a:prstGeom>
          <a:noFill/>
          <a:ln/>
        </p:spPr>
        <p:txBody>
          <a:bodyPr wrap="square" rtlCol="0" anchor="t"/>
          <a:lstStyle/>
          <a:p>
            <a:pPr marL="0" indent="0" algn="ctr">
              <a:buNone/>
            </a:pPr>
            <a:r>
              <a:rPr lang="en-US" sz="2400" dirty="0">
                <a:solidFill>
                  <a:srgbClr val="000000"/>
                </a:solidFill>
              </a:rPr>
              <a:t>🦴</a:t>
            </a:r>
            <a:endParaRPr lang="en-US" sz="2400" dirty="0"/>
          </a:p>
        </p:txBody>
      </p:sp>
      <p:sp>
        <p:nvSpPr>
          <p:cNvPr id="15" name="Shape 13"/>
          <p:cNvSpPr/>
          <p:nvPr/>
        </p:nvSpPr>
        <p:spPr>
          <a:xfrm>
            <a:off x="1234440" y="4937760"/>
            <a:ext cx="36576" cy="1005840"/>
          </a:xfrm>
          <a:prstGeom prst="rect">
            <a:avLst/>
          </a:prstGeom>
          <a:solidFill>
            <a:srgbClr val="2E86AB"/>
          </a:solidFill>
          <a:ln w="12700">
            <a:solidFill>
              <a:srgbClr val="2E86AB"/>
            </a:solidFill>
            <a:prstDash val="solid"/>
          </a:ln>
        </p:spPr>
        <p:txBody>
          <a:bodyPr/>
          <a:lstStyle/>
          <a:p>
            <a:endParaRPr lang="en-US"/>
          </a:p>
        </p:txBody>
      </p:sp>
      <p:sp>
        <p:nvSpPr>
          <p:cNvPr id="16" name="Text 14"/>
          <p:cNvSpPr/>
          <p:nvPr/>
        </p:nvSpPr>
        <p:spPr>
          <a:xfrm>
            <a:off x="1371600" y="4846320"/>
            <a:ext cx="4297680" cy="1188720"/>
          </a:xfrm>
          <a:prstGeom prst="rect">
            <a:avLst/>
          </a:prstGeom>
          <a:noFill/>
          <a:ln/>
        </p:spPr>
        <p:txBody>
          <a:bodyPr wrap="square" rtlCol="0" anchor="ctr"/>
          <a:lstStyle/>
          <a:p>
            <a:pPr marL="0" indent="0">
              <a:buNone/>
            </a:pPr>
            <a:r>
              <a:rPr lang="en-US" sz="1300" dirty="0">
                <a:solidFill>
                  <a:srgbClr val="1A2E3B"/>
                </a:solidFill>
                <a:latin typeface="Calibri" pitchFamily="34" charset="0"/>
                <a:ea typeface="Calibri" pitchFamily="34" charset="-122"/>
                <a:cs typeface="Calibri" pitchFamily="34" charset="-120"/>
              </a:rPr>
              <a:t>Which injury types and body parts are most commonly affected?</a:t>
            </a:r>
            <a:endParaRPr lang="en-US" sz="1300" dirty="0"/>
          </a:p>
        </p:txBody>
      </p:sp>
      <p:sp>
        <p:nvSpPr>
          <p:cNvPr id="17" name="Shape 15"/>
          <p:cNvSpPr/>
          <p:nvPr/>
        </p:nvSpPr>
        <p:spPr>
          <a:xfrm>
            <a:off x="6309360" y="1188720"/>
            <a:ext cx="5486400" cy="1508760"/>
          </a:xfrm>
          <a:prstGeom prst="rect">
            <a:avLst/>
          </a:prstGeom>
          <a:solidFill>
            <a:srgbClr val="F7F9FB"/>
          </a:solidFill>
          <a:ln w="12700">
            <a:solidFill>
              <a:srgbClr val="D6E8F5"/>
            </a:solidFill>
            <a:prstDash val="solid"/>
          </a:ln>
        </p:spPr>
        <p:txBody>
          <a:bodyPr/>
          <a:lstStyle/>
          <a:p>
            <a:endParaRPr lang="en-US"/>
          </a:p>
        </p:txBody>
      </p:sp>
      <p:sp>
        <p:nvSpPr>
          <p:cNvPr id="18" name="Text 16"/>
          <p:cNvSpPr/>
          <p:nvPr/>
        </p:nvSpPr>
        <p:spPr>
          <a:xfrm>
            <a:off x="6446520" y="1280160"/>
            <a:ext cx="640080" cy="1280160"/>
          </a:xfrm>
          <a:prstGeom prst="rect">
            <a:avLst/>
          </a:prstGeom>
          <a:noFill/>
          <a:ln/>
        </p:spPr>
        <p:txBody>
          <a:bodyPr wrap="square" rtlCol="0" anchor="t"/>
          <a:lstStyle/>
          <a:p>
            <a:pPr marL="0" indent="0" algn="ctr">
              <a:buNone/>
            </a:pPr>
            <a:r>
              <a:rPr lang="en-US" sz="2400" dirty="0">
                <a:solidFill>
                  <a:srgbClr val="000000"/>
                </a:solidFill>
              </a:rPr>
              <a:t>🔗</a:t>
            </a:r>
            <a:endParaRPr lang="en-US" sz="2400" dirty="0"/>
          </a:p>
        </p:txBody>
      </p:sp>
      <p:sp>
        <p:nvSpPr>
          <p:cNvPr id="19" name="Shape 17"/>
          <p:cNvSpPr/>
          <p:nvPr/>
        </p:nvSpPr>
        <p:spPr>
          <a:xfrm>
            <a:off x="7178040" y="1463040"/>
            <a:ext cx="36576" cy="1005840"/>
          </a:xfrm>
          <a:prstGeom prst="rect">
            <a:avLst/>
          </a:prstGeom>
          <a:solidFill>
            <a:srgbClr val="2E86AB"/>
          </a:solidFill>
          <a:ln w="12700">
            <a:solidFill>
              <a:srgbClr val="2E86AB"/>
            </a:solidFill>
            <a:prstDash val="solid"/>
          </a:ln>
        </p:spPr>
        <p:txBody>
          <a:bodyPr/>
          <a:lstStyle/>
          <a:p>
            <a:endParaRPr lang="en-US"/>
          </a:p>
        </p:txBody>
      </p:sp>
      <p:sp>
        <p:nvSpPr>
          <p:cNvPr id="20" name="Text 18"/>
          <p:cNvSpPr/>
          <p:nvPr/>
        </p:nvSpPr>
        <p:spPr>
          <a:xfrm>
            <a:off x="7315200" y="1371600"/>
            <a:ext cx="4297680" cy="1188720"/>
          </a:xfrm>
          <a:prstGeom prst="rect">
            <a:avLst/>
          </a:prstGeom>
          <a:noFill/>
          <a:ln/>
        </p:spPr>
        <p:txBody>
          <a:bodyPr wrap="square" rtlCol="0" anchor="ctr"/>
          <a:lstStyle/>
          <a:p>
            <a:pPr marL="0" indent="0">
              <a:buNone/>
            </a:pPr>
            <a:r>
              <a:rPr lang="en-US" sz="1300" dirty="0">
                <a:solidFill>
                  <a:srgbClr val="1A2E3B"/>
                </a:solidFill>
                <a:latin typeface="Calibri" pitchFamily="34" charset="0"/>
                <a:ea typeface="Calibri" pitchFamily="34" charset="-122"/>
                <a:cs typeface="Calibri" pitchFamily="34" charset="-120"/>
              </a:rPr>
              <a:t>Is there a relationship between hospitalization and amputation outcomes?</a:t>
            </a:r>
            <a:endParaRPr lang="en-US" sz="1300" dirty="0"/>
          </a:p>
        </p:txBody>
      </p:sp>
      <p:sp>
        <p:nvSpPr>
          <p:cNvPr id="21" name="Shape 19"/>
          <p:cNvSpPr/>
          <p:nvPr/>
        </p:nvSpPr>
        <p:spPr>
          <a:xfrm>
            <a:off x="6309360" y="2926080"/>
            <a:ext cx="5486400" cy="1508760"/>
          </a:xfrm>
          <a:prstGeom prst="rect">
            <a:avLst/>
          </a:prstGeom>
          <a:solidFill>
            <a:srgbClr val="F7F9FB"/>
          </a:solidFill>
          <a:ln w="12700">
            <a:solidFill>
              <a:srgbClr val="D6E8F5"/>
            </a:solidFill>
            <a:prstDash val="solid"/>
          </a:ln>
        </p:spPr>
        <p:txBody>
          <a:bodyPr/>
          <a:lstStyle/>
          <a:p>
            <a:endParaRPr lang="en-US"/>
          </a:p>
        </p:txBody>
      </p:sp>
      <p:sp>
        <p:nvSpPr>
          <p:cNvPr id="22" name="Text 20"/>
          <p:cNvSpPr/>
          <p:nvPr/>
        </p:nvSpPr>
        <p:spPr>
          <a:xfrm>
            <a:off x="6446520" y="3017520"/>
            <a:ext cx="640080" cy="1280160"/>
          </a:xfrm>
          <a:prstGeom prst="rect">
            <a:avLst/>
          </a:prstGeom>
          <a:noFill/>
          <a:ln/>
        </p:spPr>
        <p:txBody>
          <a:bodyPr wrap="square" rtlCol="0" anchor="t"/>
          <a:lstStyle/>
          <a:p>
            <a:pPr marL="0" indent="0" algn="ctr">
              <a:buNone/>
            </a:pPr>
            <a:r>
              <a:rPr lang="en-US" sz="2400" dirty="0">
                <a:solidFill>
                  <a:srgbClr val="000000"/>
                </a:solidFill>
              </a:rPr>
              <a:t>📅</a:t>
            </a:r>
            <a:endParaRPr lang="en-US" sz="2400" dirty="0"/>
          </a:p>
        </p:txBody>
      </p:sp>
      <p:sp>
        <p:nvSpPr>
          <p:cNvPr id="23" name="Shape 21"/>
          <p:cNvSpPr/>
          <p:nvPr/>
        </p:nvSpPr>
        <p:spPr>
          <a:xfrm>
            <a:off x="7178040" y="3200400"/>
            <a:ext cx="36576" cy="1005840"/>
          </a:xfrm>
          <a:prstGeom prst="rect">
            <a:avLst/>
          </a:prstGeom>
          <a:solidFill>
            <a:srgbClr val="2E86AB"/>
          </a:solidFill>
          <a:ln w="12700">
            <a:solidFill>
              <a:srgbClr val="2E86AB"/>
            </a:solidFill>
            <a:prstDash val="solid"/>
          </a:ln>
        </p:spPr>
        <p:txBody>
          <a:bodyPr/>
          <a:lstStyle/>
          <a:p>
            <a:endParaRPr lang="en-US"/>
          </a:p>
        </p:txBody>
      </p:sp>
      <p:sp>
        <p:nvSpPr>
          <p:cNvPr id="24" name="Text 22"/>
          <p:cNvSpPr/>
          <p:nvPr/>
        </p:nvSpPr>
        <p:spPr>
          <a:xfrm>
            <a:off x="7315200" y="3108960"/>
            <a:ext cx="4297680" cy="1188720"/>
          </a:xfrm>
          <a:prstGeom prst="rect">
            <a:avLst/>
          </a:prstGeom>
          <a:noFill/>
          <a:ln/>
        </p:spPr>
        <p:txBody>
          <a:bodyPr wrap="square" rtlCol="0" anchor="ctr"/>
          <a:lstStyle/>
          <a:p>
            <a:pPr marL="0" indent="0">
              <a:buNone/>
            </a:pPr>
            <a:r>
              <a:rPr lang="en-US" sz="1300" dirty="0">
                <a:solidFill>
                  <a:srgbClr val="1A2E3B"/>
                </a:solidFill>
                <a:latin typeface="Calibri" pitchFamily="34" charset="0"/>
                <a:ea typeface="Calibri" pitchFamily="34" charset="-122"/>
                <a:cs typeface="Calibri" pitchFamily="34" charset="-120"/>
              </a:rPr>
              <a:t>Are there patterns in when severe injuries occur - by day of week or month?</a:t>
            </a:r>
            <a:endParaRPr lang="en-US" sz="1300" dirty="0"/>
          </a:p>
        </p:txBody>
      </p:sp>
      <p:sp>
        <p:nvSpPr>
          <p:cNvPr id="25" name="Shape 23"/>
          <p:cNvSpPr/>
          <p:nvPr/>
        </p:nvSpPr>
        <p:spPr>
          <a:xfrm>
            <a:off x="6309360" y="4663440"/>
            <a:ext cx="5486400" cy="1508760"/>
          </a:xfrm>
          <a:prstGeom prst="rect">
            <a:avLst/>
          </a:prstGeom>
          <a:solidFill>
            <a:srgbClr val="F7F9FB"/>
          </a:solidFill>
          <a:ln w="12700">
            <a:solidFill>
              <a:srgbClr val="D6E8F5"/>
            </a:solidFill>
            <a:prstDash val="solid"/>
          </a:ln>
        </p:spPr>
        <p:txBody>
          <a:bodyPr/>
          <a:lstStyle/>
          <a:p>
            <a:endParaRPr lang="en-US"/>
          </a:p>
        </p:txBody>
      </p:sp>
      <p:sp>
        <p:nvSpPr>
          <p:cNvPr id="26" name="Text 24"/>
          <p:cNvSpPr/>
          <p:nvPr/>
        </p:nvSpPr>
        <p:spPr>
          <a:xfrm>
            <a:off x="6446520" y="4754880"/>
            <a:ext cx="640080" cy="1280160"/>
          </a:xfrm>
          <a:prstGeom prst="rect">
            <a:avLst/>
          </a:prstGeom>
          <a:noFill/>
          <a:ln/>
        </p:spPr>
        <p:txBody>
          <a:bodyPr wrap="square" rtlCol="0" anchor="t"/>
          <a:lstStyle/>
          <a:p>
            <a:pPr marL="0" indent="0" algn="ctr">
              <a:buNone/>
            </a:pPr>
            <a:r>
              <a:rPr lang="en-US" sz="2400" dirty="0">
                <a:solidFill>
                  <a:srgbClr val="000000"/>
                </a:solidFill>
              </a:rPr>
              <a:t>🔮</a:t>
            </a:r>
            <a:endParaRPr lang="en-US" sz="2400" dirty="0"/>
          </a:p>
        </p:txBody>
      </p:sp>
      <p:sp>
        <p:nvSpPr>
          <p:cNvPr id="27" name="Shape 25"/>
          <p:cNvSpPr/>
          <p:nvPr/>
        </p:nvSpPr>
        <p:spPr>
          <a:xfrm>
            <a:off x="7178040" y="4937760"/>
            <a:ext cx="36576" cy="1005840"/>
          </a:xfrm>
          <a:prstGeom prst="rect">
            <a:avLst/>
          </a:prstGeom>
          <a:solidFill>
            <a:srgbClr val="2E86AB"/>
          </a:solidFill>
          <a:ln w="12700">
            <a:solidFill>
              <a:srgbClr val="2E86AB"/>
            </a:solidFill>
            <a:prstDash val="solid"/>
          </a:ln>
        </p:spPr>
        <p:txBody>
          <a:bodyPr/>
          <a:lstStyle/>
          <a:p>
            <a:endParaRPr lang="en-US"/>
          </a:p>
        </p:txBody>
      </p:sp>
      <p:sp>
        <p:nvSpPr>
          <p:cNvPr id="28" name="Text 26"/>
          <p:cNvSpPr/>
          <p:nvPr/>
        </p:nvSpPr>
        <p:spPr>
          <a:xfrm>
            <a:off x="7315200" y="4846320"/>
            <a:ext cx="4297680" cy="1188720"/>
          </a:xfrm>
          <a:prstGeom prst="rect">
            <a:avLst/>
          </a:prstGeom>
          <a:noFill/>
          <a:ln/>
        </p:spPr>
        <p:txBody>
          <a:bodyPr wrap="square" rtlCol="0" anchor="ctr"/>
          <a:lstStyle/>
          <a:p>
            <a:pPr marL="0" indent="0">
              <a:buNone/>
            </a:pPr>
            <a:r>
              <a:rPr lang="en-US" sz="1300" dirty="0">
                <a:solidFill>
                  <a:srgbClr val="1A2E3B"/>
                </a:solidFill>
                <a:latin typeface="Calibri" pitchFamily="34" charset="0"/>
                <a:ea typeface="Calibri" pitchFamily="34" charset="-122"/>
                <a:cs typeface="Calibri" pitchFamily="34" charset="-120"/>
              </a:rPr>
              <a:t>What does the forecast suggest about future severe workplace injury trends?</a:t>
            </a:r>
            <a:endParaRPr lang="en-US" sz="1300" dirty="0"/>
          </a:p>
        </p:txBody>
      </p:sp>
      <p:sp>
        <p:nvSpPr>
          <p:cNvPr id="29" name="Text 27"/>
          <p:cNvSpPr/>
          <p:nvPr/>
        </p:nvSpPr>
        <p:spPr>
          <a:xfrm>
            <a:off x="0" y="6492240"/>
            <a:ext cx="12192000" cy="32004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OSHA Severe Injury Report Analysis  |  Mary Becker  |  Data Analytics Capstone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0D1B2A"/>
          </a:solidFill>
          <a:ln/>
        </p:spPr>
        <p:txBody>
          <a:bodyPr/>
          <a:lstStyle/>
          <a:p>
            <a:endParaRPr lang="en-US"/>
          </a:p>
        </p:txBody>
      </p:sp>
      <p:sp>
        <p:nvSpPr>
          <p:cNvPr id="3" name="Text 1"/>
          <p:cNvSpPr/>
          <p:nvPr/>
        </p:nvSpPr>
        <p:spPr>
          <a:xfrm>
            <a:off x="365760" y="73152"/>
            <a:ext cx="91440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Data Cleaning</a:t>
            </a:r>
            <a:endParaRPr lang="en-US" sz="2800" dirty="0"/>
          </a:p>
        </p:txBody>
      </p:sp>
      <p:sp>
        <p:nvSpPr>
          <p:cNvPr id="4" name="Text 2"/>
          <p:cNvSpPr/>
          <p:nvPr/>
        </p:nvSpPr>
        <p:spPr>
          <a:xfrm>
            <a:off x="365760" y="594360"/>
            <a:ext cx="9144000" cy="347472"/>
          </a:xfrm>
          <a:prstGeom prst="rect">
            <a:avLst/>
          </a:prstGeom>
          <a:noFill/>
          <a:ln/>
        </p:spPr>
        <p:txBody>
          <a:bodyPr wrap="square" rtlCol="0" anchor="t"/>
          <a:lstStyle/>
          <a:p>
            <a:pPr marL="0" indent="0">
              <a:buNone/>
            </a:pPr>
            <a:r>
              <a:rPr lang="en-US" sz="1300" dirty="0">
                <a:solidFill>
                  <a:srgbClr val="D6E8F5"/>
                </a:solidFill>
                <a:latin typeface="Calibri" pitchFamily="34" charset="0"/>
                <a:ea typeface="Calibri" pitchFamily="34" charset="-122"/>
                <a:cs typeface="Calibri" pitchFamily="34" charset="-120"/>
              </a:rPr>
              <a:t>Preparing 105,317 records across four tools</a:t>
            </a:r>
            <a:endParaRPr lang="en-US" sz="1300" dirty="0"/>
          </a:p>
        </p:txBody>
      </p:sp>
      <p:sp>
        <p:nvSpPr>
          <p:cNvPr id="5" name="Shape 3"/>
          <p:cNvSpPr/>
          <p:nvPr/>
        </p:nvSpPr>
        <p:spPr>
          <a:xfrm>
            <a:off x="320040" y="1143000"/>
            <a:ext cx="3703320" cy="5394960"/>
          </a:xfrm>
          <a:prstGeom prst="rect">
            <a:avLst/>
          </a:prstGeom>
          <a:solidFill>
            <a:srgbClr val="F7F9FB"/>
          </a:solidFill>
          <a:ln w="12700">
            <a:solidFill>
              <a:srgbClr val="D6E8F5"/>
            </a:solidFill>
            <a:prstDash val="solid"/>
          </a:ln>
        </p:spPr>
        <p:txBody>
          <a:bodyPr/>
          <a:lstStyle/>
          <a:p>
            <a:endParaRPr lang="en-US"/>
          </a:p>
        </p:txBody>
      </p:sp>
      <p:sp>
        <p:nvSpPr>
          <p:cNvPr id="6" name="Shape 4"/>
          <p:cNvSpPr/>
          <p:nvPr/>
        </p:nvSpPr>
        <p:spPr>
          <a:xfrm>
            <a:off x="320040" y="1143000"/>
            <a:ext cx="3703320" cy="502920"/>
          </a:xfrm>
          <a:prstGeom prst="rect">
            <a:avLst/>
          </a:prstGeom>
          <a:solidFill>
            <a:srgbClr val="1A7A4A"/>
          </a:solidFill>
          <a:ln w="12700">
            <a:solidFill>
              <a:srgbClr val="1A7A4A"/>
            </a:solidFill>
            <a:prstDash val="solid"/>
          </a:ln>
        </p:spPr>
        <p:txBody>
          <a:bodyPr/>
          <a:lstStyle/>
          <a:p>
            <a:endParaRPr lang="en-US"/>
          </a:p>
        </p:txBody>
      </p:sp>
      <p:sp>
        <p:nvSpPr>
          <p:cNvPr id="7" name="Text 5"/>
          <p:cNvSpPr/>
          <p:nvPr/>
        </p:nvSpPr>
        <p:spPr>
          <a:xfrm>
            <a:off x="457200" y="1143000"/>
            <a:ext cx="3429000" cy="5029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Excel</a:t>
            </a:r>
            <a:endParaRPr lang="en-US" sz="1400" dirty="0"/>
          </a:p>
        </p:txBody>
      </p:sp>
      <p:sp>
        <p:nvSpPr>
          <p:cNvPr id="8" name="Text 6"/>
          <p:cNvSpPr/>
          <p:nvPr/>
        </p:nvSpPr>
        <p:spPr>
          <a:xfrm>
            <a:off x="484632" y="1737360"/>
            <a:ext cx="3383280" cy="658368"/>
          </a:xfrm>
          <a:prstGeom prst="rect">
            <a:avLst/>
          </a:prstGeom>
          <a:noFill/>
          <a:ln/>
        </p:spPr>
        <p:txBody>
          <a:bodyPr wrap="square" rtlCol="0" anchor="t"/>
          <a:lstStyle/>
          <a:p>
            <a:pPr marL="0" indent="0">
              <a:buNone/>
            </a:pPr>
            <a:r>
              <a:rPr lang="en-US" sz="1050" dirty="0">
                <a:solidFill>
                  <a:srgbClr val="1A2E3B"/>
                </a:solidFill>
                <a:latin typeface="Calibri" pitchFamily="34" charset="0"/>
                <a:ea typeface="Calibri" pitchFamily="34" charset="-122"/>
                <a:cs typeface="Calibri" pitchFamily="34" charset="-120"/>
              </a:rPr>
              <a:t>• Removed 1 duplicate record from 105,318 total</a:t>
            </a:r>
            <a:endParaRPr lang="en-US" sz="1050" dirty="0"/>
          </a:p>
        </p:txBody>
      </p:sp>
      <p:sp>
        <p:nvSpPr>
          <p:cNvPr id="9" name="Text 7"/>
          <p:cNvSpPr/>
          <p:nvPr/>
        </p:nvSpPr>
        <p:spPr>
          <a:xfrm>
            <a:off x="484632" y="2441448"/>
            <a:ext cx="3383280" cy="658368"/>
          </a:xfrm>
          <a:prstGeom prst="rect">
            <a:avLst/>
          </a:prstGeom>
          <a:noFill/>
          <a:ln/>
        </p:spPr>
        <p:txBody>
          <a:bodyPr wrap="square" rtlCol="0" anchor="t"/>
          <a:lstStyle/>
          <a:p>
            <a:pPr marL="0" indent="0">
              <a:buNone/>
            </a:pPr>
            <a:r>
              <a:rPr lang="en-US" sz="1050" dirty="0">
                <a:solidFill>
                  <a:srgbClr val="1A2E3B"/>
                </a:solidFill>
                <a:latin typeface="Calibri" pitchFamily="34" charset="0"/>
                <a:ea typeface="Calibri" pitchFamily="34" charset="-122"/>
                <a:cs typeface="Calibri" pitchFamily="34" charset="-120"/>
              </a:rPr>
              <a:t>• Converted EventDate from text to MM/DD/YYYY format</a:t>
            </a:r>
            <a:endParaRPr lang="en-US" sz="1050" dirty="0"/>
          </a:p>
        </p:txBody>
      </p:sp>
      <p:sp>
        <p:nvSpPr>
          <p:cNvPr id="10" name="Text 8"/>
          <p:cNvSpPr/>
          <p:nvPr/>
        </p:nvSpPr>
        <p:spPr>
          <a:xfrm>
            <a:off x="484632" y="3145536"/>
            <a:ext cx="3383280" cy="658368"/>
          </a:xfrm>
          <a:prstGeom prst="rect">
            <a:avLst/>
          </a:prstGeom>
          <a:noFill/>
          <a:ln/>
        </p:spPr>
        <p:txBody>
          <a:bodyPr wrap="square" rtlCol="0" anchor="t"/>
          <a:lstStyle/>
          <a:p>
            <a:pPr marL="0" indent="0">
              <a:buNone/>
            </a:pPr>
            <a:r>
              <a:rPr lang="en-US" sz="1050" dirty="0">
                <a:solidFill>
                  <a:srgbClr val="1A2E3B"/>
                </a:solidFill>
                <a:latin typeface="Calibri" pitchFamily="34" charset="0"/>
                <a:ea typeface="Calibri" pitchFamily="34" charset="-122"/>
                <a:cs typeface="Calibri" pitchFamily="34" charset="-120"/>
              </a:rPr>
              <a:t>• Standardized employer names to proper case, trimmed spaces</a:t>
            </a:r>
            <a:endParaRPr lang="en-US" sz="1050" dirty="0"/>
          </a:p>
        </p:txBody>
      </p:sp>
      <p:sp>
        <p:nvSpPr>
          <p:cNvPr id="11" name="Text 9"/>
          <p:cNvSpPr/>
          <p:nvPr/>
        </p:nvSpPr>
        <p:spPr>
          <a:xfrm>
            <a:off x="484632" y="3849624"/>
            <a:ext cx="3383280" cy="658368"/>
          </a:xfrm>
          <a:prstGeom prst="rect">
            <a:avLst/>
          </a:prstGeom>
          <a:noFill/>
          <a:ln/>
        </p:spPr>
        <p:txBody>
          <a:bodyPr wrap="square" rtlCol="0" anchor="t"/>
          <a:lstStyle/>
          <a:p>
            <a:pPr marL="0" indent="0">
              <a:buNone/>
            </a:pPr>
            <a:r>
              <a:rPr lang="en-US" sz="1050" dirty="0">
                <a:solidFill>
                  <a:srgbClr val="1A2E3B"/>
                </a:solidFill>
                <a:latin typeface="Calibri" pitchFamily="34" charset="0"/>
                <a:ea typeface="Calibri" pitchFamily="34" charset="-122"/>
                <a:cs typeface="Calibri" pitchFamily="34" charset="-120"/>
              </a:rPr>
              <a:t>• Restored leading zeros on Zip codes using TEXT formula</a:t>
            </a:r>
            <a:endParaRPr lang="en-US" sz="1050" dirty="0"/>
          </a:p>
        </p:txBody>
      </p:sp>
      <p:sp>
        <p:nvSpPr>
          <p:cNvPr id="12" name="Text 10"/>
          <p:cNvSpPr/>
          <p:nvPr/>
        </p:nvSpPr>
        <p:spPr>
          <a:xfrm>
            <a:off x="484632" y="4553712"/>
            <a:ext cx="3383280" cy="658368"/>
          </a:xfrm>
          <a:prstGeom prst="rect">
            <a:avLst/>
          </a:prstGeom>
          <a:noFill/>
          <a:ln/>
        </p:spPr>
        <p:txBody>
          <a:bodyPr wrap="square" rtlCol="0" anchor="t"/>
          <a:lstStyle/>
          <a:p>
            <a:pPr marL="0" indent="0">
              <a:buNone/>
            </a:pPr>
            <a:r>
              <a:rPr lang="en-US" sz="1050" dirty="0">
                <a:solidFill>
                  <a:srgbClr val="1A2E3B"/>
                </a:solidFill>
                <a:latin typeface="Calibri" pitchFamily="34" charset="0"/>
                <a:ea typeface="Calibri" pitchFamily="34" charset="-122"/>
                <a:cs typeface="Calibri" pitchFamily="34" charset="-120"/>
              </a:rPr>
              <a:t>• Standardized State column to uppercase</a:t>
            </a:r>
            <a:endParaRPr lang="en-US" sz="1050" dirty="0"/>
          </a:p>
        </p:txBody>
      </p:sp>
      <p:sp>
        <p:nvSpPr>
          <p:cNvPr id="13" name="Text 11"/>
          <p:cNvSpPr/>
          <p:nvPr/>
        </p:nvSpPr>
        <p:spPr>
          <a:xfrm>
            <a:off x="484632" y="5257800"/>
            <a:ext cx="3383280" cy="658368"/>
          </a:xfrm>
          <a:prstGeom prst="rect">
            <a:avLst/>
          </a:prstGeom>
          <a:noFill/>
          <a:ln/>
        </p:spPr>
        <p:txBody>
          <a:bodyPr wrap="square" rtlCol="0" anchor="t"/>
          <a:lstStyle/>
          <a:p>
            <a:pPr marL="0" indent="0">
              <a:buNone/>
            </a:pPr>
            <a:r>
              <a:rPr lang="en-US" sz="1050" dirty="0">
                <a:solidFill>
                  <a:srgbClr val="1A2E3B"/>
                </a:solidFill>
                <a:latin typeface="Calibri" pitchFamily="34" charset="0"/>
                <a:ea typeface="Calibri" pitchFamily="34" charset="-122"/>
                <a:cs typeface="Calibri" pitchFamily="34" charset="-120"/>
              </a:rPr>
              <a:t>• Built hierarchical XLOOKUP for NAICS industry names </a:t>
            </a:r>
            <a:r>
              <a:rPr lang="en-US" sz="1050">
                <a:solidFill>
                  <a:srgbClr val="1A2E3B"/>
                </a:solidFill>
                <a:latin typeface="Calibri" pitchFamily="34" charset="0"/>
                <a:ea typeface="Calibri" pitchFamily="34" charset="-122"/>
                <a:cs typeface="Calibri" pitchFamily="34" charset="-120"/>
              </a:rPr>
              <a:t>-</a:t>
            </a:r>
            <a:r>
              <a:rPr lang="en-US" sz="1050" dirty="0">
                <a:solidFill>
                  <a:srgbClr val="1A2E3B"/>
                </a:solidFill>
                <a:latin typeface="Calibri" pitchFamily="34" charset="0"/>
                <a:ea typeface="Calibri" pitchFamily="34" charset="-122"/>
                <a:cs typeface="Calibri" pitchFamily="34" charset="-120"/>
              </a:rPr>
              <a:t> reduced unknowns to 32</a:t>
            </a:r>
            <a:endParaRPr lang="en-US" sz="1050" dirty="0"/>
          </a:p>
        </p:txBody>
      </p:sp>
      <p:sp>
        <p:nvSpPr>
          <p:cNvPr id="14" name="Shape 12"/>
          <p:cNvSpPr/>
          <p:nvPr/>
        </p:nvSpPr>
        <p:spPr>
          <a:xfrm>
            <a:off x="4251960" y="1143000"/>
            <a:ext cx="3703320" cy="5394960"/>
          </a:xfrm>
          <a:prstGeom prst="rect">
            <a:avLst/>
          </a:prstGeom>
          <a:solidFill>
            <a:srgbClr val="F7F9FB"/>
          </a:solidFill>
          <a:ln w="12700">
            <a:solidFill>
              <a:srgbClr val="D6E8F5"/>
            </a:solidFill>
            <a:prstDash val="solid"/>
          </a:ln>
        </p:spPr>
        <p:txBody>
          <a:bodyPr/>
          <a:lstStyle/>
          <a:p>
            <a:endParaRPr lang="en-US"/>
          </a:p>
        </p:txBody>
      </p:sp>
      <p:sp>
        <p:nvSpPr>
          <p:cNvPr id="15" name="Shape 13"/>
          <p:cNvSpPr/>
          <p:nvPr/>
        </p:nvSpPr>
        <p:spPr>
          <a:xfrm>
            <a:off x="4251960" y="1143000"/>
            <a:ext cx="3703320" cy="502920"/>
          </a:xfrm>
          <a:prstGeom prst="rect">
            <a:avLst/>
          </a:prstGeom>
          <a:solidFill>
            <a:srgbClr val="2E86AB"/>
          </a:solidFill>
          <a:ln w="12700">
            <a:solidFill>
              <a:srgbClr val="2E86AB"/>
            </a:solidFill>
            <a:prstDash val="solid"/>
          </a:ln>
        </p:spPr>
        <p:txBody>
          <a:bodyPr/>
          <a:lstStyle/>
          <a:p>
            <a:endParaRPr lang="en-US"/>
          </a:p>
        </p:txBody>
      </p:sp>
      <p:sp>
        <p:nvSpPr>
          <p:cNvPr id="16" name="Text 14"/>
          <p:cNvSpPr/>
          <p:nvPr/>
        </p:nvSpPr>
        <p:spPr>
          <a:xfrm>
            <a:off x="4389120" y="1143000"/>
            <a:ext cx="3429000" cy="5029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SQL</a:t>
            </a:r>
            <a:endParaRPr lang="en-US" sz="1400" dirty="0"/>
          </a:p>
        </p:txBody>
      </p:sp>
      <p:sp>
        <p:nvSpPr>
          <p:cNvPr id="17" name="Text 15"/>
          <p:cNvSpPr/>
          <p:nvPr/>
        </p:nvSpPr>
        <p:spPr>
          <a:xfrm>
            <a:off x="4416552" y="1737360"/>
            <a:ext cx="3383280" cy="658368"/>
          </a:xfrm>
          <a:prstGeom prst="rect">
            <a:avLst/>
          </a:prstGeom>
          <a:noFill/>
          <a:ln/>
        </p:spPr>
        <p:txBody>
          <a:bodyPr wrap="square" rtlCol="0" anchor="t"/>
          <a:lstStyle/>
          <a:p>
            <a:pPr marL="0" indent="0">
              <a:buNone/>
            </a:pPr>
            <a:r>
              <a:rPr lang="en-US" sz="1050" dirty="0">
                <a:solidFill>
                  <a:srgbClr val="1A2E3B"/>
                </a:solidFill>
                <a:latin typeface="Calibri" pitchFamily="34" charset="0"/>
                <a:ea typeface="Calibri" pitchFamily="34" charset="-122"/>
                <a:cs typeface="Calibri" pitchFamily="34" charset="-120"/>
              </a:rPr>
              <a:t>• Built schema and imported 105,317 records into MySQL</a:t>
            </a:r>
            <a:endParaRPr lang="en-US" sz="1050" dirty="0"/>
          </a:p>
        </p:txBody>
      </p:sp>
      <p:sp>
        <p:nvSpPr>
          <p:cNvPr id="18" name="Text 16"/>
          <p:cNvSpPr/>
          <p:nvPr/>
        </p:nvSpPr>
        <p:spPr>
          <a:xfrm>
            <a:off x="4416552" y="2441448"/>
            <a:ext cx="3383280" cy="658368"/>
          </a:xfrm>
          <a:prstGeom prst="rect">
            <a:avLst/>
          </a:prstGeom>
          <a:noFill/>
          <a:ln/>
        </p:spPr>
        <p:txBody>
          <a:bodyPr wrap="square" rtlCol="0" anchor="t"/>
          <a:lstStyle/>
          <a:p>
            <a:pPr marL="0" indent="0">
              <a:buNone/>
            </a:pPr>
            <a:r>
              <a:rPr lang="en-US" sz="1050" dirty="0">
                <a:solidFill>
                  <a:srgbClr val="1A2E3B"/>
                </a:solidFill>
                <a:latin typeface="Calibri" pitchFamily="34" charset="0"/>
                <a:ea typeface="Calibri" pitchFamily="34" charset="-122"/>
                <a:cs typeface="Calibri" pitchFamily="34" charset="-120"/>
              </a:rPr>
              <a:t>• Applied TRIM and COALESCE for employer name handling</a:t>
            </a:r>
            <a:endParaRPr lang="en-US" sz="1050" dirty="0"/>
          </a:p>
        </p:txBody>
      </p:sp>
      <p:sp>
        <p:nvSpPr>
          <p:cNvPr id="19" name="Text 17"/>
          <p:cNvSpPr/>
          <p:nvPr/>
        </p:nvSpPr>
        <p:spPr>
          <a:xfrm>
            <a:off x="4416552" y="3145536"/>
            <a:ext cx="3383280" cy="658368"/>
          </a:xfrm>
          <a:prstGeom prst="rect">
            <a:avLst/>
          </a:prstGeom>
          <a:noFill/>
          <a:ln/>
        </p:spPr>
        <p:txBody>
          <a:bodyPr wrap="square" rtlCol="0" anchor="t"/>
          <a:lstStyle/>
          <a:p>
            <a:pPr marL="0" indent="0">
              <a:buNone/>
            </a:pPr>
            <a:r>
              <a:rPr lang="en-US" sz="1050" dirty="0">
                <a:solidFill>
                  <a:srgbClr val="1A2E3B"/>
                </a:solidFill>
                <a:latin typeface="Calibri" pitchFamily="34" charset="0"/>
                <a:ea typeface="Calibri" pitchFamily="34" charset="-122"/>
                <a:cs typeface="Calibri" pitchFamily="34" charset="-120"/>
              </a:rPr>
              <a:t>• Built 4-level LEFT JOIN with COALESCE for NAICS matching</a:t>
            </a:r>
            <a:endParaRPr lang="en-US" sz="1050" dirty="0"/>
          </a:p>
        </p:txBody>
      </p:sp>
      <p:sp>
        <p:nvSpPr>
          <p:cNvPr id="20" name="Text 18"/>
          <p:cNvSpPr/>
          <p:nvPr/>
        </p:nvSpPr>
        <p:spPr>
          <a:xfrm>
            <a:off x="4416552" y="3849624"/>
            <a:ext cx="3383280" cy="658368"/>
          </a:xfrm>
          <a:prstGeom prst="rect">
            <a:avLst/>
          </a:prstGeom>
          <a:noFill/>
          <a:ln/>
        </p:spPr>
        <p:txBody>
          <a:bodyPr wrap="square" rtlCol="0" anchor="t"/>
          <a:lstStyle/>
          <a:p>
            <a:pPr marL="0" indent="0">
              <a:buNone/>
            </a:pPr>
            <a:r>
              <a:rPr lang="en-US" sz="1050" dirty="0">
                <a:solidFill>
                  <a:srgbClr val="1A2E3B"/>
                </a:solidFill>
                <a:latin typeface="Calibri" pitchFamily="34" charset="0"/>
                <a:ea typeface="Calibri" pitchFamily="34" charset="-122"/>
                <a:cs typeface="Calibri" pitchFamily="34" charset="-120"/>
              </a:rPr>
              <a:t>• Used CASE statement to standardize major employer names</a:t>
            </a:r>
            <a:endParaRPr lang="en-US" sz="1050" dirty="0"/>
          </a:p>
        </p:txBody>
      </p:sp>
      <p:sp>
        <p:nvSpPr>
          <p:cNvPr id="21" name="Text 19"/>
          <p:cNvSpPr/>
          <p:nvPr/>
        </p:nvSpPr>
        <p:spPr>
          <a:xfrm>
            <a:off x="4416552" y="4553712"/>
            <a:ext cx="3383280" cy="658368"/>
          </a:xfrm>
          <a:prstGeom prst="rect">
            <a:avLst/>
          </a:prstGeom>
          <a:noFill/>
          <a:ln/>
        </p:spPr>
        <p:txBody>
          <a:bodyPr wrap="square" rtlCol="0" anchor="t"/>
          <a:lstStyle/>
          <a:p>
            <a:pPr marL="0" indent="0">
              <a:buNone/>
            </a:pPr>
            <a:r>
              <a:rPr lang="en-US" sz="1050" dirty="0">
                <a:solidFill>
                  <a:srgbClr val="1A2E3B"/>
                </a:solidFill>
                <a:latin typeface="Calibri" pitchFamily="34" charset="0"/>
                <a:ea typeface="Calibri" pitchFamily="34" charset="-122"/>
                <a:cs typeface="Calibri" pitchFamily="34" charset="-120"/>
              </a:rPr>
              <a:t>• Converted EventDate from text using STR_TO_DATE()</a:t>
            </a:r>
            <a:endParaRPr lang="en-US" sz="1050" dirty="0"/>
          </a:p>
        </p:txBody>
      </p:sp>
      <p:sp>
        <p:nvSpPr>
          <p:cNvPr id="22" name="Text 20"/>
          <p:cNvSpPr/>
          <p:nvPr/>
        </p:nvSpPr>
        <p:spPr>
          <a:xfrm>
            <a:off x="4416552" y="5257800"/>
            <a:ext cx="3383280" cy="658368"/>
          </a:xfrm>
          <a:prstGeom prst="rect">
            <a:avLst/>
          </a:prstGeom>
          <a:noFill/>
          <a:ln/>
        </p:spPr>
        <p:txBody>
          <a:bodyPr wrap="square" rtlCol="0" anchor="t"/>
          <a:lstStyle/>
          <a:p>
            <a:pPr marL="0" indent="0">
              <a:buNone/>
            </a:pPr>
            <a:r>
              <a:rPr lang="en-US" sz="1050" dirty="0">
                <a:solidFill>
                  <a:srgbClr val="1A2E3B"/>
                </a:solidFill>
                <a:latin typeface="Calibri" pitchFamily="34" charset="0"/>
                <a:ea typeface="Calibri" pitchFamily="34" charset="-122"/>
                <a:cs typeface="Calibri" pitchFamily="34" charset="-120"/>
              </a:rPr>
              <a:t>• Verified date range and record counts post-import</a:t>
            </a:r>
            <a:endParaRPr lang="en-US" sz="1050" dirty="0"/>
          </a:p>
        </p:txBody>
      </p:sp>
      <p:sp>
        <p:nvSpPr>
          <p:cNvPr id="23" name="Shape 21"/>
          <p:cNvSpPr/>
          <p:nvPr/>
        </p:nvSpPr>
        <p:spPr>
          <a:xfrm>
            <a:off x="8183880" y="1143000"/>
            <a:ext cx="3703320" cy="5394960"/>
          </a:xfrm>
          <a:prstGeom prst="rect">
            <a:avLst/>
          </a:prstGeom>
          <a:solidFill>
            <a:srgbClr val="F7F9FB"/>
          </a:solidFill>
          <a:ln w="12700">
            <a:solidFill>
              <a:srgbClr val="D6E8F5"/>
            </a:solidFill>
            <a:prstDash val="solid"/>
          </a:ln>
        </p:spPr>
        <p:txBody>
          <a:bodyPr/>
          <a:lstStyle/>
          <a:p>
            <a:endParaRPr lang="en-US"/>
          </a:p>
        </p:txBody>
      </p:sp>
      <p:sp>
        <p:nvSpPr>
          <p:cNvPr id="24" name="Shape 22"/>
          <p:cNvSpPr/>
          <p:nvPr/>
        </p:nvSpPr>
        <p:spPr>
          <a:xfrm>
            <a:off x="8183880" y="1143000"/>
            <a:ext cx="3703320" cy="502920"/>
          </a:xfrm>
          <a:prstGeom prst="rect">
            <a:avLst/>
          </a:prstGeom>
          <a:solidFill>
            <a:srgbClr val="E09F3E"/>
          </a:solidFill>
          <a:ln w="12700">
            <a:solidFill>
              <a:srgbClr val="E09F3E"/>
            </a:solidFill>
            <a:prstDash val="solid"/>
          </a:ln>
        </p:spPr>
        <p:txBody>
          <a:bodyPr/>
          <a:lstStyle/>
          <a:p>
            <a:endParaRPr lang="en-US"/>
          </a:p>
        </p:txBody>
      </p:sp>
      <p:sp>
        <p:nvSpPr>
          <p:cNvPr id="25" name="Text 23"/>
          <p:cNvSpPr/>
          <p:nvPr/>
        </p:nvSpPr>
        <p:spPr>
          <a:xfrm>
            <a:off x="8321040" y="1143000"/>
            <a:ext cx="3429000" cy="5029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Python</a:t>
            </a:r>
            <a:endParaRPr lang="en-US" sz="1400" dirty="0"/>
          </a:p>
        </p:txBody>
      </p:sp>
      <p:sp>
        <p:nvSpPr>
          <p:cNvPr id="26" name="Text 24"/>
          <p:cNvSpPr/>
          <p:nvPr/>
        </p:nvSpPr>
        <p:spPr>
          <a:xfrm>
            <a:off x="8348472" y="1737360"/>
            <a:ext cx="3383280" cy="658368"/>
          </a:xfrm>
          <a:prstGeom prst="rect">
            <a:avLst/>
          </a:prstGeom>
          <a:noFill/>
          <a:ln/>
        </p:spPr>
        <p:txBody>
          <a:bodyPr wrap="square" rtlCol="0" anchor="t"/>
          <a:lstStyle/>
          <a:p>
            <a:pPr marL="0" indent="0">
              <a:buNone/>
            </a:pPr>
            <a:r>
              <a:rPr lang="en-US" sz="1050" dirty="0">
                <a:solidFill>
                  <a:srgbClr val="1A2E3B"/>
                </a:solidFill>
                <a:latin typeface="Calibri" pitchFamily="34" charset="0"/>
                <a:ea typeface="Calibri" pitchFamily="34" charset="-122"/>
                <a:cs typeface="Calibri" pitchFamily="34" charset="-120"/>
              </a:rPr>
              <a:t>• Fixed EventDate Excel serial number conversion issue</a:t>
            </a:r>
            <a:endParaRPr lang="en-US" sz="1050" dirty="0"/>
          </a:p>
        </p:txBody>
      </p:sp>
      <p:sp>
        <p:nvSpPr>
          <p:cNvPr id="27" name="Text 25"/>
          <p:cNvSpPr/>
          <p:nvPr/>
        </p:nvSpPr>
        <p:spPr>
          <a:xfrm>
            <a:off x="8348472" y="2441448"/>
            <a:ext cx="3383280" cy="658368"/>
          </a:xfrm>
          <a:prstGeom prst="rect">
            <a:avLst/>
          </a:prstGeom>
          <a:noFill/>
          <a:ln/>
        </p:spPr>
        <p:txBody>
          <a:bodyPr wrap="square" rtlCol="0" anchor="t"/>
          <a:lstStyle/>
          <a:p>
            <a:pPr marL="0" indent="0">
              <a:buNone/>
            </a:pPr>
            <a:r>
              <a:rPr lang="en-US" sz="1050" dirty="0">
                <a:solidFill>
                  <a:srgbClr val="1A2E3B"/>
                </a:solidFill>
                <a:latin typeface="Calibri" pitchFamily="34" charset="0"/>
                <a:ea typeface="Calibri" pitchFamily="34" charset="-122"/>
                <a:cs typeface="Calibri" pitchFamily="34" charset="-120"/>
              </a:rPr>
              <a:t>• Zero-padded Zip codes using str.zfill(5)</a:t>
            </a:r>
            <a:endParaRPr lang="en-US" sz="1050" dirty="0"/>
          </a:p>
        </p:txBody>
      </p:sp>
      <p:sp>
        <p:nvSpPr>
          <p:cNvPr id="28" name="Text 26"/>
          <p:cNvSpPr/>
          <p:nvPr/>
        </p:nvSpPr>
        <p:spPr>
          <a:xfrm>
            <a:off x="8348472" y="3145536"/>
            <a:ext cx="3383280" cy="658368"/>
          </a:xfrm>
          <a:prstGeom prst="rect">
            <a:avLst/>
          </a:prstGeom>
          <a:noFill/>
          <a:ln/>
        </p:spPr>
        <p:txBody>
          <a:bodyPr wrap="square" rtlCol="0" anchor="t"/>
          <a:lstStyle/>
          <a:p>
            <a:pPr marL="0" indent="0">
              <a:buNone/>
            </a:pPr>
            <a:r>
              <a:rPr lang="en-US" sz="1050" dirty="0">
                <a:solidFill>
                  <a:srgbClr val="1A2E3B"/>
                </a:solidFill>
                <a:latin typeface="Calibri" pitchFamily="34" charset="0"/>
                <a:ea typeface="Calibri" pitchFamily="34" charset="-122"/>
                <a:cs typeface="Calibri" pitchFamily="34" charset="-120"/>
              </a:rPr>
              <a:t>• Converted Amputation and Loss of Eye to integer type</a:t>
            </a:r>
            <a:endParaRPr lang="en-US" sz="1050" dirty="0"/>
          </a:p>
        </p:txBody>
      </p:sp>
      <p:sp>
        <p:nvSpPr>
          <p:cNvPr id="29" name="Text 27"/>
          <p:cNvSpPr/>
          <p:nvPr/>
        </p:nvSpPr>
        <p:spPr>
          <a:xfrm>
            <a:off x="8348472" y="3849624"/>
            <a:ext cx="3383280" cy="658368"/>
          </a:xfrm>
          <a:prstGeom prst="rect">
            <a:avLst/>
          </a:prstGeom>
          <a:noFill/>
          <a:ln/>
        </p:spPr>
        <p:txBody>
          <a:bodyPr wrap="square" rtlCol="0" anchor="t"/>
          <a:lstStyle/>
          <a:p>
            <a:pPr marL="0" indent="0">
              <a:buNone/>
            </a:pPr>
            <a:r>
              <a:rPr lang="en-US" sz="1050" dirty="0">
                <a:solidFill>
                  <a:srgbClr val="1A2E3B"/>
                </a:solidFill>
                <a:latin typeface="Calibri" pitchFamily="34" charset="0"/>
                <a:ea typeface="Calibri" pitchFamily="34" charset="-122"/>
                <a:cs typeface="Calibri" pitchFamily="34" charset="-120"/>
              </a:rPr>
              <a:t>• Applied str.strip() and str.title() to Employer column</a:t>
            </a:r>
            <a:endParaRPr lang="en-US" sz="1050" dirty="0"/>
          </a:p>
        </p:txBody>
      </p:sp>
      <p:sp>
        <p:nvSpPr>
          <p:cNvPr id="30" name="Text 28"/>
          <p:cNvSpPr/>
          <p:nvPr/>
        </p:nvSpPr>
        <p:spPr>
          <a:xfrm>
            <a:off x="8348472" y="4553712"/>
            <a:ext cx="3383280" cy="658368"/>
          </a:xfrm>
          <a:prstGeom prst="rect">
            <a:avLst/>
          </a:prstGeom>
          <a:noFill/>
          <a:ln/>
        </p:spPr>
        <p:txBody>
          <a:bodyPr wrap="square" rtlCol="0" anchor="t"/>
          <a:lstStyle/>
          <a:p>
            <a:pPr marL="0" indent="0">
              <a:buNone/>
            </a:pPr>
            <a:r>
              <a:rPr lang="en-US" sz="1050" dirty="0">
                <a:solidFill>
                  <a:srgbClr val="1A2E3B"/>
                </a:solidFill>
                <a:latin typeface="Calibri" pitchFamily="34" charset="0"/>
                <a:ea typeface="Calibri" pitchFamily="34" charset="-122"/>
                <a:cs typeface="Calibri" pitchFamily="34" charset="-120"/>
              </a:rPr>
              <a:t>• Replicated hierarchical NAICS join </a:t>
            </a:r>
            <a:r>
              <a:rPr lang="en-US" sz="1050">
                <a:solidFill>
                  <a:srgbClr val="1A2E3B"/>
                </a:solidFill>
                <a:latin typeface="Calibri" pitchFamily="34" charset="0"/>
                <a:ea typeface="Calibri" pitchFamily="34" charset="-122"/>
                <a:cs typeface="Calibri" pitchFamily="34" charset="-120"/>
              </a:rPr>
              <a:t>-</a:t>
            </a:r>
            <a:r>
              <a:rPr lang="en-US" sz="1050" dirty="0">
                <a:solidFill>
                  <a:srgbClr val="1A2E3B"/>
                </a:solidFill>
                <a:latin typeface="Calibri" pitchFamily="34" charset="0"/>
                <a:ea typeface="Calibri" pitchFamily="34" charset="-122"/>
                <a:cs typeface="Calibri" pitchFamily="34" charset="-120"/>
              </a:rPr>
              <a:t> 97.48% match rate</a:t>
            </a:r>
            <a:endParaRPr lang="en-US" sz="1050" dirty="0"/>
          </a:p>
        </p:txBody>
      </p:sp>
      <p:sp>
        <p:nvSpPr>
          <p:cNvPr id="31" name="Text 29"/>
          <p:cNvSpPr/>
          <p:nvPr/>
        </p:nvSpPr>
        <p:spPr>
          <a:xfrm>
            <a:off x="8348472" y="5257800"/>
            <a:ext cx="3383280" cy="658368"/>
          </a:xfrm>
          <a:prstGeom prst="rect">
            <a:avLst/>
          </a:prstGeom>
          <a:noFill/>
          <a:ln/>
        </p:spPr>
        <p:txBody>
          <a:bodyPr wrap="square" rtlCol="0" anchor="t"/>
          <a:lstStyle/>
          <a:p>
            <a:pPr marL="0" indent="0">
              <a:buNone/>
            </a:pPr>
            <a:r>
              <a:rPr lang="en-US" sz="1050" dirty="0">
                <a:solidFill>
                  <a:srgbClr val="1A2E3B"/>
                </a:solidFill>
                <a:latin typeface="Calibri" pitchFamily="34" charset="0"/>
                <a:ea typeface="Calibri" pitchFamily="34" charset="-122"/>
                <a:cs typeface="Calibri" pitchFamily="34" charset="-120"/>
              </a:rPr>
              <a:t>• Removed trailing T artifacts from industry title columns</a:t>
            </a:r>
            <a:endParaRPr lang="en-US" sz="1050" dirty="0"/>
          </a:p>
        </p:txBody>
      </p:sp>
      <p:sp>
        <p:nvSpPr>
          <p:cNvPr id="32" name="Text 30"/>
          <p:cNvSpPr/>
          <p:nvPr/>
        </p:nvSpPr>
        <p:spPr>
          <a:xfrm>
            <a:off x="0" y="6492240"/>
            <a:ext cx="12192000" cy="32004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OSHA Severe Injury Report Analysis  |  Mary Becker  |  Data Analytics Capstone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0D1B2A"/>
          </a:solidFill>
          <a:ln/>
        </p:spPr>
        <p:txBody>
          <a:bodyPr/>
          <a:lstStyle/>
          <a:p>
            <a:endParaRPr lang="en-US"/>
          </a:p>
        </p:txBody>
      </p:sp>
      <p:sp>
        <p:nvSpPr>
          <p:cNvPr id="3" name="Text 1"/>
          <p:cNvSpPr/>
          <p:nvPr/>
        </p:nvSpPr>
        <p:spPr>
          <a:xfrm>
            <a:off x="365760" y="73152"/>
            <a:ext cx="91440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Exploratory Data Analysis</a:t>
            </a:r>
            <a:endParaRPr lang="en-US" sz="2800" dirty="0"/>
          </a:p>
        </p:txBody>
      </p:sp>
      <p:sp>
        <p:nvSpPr>
          <p:cNvPr id="4" name="Text 2"/>
          <p:cNvSpPr/>
          <p:nvPr/>
        </p:nvSpPr>
        <p:spPr>
          <a:xfrm>
            <a:off x="365760" y="594360"/>
            <a:ext cx="9144000" cy="347472"/>
          </a:xfrm>
          <a:prstGeom prst="rect">
            <a:avLst/>
          </a:prstGeom>
          <a:noFill/>
          <a:ln/>
        </p:spPr>
        <p:txBody>
          <a:bodyPr wrap="square" rtlCol="0" anchor="t"/>
          <a:lstStyle/>
          <a:p>
            <a:pPr marL="0" indent="0">
              <a:buNone/>
            </a:pPr>
            <a:r>
              <a:rPr lang="en-US" sz="1300" dirty="0">
                <a:solidFill>
                  <a:srgbClr val="D6E8F5"/>
                </a:solidFill>
                <a:latin typeface="Calibri" pitchFamily="34" charset="0"/>
                <a:ea typeface="Calibri" pitchFamily="34" charset="-122"/>
                <a:cs typeface="Calibri" pitchFamily="34" charset="-120"/>
              </a:rPr>
              <a:t>Statistical summary of the three primary outcome variables</a:t>
            </a:r>
            <a:endParaRPr lang="en-US" sz="1300" dirty="0"/>
          </a:p>
        </p:txBody>
      </p:sp>
      <p:sp>
        <p:nvSpPr>
          <p:cNvPr id="5" name="Shape 3"/>
          <p:cNvSpPr/>
          <p:nvPr/>
        </p:nvSpPr>
        <p:spPr>
          <a:xfrm>
            <a:off x="365760" y="1188720"/>
            <a:ext cx="2560320" cy="411480"/>
          </a:xfrm>
          <a:prstGeom prst="rect">
            <a:avLst/>
          </a:prstGeom>
          <a:solidFill>
            <a:srgbClr val="0D1B2A"/>
          </a:solidFill>
          <a:ln w="12700">
            <a:solidFill>
              <a:srgbClr val="0D1B2A"/>
            </a:solidFill>
            <a:prstDash val="solid"/>
          </a:ln>
        </p:spPr>
        <p:txBody>
          <a:bodyPr/>
          <a:lstStyle/>
          <a:p>
            <a:endParaRPr lang="en-US"/>
          </a:p>
        </p:txBody>
      </p:sp>
      <p:sp>
        <p:nvSpPr>
          <p:cNvPr id="6" name="Text 4"/>
          <p:cNvSpPr/>
          <p:nvPr/>
        </p:nvSpPr>
        <p:spPr>
          <a:xfrm>
            <a:off x="365760" y="1188720"/>
            <a:ext cx="256032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p>
        </p:txBody>
      </p:sp>
      <p:sp>
        <p:nvSpPr>
          <p:cNvPr id="7" name="Shape 5"/>
          <p:cNvSpPr/>
          <p:nvPr/>
        </p:nvSpPr>
        <p:spPr>
          <a:xfrm>
            <a:off x="2926080" y="1188720"/>
            <a:ext cx="2560320" cy="411480"/>
          </a:xfrm>
          <a:prstGeom prst="rect">
            <a:avLst/>
          </a:prstGeom>
          <a:solidFill>
            <a:srgbClr val="0D1B2A"/>
          </a:solidFill>
          <a:ln w="12700">
            <a:solidFill>
              <a:srgbClr val="0D1B2A"/>
            </a:solidFill>
            <a:prstDash val="solid"/>
          </a:ln>
        </p:spPr>
        <p:txBody>
          <a:bodyPr/>
          <a:lstStyle/>
          <a:p>
            <a:endParaRPr lang="en-US"/>
          </a:p>
        </p:txBody>
      </p:sp>
      <p:sp>
        <p:nvSpPr>
          <p:cNvPr id="8" name="Text 6"/>
          <p:cNvSpPr/>
          <p:nvPr/>
        </p:nvSpPr>
        <p:spPr>
          <a:xfrm>
            <a:off x="2926080" y="1188720"/>
            <a:ext cx="256032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Hospitalized</a:t>
            </a:r>
            <a:endParaRPr lang="en-US" sz="1200" dirty="0"/>
          </a:p>
        </p:txBody>
      </p:sp>
      <p:sp>
        <p:nvSpPr>
          <p:cNvPr id="9" name="Shape 7"/>
          <p:cNvSpPr/>
          <p:nvPr/>
        </p:nvSpPr>
        <p:spPr>
          <a:xfrm>
            <a:off x="5486400" y="1188720"/>
            <a:ext cx="2560320" cy="411480"/>
          </a:xfrm>
          <a:prstGeom prst="rect">
            <a:avLst/>
          </a:prstGeom>
          <a:solidFill>
            <a:srgbClr val="0D1B2A"/>
          </a:solidFill>
          <a:ln w="12700">
            <a:solidFill>
              <a:srgbClr val="0D1B2A"/>
            </a:solidFill>
            <a:prstDash val="solid"/>
          </a:ln>
        </p:spPr>
        <p:txBody>
          <a:bodyPr/>
          <a:lstStyle/>
          <a:p>
            <a:endParaRPr lang="en-US"/>
          </a:p>
        </p:txBody>
      </p:sp>
      <p:sp>
        <p:nvSpPr>
          <p:cNvPr id="10" name="Text 8"/>
          <p:cNvSpPr/>
          <p:nvPr/>
        </p:nvSpPr>
        <p:spPr>
          <a:xfrm>
            <a:off x="5486400" y="1188720"/>
            <a:ext cx="256032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Amputation</a:t>
            </a:r>
            <a:endParaRPr lang="en-US" sz="1200" dirty="0"/>
          </a:p>
        </p:txBody>
      </p:sp>
      <p:sp>
        <p:nvSpPr>
          <p:cNvPr id="11" name="Shape 9"/>
          <p:cNvSpPr/>
          <p:nvPr/>
        </p:nvSpPr>
        <p:spPr>
          <a:xfrm>
            <a:off x="8046720" y="1188720"/>
            <a:ext cx="2560320" cy="411480"/>
          </a:xfrm>
          <a:prstGeom prst="rect">
            <a:avLst/>
          </a:prstGeom>
          <a:solidFill>
            <a:srgbClr val="0D1B2A"/>
          </a:solidFill>
          <a:ln w="12700">
            <a:solidFill>
              <a:srgbClr val="0D1B2A"/>
            </a:solidFill>
            <a:prstDash val="solid"/>
          </a:ln>
        </p:spPr>
        <p:txBody>
          <a:bodyPr/>
          <a:lstStyle/>
          <a:p>
            <a:endParaRPr lang="en-US"/>
          </a:p>
        </p:txBody>
      </p:sp>
      <p:sp>
        <p:nvSpPr>
          <p:cNvPr id="12" name="Text 10"/>
          <p:cNvSpPr/>
          <p:nvPr/>
        </p:nvSpPr>
        <p:spPr>
          <a:xfrm>
            <a:off x="8046720" y="1188720"/>
            <a:ext cx="256032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Loss of Eye</a:t>
            </a:r>
            <a:endParaRPr lang="en-US" sz="1200" dirty="0"/>
          </a:p>
        </p:txBody>
      </p:sp>
      <p:sp>
        <p:nvSpPr>
          <p:cNvPr id="13" name="Shape 11"/>
          <p:cNvSpPr/>
          <p:nvPr/>
        </p:nvSpPr>
        <p:spPr>
          <a:xfrm>
            <a:off x="365760" y="1600200"/>
            <a:ext cx="2560320" cy="438912"/>
          </a:xfrm>
          <a:prstGeom prst="rect">
            <a:avLst/>
          </a:prstGeom>
          <a:solidFill>
            <a:srgbClr val="F7F9FB"/>
          </a:solidFill>
          <a:ln w="6350">
            <a:solidFill>
              <a:srgbClr val="D6E8F5"/>
            </a:solidFill>
            <a:prstDash val="solid"/>
          </a:ln>
        </p:spPr>
        <p:txBody>
          <a:bodyPr/>
          <a:lstStyle/>
          <a:p>
            <a:endParaRPr lang="en-US"/>
          </a:p>
        </p:txBody>
      </p:sp>
      <p:sp>
        <p:nvSpPr>
          <p:cNvPr id="14" name="Text 12"/>
          <p:cNvSpPr/>
          <p:nvPr/>
        </p:nvSpPr>
        <p:spPr>
          <a:xfrm>
            <a:off x="457200" y="1600200"/>
            <a:ext cx="2377440" cy="438912"/>
          </a:xfrm>
          <a:prstGeom prst="rect">
            <a:avLst/>
          </a:prstGeom>
          <a:noFill/>
          <a:ln/>
        </p:spPr>
        <p:txBody>
          <a:bodyPr wrap="square" rtlCol="0" anchor="ctr"/>
          <a:lstStyle/>
          <a:p>
            <a:pPr marL="0" indent="0" algn="l">
              <a:buNone/>
            </a:pPr>
            <a:r>
              <a:rPr lang="en-US" sz="1100" b="1" dirty="0">
                <a:solidFill>
                  <a:srgbClr val="0D1B2A"/>
                </a:solidFill>
                <a:latin typeface="Calibri" pitchFamily="34" charset="0"/>
                <a:ea typeface="Calibri" pitchFamily="34" charset="-122"/>
                <a:cs typeface="Calibri" pitchFamily="34" charset="-120"/>
              </a:rPr>
              <a:t>Total Records</a:t>
            </a:r>
            <a:endParaRPr lang="en-US" sz="1100" dirty="0"/>
          </a:p>
        </p:txBody>
      </p:sp>
      <p:sp>
        <p:nvSpPr>
          <p:cNvPr id="15" name="Shape 13"/>
          <p:cNvSpPr/>
          <p:nvPr/>
        </p:nvSpPr>
        <p:spPr>
          <a:xfrm>
            <a:off x="2926080" y="1600200"/>
            <a:ext cx="2560320" cy="438912"/>
          </a:xfrm>
          <a:prstGeom prst="rect">
            <a:avLst/>
          </a:prstGeom>
          <a:solidFill>
            <a:srgbClr val="F7F9FB"/>
          </a:solidFill>
          <a:ln w="6350">
            <a:solidFill>
              <a:srgbClr val="D6E8F5"/>
            </a:solidFill>
            <a:prstDash val="solid"/>
          </a:ln>
        </p:spPr>
        <p:txBody>
          <a:bodyPr/>
          <a:lstStyle/>
          <a:p>
            <a:endParaRPr lang="en-US"/>
          </a:p>
        </p:txBody>
      </p:sp>
      <p:sp>
        <p:nvSpPr>
          <p:cNvPr id="16" name="Text 14"/>
          <p:cNvSpPr/>
          <p:nvPr/>
        </p:nvSpPr>
        <p:spPr>
          <a:xfrm>
            <a:off x="3017520" y="1600200"/>
            <a:ext cx="2377440" cy="438912"/>
          </a:xfrm>
          <a:prstGeom prst="rect">
            <a:avLst/>
          </a:prstGeom>
          <a:noFill/>
          <a:ln/>
        </p:spPr>
        <p:txBody>
          <a:bodyPr wrap="square" rtlCol="0" anchor="ctr"/>
          <a:lstStyle/>
          <a:p>
            <a:pPr marL="0" indent="0" algn="ctr">
              <a:buNone/>
            </a:pPr>
            <a:r>
              <a:rPr lang="en-US" sz="1100" dirty="0">
                <a:solidFill>
                  <a:srgbClr val="1A2E3B"/>
                </a:solidFill>
                <a:latin typeface="Calibri" pitchFamily="34" charset="0"/>
                <a:ea typeface="Calibri" pitchFamily="34" charset="-122"/>
                <a:cs typeface="Calibri" pitchFamily="34" charset="-120"/>
              </a:rPr>
              <a:t>105,317</a:t>
            </a:r>
            <a:endParaRPr lang="en-US" sz="1100" dirty="0"/>
          </a:p>
        </p:txBody>
      </p:sp>
      <p:sp>
        <p:nvSpPr>
          <p:cNvPr id="17" name="Shape 15"/>
          <p:cNvSpPr/>
          <p:nvPr/>
        </p:nvSpPr>
        <p:spPr>
          <a:xfrm>
            <a:off x="5486400" y="1600200"/>
            <a:ext cx="2560320" cy="438912"/>
          </a:xfrm>
          <a:prstGeom prst="rect">
            <a:avLst/>
          </a:prstGeom>
          <a:solidFill>
            <a:srgbClr val="F7F9FB"/>
          </a:solidFill>
          <a:ln w="6350">
            <a:solidFill>
              <a:srgbClr val="D6E8F5"/>
            </a:solidFill>
            <a:prstDash val="solid"/>
          </a:ln>
        </p:spPr>
        <p:txBody>
          <a:bodyPr/>
          <a:lstStyle/>
          <a:p>
            <a:endParaRPr lang="en-US"/>
          </a:p>
        </p:txBody>
      </p:sp>
      <p:sp>
        <p:nvSpPr>
          <p:cNvPr id="18" name="Text 16"/>
          <p:cNvSpPr/>
          <p:nvPr/>
        </p:nvSpPr>
        <p:spPr>
          <a:xfrm>
            <a:off x="5577840" y="1600200"/>
            <a:ext cx="2377440" cy="438912"/>
          </a:xfrm>
          <a:prstGeom prst="rect">
            <a:avLst/>
          </a:prstGeom>
          <a:noFill/>
          <a:ln/>
        </p:spPr>
        <p:txBody>
          <a:bodyPr wrap="square" rtlCol="0" anchor="ctr"/>
          <a:lstStyle/>
          <a:p>
            <a:pPr marL="0" indent="0" algn="ctr">
              <a:buNone/>
            </a:pPr>
            <a:r>
              <a:rPr lang="en-US" sz="1100" dirty="0">
                <a:solidFill>
                  <a:srgbClr val="1A2E3B"/>
                </a:solidFill>
                <a:latin typeface="Calibri" pitchFamily="34" charset="0"/>
                <a:ea typeface="Calibri" pitchFamily="34" charset="-122"/>
                <a:cs typeface="Calibri" pitchFamily="34" charset="-120"/>
              </a:rPr>
              <a:t>105,317</a:t>
            </a:r>
            <a:endParaRPr lang="en-US" sz="1100" dirty="0"/>
          </a:p>
        </p:txBody>
      </p:sp>
      <p:sp>
        <p:nvSpPr>
          <p:cNvPr id="19" name="Shape 17"/>
          <p:cNvSpPr/>
          <p:nvPr/>
        </p:nvSpPr>
        <p:spPr>
          <a:xfrm>
            <a:off x="8046720" y="1600200"/>
            <a:ext cx="2560320" cy="438912"/>
          </a:xfrm>
          <a:prstGeom prst="rect">
            <a:avLst/>
          </a:prstGeom>
          <a:solidFill>
            <a:srgbClr val="F7F9FB"/>
          </a:solidFill>
          <a:ln w="6350">
            <a:solidFill>
              <a:srgbClr val="D6E8F5"/>
            </a:solidFill>
            <a:prstDash val="solid"/>
          </a:ln>
        </p:spPr>
        <p:txBody>
          <a:bodyPr/>
          <a:lstStyle/>
          <a:p>
            <a:endParaRPr lang="en-US"/>
          </a:p>
        </p:txBody>
      </p:sp>
      <p:sp>
        <p:nvSpPr>
          <p:cNvPr id="20" name="Text 18"/>
          <p:cNvSpPr/>
          <p:nvPr/>
        </p:nvSpPr>
        <p:spPr>
          <a:xfrm>
            <a:off x="8138160" y="1600200"/>
            <a:ext cx="2377440" cy="438912"/>
          </a:xfrm>
          <a:prstGeom prst="rect">
            <a:avLst/>
          </a:prstGeom>
          <a:noFill/>
          <a:ln/>
        </p:spPr>
        <p:txBody>
          <a:bodyPr wrap="square" rtlCol="0" anchor="ctr"/>
          <a:lstStyle/>
          <a:p>
            <a:pPr marL="0" indent="0" algn="ctr">
              <a:buNone/>
            </a:pPr>
            <a:r>
              <a:rPr lang="en-US" sz="1100" dirty="0">
                <a:solidFill>
                  <a:srgbClr val="1A2E3B"/>
                </a:solidFill>
                <a:latin typeface="Calibri" pitchFamily="34" charset="0"/>
                <a:ea typeface="Calibri" pitchFamily="34" charset="-122"/>
                <a:cs typeface="Calibri" pitchFamily="34" charset="-120"/>
              </a:rPr>
              <a:t>105,317</a:t>
            </a:r>
            <a:endParaRPr lang="en-US" sz="1100" dirty="0"/>
          </a:p>
        </p:txBody>
      </p:sp>
      <p:sp>
        <p:nvSpPr>
          <p:cNvPr id="21" name="Shape 19"/>
          <p:cNvSpPr/>
          <p:nvPr/>
        </p:nvSpPr>
        <p:spPr>
          <a:xfrm>
            <a:off x="365760" y="2039112"/>
            <a:ext cx="2560320" cy="438912"/>
          </a:xfrm>
          <a:prstGeom prst="rect">
            <a:avLst/>
          </a:prstGeom>
          <a:solidFill>
            <a:srgbClr val="FFFFFF"/>
          </a:solidFill>
          <a:ln w="6350">
            <a:solidFill>
              <a:srgbClr val="D6E8F5"/>
            </a:solidFill>
            <a:prstDash val="solid"/>
          </a:ln>
        </p:spPr>
        <p:txBody>
          <a:bodyPr/>
          <a:lstStyle/>
          <a:p>
            <a:endParaRPr lang="en-US"/>
          </a:p>
        </p:txBody>
      </p:sp>
      <p:sp>
        <p:nvSpPr>
          <p:cNvPr id="22" name="Text 20"/>
          <p:cNvSpPr/>
          <p:nvPr/>
        </p:nvSpPr>
        <p:spPr>
          <a:xfrm>
            <a:off x="457200" y="2039112"/>
            <a:ext cx="2377440" cy="438912"/>
          </a:xfrm>
          <a:prstGeom prst="rect">
            <a:avLst/>
          </a:prstGeom>
          <a:noFill/>
          <a:ln/>
        </p:spPr>
        <p:txBody>
          <a:bodyPr wrap="square" rtlCol="0" anchor="ctr"/>
          <a:lstStyle/>
          <a:p>
            <a:pPr marL="0" indent="0" algn="l">
              <a:buNone/>
            </a:pPr>
            <a:r>
              <a:rPr lang="en-US" sz="1100" b="1" dirty="0">
                <a:solidFill>
                  <a:srgbClr val="0D1B2A"/>
                </a:solidFill>
                <a:latin typeface="Calibri" pitchFamily="34" charset="0"/>
                <a:ea typeface="Calibri" pitchFamily="34" charset="-122"/>
                <a:cs typeface="Calibri" pitchFamily="34" charset="-120"/>
              </a:rPr>
              <a:t>Total Yes (Occurred)</a:t>
            </a:r>
            <a:endParaRPr lang="en-US" sz="1100" dirty="0"/>
          </a:p>
        </p:txBody>
      </p:sp>
      <p:sp>
        <p:nvSpPr>
          <p:cNvPr id="23" name="Shape 21"/>
          <p:cNvSpPr/>
          <p:nvPr/>
        </p:nvSpPr>
        <p:spPr>
          <a:xfrm>
            <a:off x="2926080" y="2039112"/>
            <a:ext cx="2560320" cy="438912"/>
          </a:xfrm>
          <a:prstGeom prst="rect">
            <a:avLst/>
          </a:prstGeom>
          <a:solidFill>
            <a:srgbClr val="FFFFFF"/>
          </a:solidFill>
          <a:ln w="6350">
            <a:solidFill>
              <a:srgbClr val="D6E8F5"/>
            </a:solidFill>
            <a:prstDash val="solid"/>
          </a:ln>
        </p:spPr>
        <p:txBody>
          <a:bodyPr/>
          <a:lstStyle/>
          <a:p>
            <a:endParaRPr lang="en-US"/>
          </a:p>
        </p:txBody>
      </p:sp>
      <p:sp>
        <p:nvSpPr>
          <p:cNvPr id="24" name="Text 22"/>
          <p:cNvSpPr/>
          <p:nvPr/>
        </p:nvSpPr>
        <p:spPr>
          <a:xfrm>
            <a:off x="3017520" y="2039112"/>
            <a:ext cx="2377440" cy="438912"/>
          </a:xfrm>
          <a:prstGeom prst="rect">
            <a:avLst/>
          </a:prstGeom>
          <a:noFill/>
          <a:ln/>
        </p:spPr>
        <p:txBody>
          <a:bodyPr wrap="square" rtlCol="0" anchor="ctr"/>
          <a:lstStyle/>
          <a:p>
            <a:pPr marL="0" indent="0" algn="ctr">
              <a:buNone/>
            </a:pPr>
            <a:r>
              <a:rPr lang="en-US" sz="1100" dirty="0">
                <a:solidFill>
                  <a:srgbClr val="1A2E3B"/>
                </a:solidFill>
                <a:latin typeface="Calibri" pitchFamily="34" charset="0"/>
                <a:ea typeface="Calibri" pitchFamily="34" charset="-122"/>
                <a:cs typeface="Calibri" pitchFamily="34" charset="-120"/>
              </a:rPr>
              <a:t>85,971</a:t>
            </a:r>
            <a:endParaRPr lang="en-US" sz="1100" dirty="0"/>
          </a:p>
        </p:txBody>
      </p:sp>
      <p:sp>
        <p:nvSpPr>
          <p:cNvPr id="25" name="Shape 23"/>
          <p:cNvSpPr/>
          <p:nvPr/>
        </p:nvSpPr>
        <p:spPr>
          <a:xfrm>
            <a:off x="5486400" y="2039112"/>
            <a:ext cx="2560320" cy="438912"/>
          </a:xfrm>
          <a:prstGeom prst="rect">
            <a:avLst/>
          </a:prstGeom>
          <a:solidFill>
            <a:srgbClr val="FFFFFF"/>
          </a:solidFill>
          <a:ln w="6350">
            <a:solidFill>
              <a:srgbClr val="D6E8F5"/>
            </a:solidFill>
            <a:prstDash val="solid"/>
          </a:ln>
        </p:spPr>
        <p:txBody>
          <a:bodyPr/>
          <a:lstStyle/>
          <a:p>
            <a:endParaRPr lang="en-US"/>
          </a:p>
        </p:txBody>
      </p:sp>
      <p:sp>
        <p:nvSpPr>
          <p:cNvPr id="26" name="Text 24"/>
          <p:cNvSpPr/>
          <p:nvPr/>
        </p:nvSpPr>
        <p:spPr>
          <a:xfrm>
            <a:off x="5577840" y="2039112"/>
            <a:ext cx="2377440" cy="438912"/>
          </a:xfrm>
          <a:prstGeom prst="rect">
            <a:avLst/>
          </a:prstGeom>
          <a:noFill/>
          <a:ln/>
        </p:spPr>
        <p:txBody>
          <a:bodyPr wrap="square" rtlCol="0" anchor="ctr"/>
          <a:lstStyle/>
          <a:p>
            <a:pPr marL="0" indent="0" algn="ctr">
              <a:buNone/>
            </a:pPr>
            <a:r>
              <a:rPr lang="en-US" sz="1100" dirty="0">
                <a:solidFill>
                  <a:srgbClr val="1A2E3B"/>
                </a:solidFill>
                <a:latin typeface="Calibri" pitchFamily="34" charset="0"/>
                <a:ea typeface="Calibri" pitchFamily="34" charset="-122"/>
                <a:cs typeface="Calibri" pitchFamily="34" charset="-120"/>
              </a:rPr>
              <a:t>27,788</a:t>
            </a:r>
            <a:endParaRPr lang="en-US" sz="1100" dirty="0"/>
          </a:p>
        </p:txBody>
      </p:sp>
      <p:sp>
        <p:nvSpPr>
          <p:cNvPr id="27" name="Shape 25"/>
          <p:cNvSpPr/>
          <p:nvPr/>
        </p:nvSpPr>
        <p:spPr>
          <a:xfrm>
            <a:off x="8046720" y="2039112"/>
            <a:ext cx="2560320" cy="438912"/>
          </a:xfrm>
          <a:prstGeom prst="rect">
            <a:avLst/>
          </a:prstGeom>
          <a:solidFill>
            <a:srgbClr val="FFFFFF"/>
          </a:solidFill>
          <a:ln w="6350">
            <a:solidFill>
              <a:srgbClr val="D6E8F5"/>
            </a:solidFill>
            <a:prstDash val="solid"/>
          </a:ln>
        </p:spPr>
        <p:txBody>
          <a:bodyPr/>
          <a:lstStyle/>
          <a:p>
            <a:endParaRPr lang="en-US"/>
          </a:p>
        </p:txBody>
      </p:sp>
      <p:sp>
        <p:nvSpPr>
          <p:cNvPr id="28" name="Text 26"/>
          <p:cNvSpPr/>
          <p:nvPr/>
        </p:nvSpPr>
        <p:spPr>
          <a:xfrm>
            <a:off x="8138160" y="2039112"/>
            <a:ext cx="2377440" cy="438912"/>
          </a:xfrm>
          <a:prstGeom prst="rect">
            <a:avLst/>
          </a:prstGeom>
          <a:noFill/>
          <a:ln/>
        </p:spPr>
        <p:txBody>
          <a:bodyPr wrap="square" rtlCol="0" anchor="ctr"/>
          <a:lstStyle/>
          <a:p>
            <a:pPr marL="0" indent="0" algn="ctr">
              <a:buNone/>
            </a:pPr>
            <a:r>
              <a:rPr lang="en-US" sz="1100" dirty="0">
                <a:solidFill>
                  <a:srgbClr val="1A2E3B"/>
                </a:solidFill>
                <a:latin typeface="Calibri" pitchFamily="34" charset="0"/>
                <a:ea typeface="Calibri" pitchFamily="34" charset="-122"/>
                <a:cs typeface="Calibri" pitchFamily="34" charset="-120"/>
              </a:rPr>
              <a:t>35</a:t>
            </a:r>
            <a:endParaRPr lang="en-US" sz="1100" dirty="0"/>
          </a:p>
        </p:txBody>
      </p:sp>
      <p:sp>
        <p:nvSpPr>
          <p:cNvPr id="29" name="Shape 27"/>
          <p:cNvSpPr/>
          <p:nvPr/>
        </p:nvSpPr>
        <p:spPr>
          <a:xfrm>
            <a:off x="365760" y="2478024"/>
            <a:ext cx="2560320" cy="438912"/>
          </a:xfrm>
          <a:prstGeom prst="rect">
            <a:avLst/>
          </a:prstGeom>
          <a:solidFill>
            <a:srgbClr val="F7F9FB"/>
          </a:solidFill>
          <a:ln w="6350">
            <a:solidFill>
              <a:srgbClr val="D6E8F5"/>
            </a:solidFill>
            <a:prstDash val="solid"/>
          </a:ln>
        </p:spPr>
        <p:txBody>
          <a:bodyPr/>
          <a:lstStyle/>
          <a:p>
            <a:endParaRPr lang="en-US"/>
          </a:p>
        </p:txBody>
      </p:sp>
      <p:sp>
        <p:nvSpPr>
          <p:cNvPr id="30" name="Text 28"/>
          <p:cNvSpPr/>
          <p:nvPr/>
        </p:nvSpPr>
        <p:spPr>
          <a:xfrm>
            <a:off x="457200" y="2478024"/>
            <a:ext cx="2377440" cy="438912"/>
          </a:xfrm>
          <a:prstGeom prst="rect">
            <a:avLst/>
          </a:prstGeom>
          <a:noFill/>
          <a:ln/>
        </p:spPr>
        <p:txBody>
          <a:bodyPr wrap="square" rtlCol="0" anchor="ctr"/>
          <a:lstStyle/>
          <a:p>
            <a:pPr marL="0" indent="0" algn="l">
              <a:buNone/>
            </a:pPr>
            <a:r>
              <a:rPr lang="en-US" sz="1100" b="1" dirty="0">
                <a:solidFill>
                  <a:srgbClr val="0D1B2A"/>
                </a:solidFill>
                <a:latin typeface="Calibri" pitchFamily="34" charset="0"/>
                <a:ea typeface="Calibri" pitchFamily="34" charset="-122"/>
                <a:cs typeface="Calibri" pitchFamily="34" charset="-120"/>
              </a:rPr>
              <a:t>Total No (Did Not Occur)</a:t>
            </a:r>
            <a:endParaRPr lang="en-US" sz="1100" dirty="0"/>
          </a:p>
        </p:txBody>
      </p:sp>
      <p:sp>
        <p:nvSpPr>
          <p:cNvPr id="31" name="Shape 29"/>
          <p:cNvSpPr/>
          <p:nvPr/>
        </p:nvSpPr>
        <p:spPr>
          <a:xfrm>
            <a:off x="2926080" y="2478024"/>
            <a:ext cx="2560320" cy="438912"/>
          </a:xfrm>
          <a:prstGeom prst="rect">
            <a:avLst/>
          </a:prstGeom>
          <a:solidFill>
            <a:srgbClr val="F7F9FB"/>
          </a:solidFill>
          <a:ln w="6350">
            <a:solidFill>
              <a:srgbClr val="D6E8F5"/>
            </a:solidFill>
            <a:prstDash val="solid"/>
          </a:ln>
        </p:spPr>
        <p:txBody>
          <a:bodyPr/>
          <a:lstStyle/>
          <a:p>
            <a:endParaRPr lang="en-US"/>
          </a:p>
        </p:txBody>
      </p:sp>
      <p:sp>
        <p:nvSpPr>
          <p:cNvPr id="32" name="Text 30"/>
          <p:cNvSpPr/>
          <p:nvPr/>
        </p:nvSpPr>
        <p:spPr>
          <a:xfrm>
            <a:off x="3017520" y="2478024"/>
            <a:ext cx="2377440" cy="438912"/>
          </a:xfrm>
          <a:prstGeom prst="rect">
            <a:avLst/>
          </a:prstGeom>
          <a:noFill/>
          <a:ln/>
        </p:spPr>
        <p:txBody>
          <a:bodyPr wrap="square" rtlCol="0" anchor="ctr"/>
          <a:lstStyle/>
          <a:p>
            <a:pPr marL="0" indent="0" algn="ctr">
              <a:buNone/>
            </a:pPr>
            <a:r>
              <a:rPr lang="en-US" sz="1100" dirty="0">
                <a:solidFill>
                  <a:srgbClr val="1A2E3B"/>
                </a:solidFill>
                <a:latin typeface="Calibri" pitchFamily="34" charset="0"/>
                <a:ea typeface="Calibri" pitchFamily="34" charset="-122"/>
                <a:cs typeface="Calibri" pitchFamily="34" charset="-120"/>
              </a:rPr>
              <a:t>19,346</a:t>
            </a:r>
            <a:endParaRPr lang="en-US" sz="1100" dirty="0"/>
          </a:p>
        </p:txBody>
      </p:sp>
      <p:sp>
        <p:nvSpPr>
          <p:cNvPr id="33" name="Shape 31"/>
          <p:cNvSpPr/>
          <p:nvPr/>
        </p:nvSpPr>
        <p:spPr>
          <a:xfrm>
            <a:off x="5486400" y="2478024"/>
            <a:ext cx="2560320" cy="438912"/>
          </a:xfrm>
          <a:prstGeom prst="rect">
            <a:avLst/>
          </a:prstGeom>
          <a:solidFill>
            <a:srgbClr val="F7F9FB"/>
          </a:solidFill>
          <a:ln w="6350">
            <a:solidFill>
              <a:srgbClr val="D6E8F5"/>
            </a:solidFill>
            <a:prstDash val="solid"/>
          </a:ln>
        </p:spPr>
        <p:txBody>
          <a:bodyPr/>
          <a:lstStyle/>
          <a:p>
            <a:endParaRPr lang="en-US"/>
          </a:p>
        </p:txBody>
      </p:sp>
      <p:sp>
        <p:nvSpPr>
          <p:cNvPr id="34" name="Text 32"/>
          <p:cNvSpPr/>
          <p:nvPr/>
        </p:nvSpPr>
        <p:spPr>
          <a:xfrm>
            <a:off x="5577840" y="2478024"/>
            <a:ext cx="2377440" cy="438912"/>
          </a:xfrm>
          <a:prstGeom prst="rect">
            <a:avLst/>
          </a:prstGeom>
          <a:noFill/>
          <a:ln/>
        </p:spPr>
        <p:txBody>
          <a:bodyPr wrap="square" rtlCol="0" anchor="ctr"/>
          <a:lstStyle/>
          <a:p>
            <a:pPr marL="0" indent="0" algn="ctr">
              <a:buNone/>
            </a:pPr>
            <a:r>
              <a:rPr lang="en-US" sz="1100" dirty="0">
                <a:solidFill>
                  <a:srgbClr val="1A2E3B"/>
                </a:solidFill>
                <a:latin typeface="Calibri" pitchFamily="34" charset="0"/>
                <a:ea typeface="Calibri" pitchFamily="34" charset="-122"/>
                <a:cs typeface="Calibri" pitchFamily="34" charset="-120"/>
              </a:rPr>
              <a:t>77,529</a:t>
            </a:r>
            <a:endParaRPr lang="en-US" sz="1100" dirty="0"/>
          </a:p>
        </p:txBody>
      </p:sp>
      <p:sp>
        <p:nvSpPr>
          <p:cNvPr id="35" name="Shape 33"/>
          <p:cNvSpPr/>
          <p:nvPr/>
        </p:nvSpPr>
        <p:spPr>
          <a:xfrm>
            <a:off x="8046720" y="2478024"/>
            <a:ext cx="2560320" cy="438912"/>
          </a:xfrm>
          <a:prstGeom prst="rect">
            <a:avLst/>
          </a:prstGeom>
          <a:solidFill>
            <a:srgbClr val="F7F9FB"/>
          </a:solidFill>
          <a:ln w="6350">
            <a:solidFill>
              <a:srgbClr val="D6E8F5"/>
            </a:solidFill>
            <a:prstDash val="solid"/>
          </a:ln>
        </p:spPr>
        <p:txBody>
          <a:bodyPr/>
          <a:lstStyle/>
          <a:p>
            <a:endParaRPr lang="en-US"/>
          </a:p>
        </p:txBody>
      </p:sp>
      <p:sp>
        <p:nvSpPr>
          <p:cNvPr id="36" name="Text 34"/>
          <p:cNvSpPr/>
          <p:nvPr/>
        </p:nvSpPr>
        <p:spPr>
          <a:xfrm>
            <a:off x="8138160" y="2478024"/>
            <a:ext cx="2377440" cy="438912"/>
          </a:xfrm>
          <a:prstGeom prst="rect">
            <a:avLst/>
          </a:prstGeom>
          <a:noFill/>
          <a:ln/>
        </p:spPr>
        <p:txBody>
          <a:bodyPr wrap="square" rtlCol="0" anchor="ctr"/>
          <a:lstStyle/>
          <a:p>
            <a:pPr marL="0" indent="0" algn="ctr">
              <a:buNone/>
            </a:pPr>
            <a:r>
              <a:rPr lang="en-US" sz="1100" dirty="0">
                <a:solidFill>
                  <a:srgbClr val="1A2E3B"/>
                </a:solidFill>
                <a:latin typeface="Calibri" pitchFamily="34" charset="0"/>
                <a:ea typeface="Calibri" pitchFamily="34" charset="-122"/>
                <a:cs typeface="Calibri" pitchFamily="34" charset="-120"/>
              </a:rPr>
              <a:t>105,282</a:t>
            </a:r>
            <a:endParaRPr lang="en-US" sz="1100" dirty="0"/>
          </a:p>
        </p:txBody>
      </p:sp>
      <p:sp>
        <p:nvSpPr>
          <p:cNvPr id="37" name="Shape 35"/>
          <p:cNvSpPr/>
          <p:nvPr/>
        </p:nvSpPr>
        <p:spPr>
          <a:xfrm>
            <a:off x="365760" y="2916936"/>
            <a:ext cx="2560320" cy="438912"/>
          </a:xfrm>
          <a:prstGeom prst="rect">
            <a:avLst/>
          </a:prstGeom>
          <a:solidFill>
            <a:srgbClr val="FFFFFF"/>
          </a:solidFill>
          <a:ln w="6350">
            <a:solidFill>
              <a:srgbClr val="D6E8F5"/>
            </a:solidFill>
            <a:prstDash val="solid"/>
          </a:ln>
        </p:spPr>
        <p:txBody>
          <a:bodyPr/>
          <a:lstStyle/>
          <a:p>
            <a:endParaRPr lang="en-US"/>
          </a:p>
        </p:txBody>
      </p:sp>
      <p:sp>
        <p:nvSpPr>
          <p:cNvPr id="38" name="Text 36"/>
          <p:cNvSpPr/>
          <p:nvPr/>
        </p:nvSpPr>
        <p:spPr>
          <a:xfrm>
            <a:off x="457200" y="2916936"/>
            <a:ext cx="2377440" cy="438912"/>
          </a:xfrm>
          <a:prstGeom prst="rect">
            <a:avLst/>
          </a:prstGeom>
          <a:noFill/>
          <a:ln/>
        </p:spPr>
        <p:txBody>
          <a:bodyPr wrap="square" rtlCol="0" anchor="ctr"/>
          <a:lstStyle/>
          <a:p>
            <a:pPr marL="0" indent="0" algn="l">
              <a:buNone/>
            </a:pPr>
            <a:r>
              <a:rPr lang="en-US" sz="1100" b="1" dirty="0">
                <a:solidFill>
                  <a:srgbClr val="0D1B2A"/>
                </a:solidFill>
                <a:latin typeface="Calibri" pitchFamily="34" charset="0"/>
                <a:ea typeface="Calibri" pitchFamily="34" charset="-122"/>
                <a:cs typeface="Calibri" pitchFamily="34" charset="-120"/>
              </a:rPr>
              <a:t>% Yes</a:t>
            </a:r>
            <a:endParaRPr lang="en-US" sz="1100" dirty="0"/>
          </a:p>
        </p:txBody>
      </p:sp>
      <p:sp>
        <p:nvSpPr>
          <p:cNvPr id="39" name="Shape 37"/>
          <p:cNvSpPr/>
          <p:nvPr/>
        </p:nvSpPr>
        <p:spPr>
          <a:xfrm>
            <a:off x="2926080" y="2916936"/>
            <a:ext cx="2560320" cy="438912"/>
          </a:xfrm>
          <a:prstGeom prst="rect">
            <a:avLst/>
          </a:prstGeom>
          <a:solidFill>
            <a:srgbClr val="FFFFFF"/>
          </a:solidFill>
          <a:ln w="6350">
            <a:solidFill>
              <a:srgbClr val="D6E8F5"/>
            </a:solidFill>
            <a:prstDash val="solid"/>
          </a:ln>
        </p:spPr>
        <p:txBody>
          <a:bodyPr/>
          <a:lstStyle/>
          <a:p>
            <a:endParaRPr lang="en-US"/>
          </a:p>
        </p:txBody>
      </p:sp>
      <p:sp>
        <p:nvSpPr>
          <p:cNvPr id="40" name="Text 38"/>
          <p:cNvSpPr/>
          <p:nvPr/>
        </p:nvSpPr>
        <p:spPr>
          <a:xfrm>
            <a:off x="3017520" y="2916936"/>
            <a:ext cx="2377440" cy="438912"/>
          </a:xfrm>
          <a:prstGeom prst="rect">
            <a:avLst/>
          </a:prstGeom>
          <a:noFill/>
          <a:ln/>
        </p:spPr>
        <p:txBody>
          <a:bodyPr wrap="square" rtlCol="0" anchor="ctr"/>
          <a:lstStyle/>
          <a:p>
            <a:pPr marL="0" indent="0" algn="ctr">
              <a:buNone/>
            </a:pPr>
            <a:r>
              <a:rPr lang="en-US" sz="1100" dirty="0">
                <a:solidFill>
                  <a:srgbClr val="1A2E3B"/>
                </a:solidFill>
                <a:latin typeface="Calibri" pitchFamily="34" charset="0"/>
                <a:ea typeface="Calibri" pitchFamily="34" charset="-122"/>
                <a:cs typeface="Calibri" pitchFamily="34" charset="-120"/>
              </a:rPr>
              <a:t>81.63%</a:t>
            </a:r>
            <a:endParaRPr lang="en-US" sz="1100" dirty="0"/>
          </a:p>
        </p:txBody>
      </p:sp>
      <p:sp>
        <p:nvSpPr>
          <p:cNvPr id="41" name="Shape 39"/>
          <p:cNvSpPr/>
          <p:nvPr/>
        </p:nvSpPr>
        <p:spPr>
          <a:xfrm>
            <a:off x="5486400" y="2916936"/>
            <a:ext cx="2560320" cy="438912"/>
          </a:xfrm>
          <a:prstGeom prst="rect">
            <a:avLst/>
          </a:prstGeom>
          <a:solidFill>
            <a:srgbClr val="FFFFFF"/>
          </a:solidFill>
          <a:ln w="6350">
            <a:solidFill>
              <a:srgbClr val="D6E8F5"/>
            </a:solidFill>
            <a:prstDash val="solid"/>
          </a:ln>
        </p:spPr>
        <p:txBody>
          <a:bodyPr/>
          <a:lstStyle/>
          <a:p>
            <a:endParaRPr lang="en-US"/>
          </a:p>
        </p:txBody>
      </p:sp>
      <p:sp>
        <p:nvSpPr>
          <p:cNvPr id="42" name="Text 40"/>
          <p:cNvSpPr/>
          <p:nvPr/>
        </p:nvSpPr>
        <p:spPr>
          <a:xfrm>
            <a:off x="5577840" y="2916936"/>
            <a:ext cx="2377440" cy="438912"/>
          </a:xfrm>
          <a:prstGeom prst="rect">
            <a:avLst/>
          </a:prstGeom>
          <a:noFill/>
          <a:ln/>
        </p:spPr>
        <p:txBody>
          <a:bodyPr wrap="square" rtlCol="0" anchor="ctr"/>
          <a:lstStyle/>
          <a:p>
            <a:pPr marL="0" indent="0" algn="ctr">
              <a:buNone/>
            </a:pPr>
            <a:r>
              <a:rPr lang="en-US" sz="1100" dirty="0">
                <a:solidFill>
                  <a:srgbClr val="1A2E3B"/>
                </a:solidFill>
                <a:latin typeface="Calibri" pitchFamily="34" charset="0"/>
                <a:ea typeface="Calibri" pitchFamily="34" charset="-122"/>
                <a:cs typeface="Calibri" pitchFamily="34" charset="-120"/>
              </a:rPr>
              <a:t>26.39%</a:t>
            </a:r>
            <a:endParaRPr lang="en-US" sz="1100" dirty="0"/>
          </a:p>
        </p:txBody>
      </p:sp>
      <p:sp>
        <p:nvSpPr>
          <p:cNvPr id="43" name="Shape 41"/>
          <p:cNvSpPr/>
          <p:nvPr/>
        </p:nvSpPr>
        <p:spPr>
          <a:xfrm>
            <a:off x="8046720" y="2916936"/>
            <a:ext cx="2560320" cy="438912"/>
          </a:xfrm>
          <a:prstGeom prst="rect">
            <a:avLst/>
          </a:prstGeom>
          <a:solidFill>
            <a:srgbClr val="FFFFFF"/>
          </a:solidFill>
          <a:ln w="6350">
            <a:solidFill>
              <a:srgbClr val="D6E8F5"/>
            </a:solidFill>
            <a:prstDash val="solid"/>
          </a:ln>
        </p:spPr>
        <p:txBody>
          <a:bodyPr/>
          <a:lstStyle/>
          <a:p>
            <a:endParaRPr lang="en-US"/>
          </a:p>
        </p:txBody>
      </p:sp>
      <p:sp>
        <p:nvSpPr>
          <p:cNvPr id="44" name="Text 42"/>
          <p:cNvSpPr/>
          <p:nvPr/>
        </p:nvSpPr>
        <p:spPr>
          <a:xfrm>
            <a:off x="8138160" y="2916936"/>
            <a:ext cx="2377440" cy="438912"/>
          </a:xfrm>
          <a:prstGeom prst="rect">
            <a:avLst/>
          </a:prstGeom>
          <a:noFill/>
          <a:ln/>
        </p:spPr>
        <p:txBody>
          <a:bodyPr wrap="square" rtlCol="0" anchor="ctr"/>
          <a:lstStyle/>
          <a:p>
            <a:pPr marL="0" indent="0" algn="ctr">
              <a:buNone/>
            </a:pPr>
            <a:r>
              <a:rPr lang="en-US" sz="1100" dirty="0">
                <a:solidFill>
                  <a:srgbClr val="1A2E3B"/>
                </a:solidFill>
                <a:latin typeface="Calibri" pitchFamily="34" charset="0"/>
                <a:ea typeface="Calibri" pitchFamily="34" charset="-122"/>
                <a:cs typeface="Calibri" pitchFamily="34" charset="-120"/>
              </a:rPr>
              <a:t>0.03%</a:t>
            </a:r>
            <a:endParaRPr lang="en-US" sz="1100" dirty="0"/>
          </a:p>
        </p:txBody>
      </p:sp>
      <p:sp>
        <p:nvSpPr>
          <p:cNvPr id="45" name="Shape 43"/>
          <p:cNvSpPr/>
          <p:nvPr/>
        </p:nvSpPr>
        <p:spPr>
          <a:xfrm>
            <a:off x="365760" y="3355848"/>
            <a:ext cx="2560320" cy="438912"/>
          </a:xfrm>
          <a:prstGeom prst="rect">
            <a:avLst/>
          </a:prstGeom>
          <a:solidFill>
            <a:srgbClr val="F7F9FB"/>
          </a:solidFill>
          <a:ln w="6350">
            <a:solidFill>
              <a:srgbClr val="D6E8F5"/>
            </a:solidFill>
            <a:prstDash val="solid"/>
          </a:ln>
        </p:spPr>
        <p:txBody>
          <a:bodyPr/>
          <a:lstStyle/>
          <a:p>
            <a:endParaRPr lang="en-US"/>
          </a:p>
        </p:txBody>
      </p:sp>
      <p:sp>
        <p:nvSpPr>
          <p:cNvPr id="46" name="Text 44"/>
          <p:cNvSpPr/>
          <p:nvPr/>
        </p:nvSpPr>
        <p:spPr>
          <a:xfrm>
            <a:off x="457200" y="3355848"/>
            <a:ext cx="2377440" cy="438912"/>
          </a:xfrm>
          <a:prstGeom prst="rect">
            <a:avLst/>
          </a:prstGeom>
          <a:noFill/>
          <a:ln/>
        </p:spPr>
        <p:txBody>
          <a:bodyPr wrap="square" rtlCol="0" anchor="ctr"/>
          <a:lstStyle/>
          <a:p>
            <a:pPr marL="0" indent="0" algn="l">
              <a:buNone/>
            </a:pPr>
            <a:r>
              <a:rPr lang="en-US" sz="1100" b="1" dirty="0">
                <a:solidFill>
                  <a:srgbClr val="0D1B2A"/>
                </a:solidFill>
                <a:latin typeface="Calibri" pitchFamily="34" charset="0"/>
                <a:ea typeface="Calibri" pitchFamily="34" charset="-122"/>
                <a:cs typeface="Calibri" pitchFamily="34" charset="-120"/>
              </a:rPr>
              <a:t>% No</a:t>
            </a:r>
            <a:endParaRPr lang="en-US" sz="1100" dirty="0"/>
          </a:p>
        </p:txBody>
      </p:sp>
      <p:sp>
        <p:nvSpPr>
          <p:cNvPr id="47" name="Shape 45"/>
          <p:cNvSpPr/>
          <p:nvPr/>
        </p:nvSpPr>
        <p:spPr>
          <a:xfrm>
            <a:off x="2926080" y="3355848"/>
            <a:ext cx="2560320" cy="438912"/>
          </a:xfrm>
          <a:prstGeom prst="rect">
            <a:avLst/>
          </a:prstGeom>
          <a:solidFill>
            <a:srgbClr val="F7F9FB"/>
          </a:solidFill>
          <a:ln w="6350">
            <a:solidFill>
              <a:srgbClr val="D6E8F5"/>
            </a:solidFill>
            <a:prstDash val="solid"/>
          </a:ln>
        </p:spPr>
        <p:txBody>
          <a:bodyPr/>
          <a:lstStyle/>
          <a:p>
            <a:endParaRPr lang="en-US"/>
          </a:p>
        </p:txBody>
      </p:sp>
      <p:sp>
        <p:nvSpPr>
          <p:cNvPr id="48" name="Text 46"/>
          <p:cNvSpPr/>
          <p:nvPr/>
        </p:nvSpPr>
        <p:spPr>
          <a:xfrm>
            <a:off x="3017520" y="3355848"/>
            <a:ext cx="2377440" cy="438912"/>
          </a:xfrm>
          <a:prstGeom prst="rect">
            <a:avLst/>
          </a:prstGeom>
          <a:noFill/>
          <a:ln/>
        </p:spPr>
        <p:txBody>
          <a:bodyPr wrap="square" rtlCol="0" anchor="ctr"/>
          <a:lstStyle/>
          <a:p>
            <a:pPr marL="0" indent="0" algn="ctr">
              <a:buNone/>
            </a:pPr>
            <a:r>
              <a:rPr lang="en-US" sz="1100" dirty="0">
                <a:solidFill>
                  <a:srgbClr val="1A2E3B"/>
                </a:solidFill>
                <a:latin typeface="Calibri" pitchFamily="34" charset="0"/>
                <a:ea typeface="Calibri" pitchFamily="34" charset="-122"/>
                <a:cs typeface="Calibri" pitchFamily="34" charset="-120"/>
              </a:rPr>
              <a:t>18.37%</a:t>
            </a:r>
            <a:endParaRPr lang="en-US" sz="1100" dirty="0"/>
          </a:p>
        </p:txBody>
      </p:sp>
      <p:sp>
        <p:nvSpPr>
          <p:cNvPr id="49" name="Shape 47"/>
          <p:cNvSpPr/>
          <p:nvPr/>
        </p:nvSpPr>
        <p:spPr>
          <a:xfrm>
            <a:off x="5486400" y="3355848"/>
            <a:ext cx="2560320" cy="438912"/>
          </a:xfrm>
          <a:prstGeom prst="rect">
            <a:avLst/>
          </a:prstGeom>
          <a:solidFill>
            <a:srgbClr val="F7F9FB"/>
          </a:solidFill>
          <a:ln w="6350">
            <a:solidFill>
              <a:srgbClr val="D6E8F5"/>
            </a:solidFill>
            <a:prstDash val="solid"/>
          </a:ln>
        </p:spPr>
        <p:txBody>
          <a:bodyPr/>
          <a:lstStyle/>
          <a:p>
            <a:endParaRPr lang="en-US"/>
          </a:p>
        </p:txBody>
      </p:sp>
      <p:sp>
        <p:nvSpPr>
          <p:cNvPr id="50" name="Text 48"/>
          <p:cNvSpPr/>
          <p:nvPr/>
        </p:nvSpPr>
        <p:spPr>
          <a:xfrm>
            <a:off x="5577840" y="3355848"/>
            <a:ext cx="2377440" cy="438912"/>
          </a:xfrm>
          <a:prstGeom prst="rect">
            <a:avLst/>
          </a:prstGeom>
          <a:noFill/>
          <a:ln/>
        </p:spPr>
        <p:txBody>
          <a:bodyPr wrap="square" rtlCol="0" anchor="ctr"/>
          <a:lstStyle/>
          <a:p>
            <a:pPr marL="0" indent="0" algn="ctr">
              <a:buNone/>
            </a:pPr>
            <a:r>
              <a:rPr lang="en-US" sz="1100" dirty="0">
                <a:solidFill>
                  <a:srgbClr val="1A2E3B"/>
                </a:solidFill>
                <a:latin typeface="Calibri" pitchFamily="34" charset="0"/>
                <a:ea typeface="Calibri" pitchFamily="34" charset="-122"/>
                <a:cs typeface="Calibri" pitchFamily="34" charset="-120"/>
              </a:rPr>
              <a:t>73.61%</a:t>
            </a:r>
            <a:endParaRPr lang="en-US" sz="1100" dirty="0"/>
          </a:p>
        </p:txBody>
      </p:sp>
      <p:sp>
        <p:nvSpPr>
          <p:cNvPr id="51" name="Shape 49"/>
          <p:cNvSpPr/>
          <p:nvPr/>
        </p:nvSpPr>
        <p:spPr>
          <a:xfrm>
            <a:off x="8046720" y="3355848"/>
            <a:ext cx="2560320" cy="438912"/>
          </a:xfrm>
          <a:prstGeom prst="rect">
            <a:avLst/>
          </a:prstGeom>
          <a:solidFill>
            <a:srgbClr val="F7F9FB"/>
          </a:solidFill>
          <a:ln w="6350">
            <a:solidFill>
              <a:srgbClr val="D6E8F5"/>
            </a:solidFill>
            <a:prstDash val="solid"/>
          </a:ln>
        </p:spPr>
        <p:txBody>
          <a:bodyPr/>
          <a:lstStyle/>
          <a:p>
            <a:endParaRPr lang="en-US"/>
          </a:p>
        </p:txBody>
      </p:sp>
      <p:sp>
        <p:nvSpPr>
          <p:cNvPr id="52" name="Text 50"/>
          <p:cNvSpPr/>
          <p:nvPr/>
        </p:nvSpPr>
        <p:spPr>
          <a:xfrm>
            <a:off x="8138160" y="3355848"/>
            <a:ext cx="2377440" cy="438912"/>
          </a:xfrm>
          <a:prstGeom prst="rect">
            <a:avLst/>
          </a:prstGeom>
          <a:noFill/>
          <a:ln/>
        </p:spPr>
        <p:txBody>
          <a:bodyPr wrap="square" rtlCol="0" anchor="ctr"/>
          <a:lstStyle/>
          <a:p>
            <a:pPr marL="0" indent="0" algn="ctr">
              <a:buNone/>
            </a:pPr>
            <a:r>
              <a:rPr lang="en-US" sz="1100" dirty="0">
                <a:solidFill>
                  <a:srgbClr val="1A2E3B"/>
                </a:solidFill>
                <a:latin typeface="Calibri" pitchFamily="34" charset="0"/>
                <a:ea typeface="Calibri" pitchFamily="34" charset="-122"/>
                <a:cs typeface="Calibri" pitchFamily="34" charset="-120"/>
              </a:rPr>
              <a:t>99.97%</a:t>
            </a:r>
            <a:endParaRPr lang="en-US" sz="1100" dirty="0"/>
          </a:p>
        </p:txBody>
      </p:sp>
      <p:sp>
        <p:nvSpPr>
          <p:cNvPr id="53" name="Shape 51"/>
          <p:cNvSpPr/>
          <p:nvPr/>
        </p:nvSpPr>
        <p:spPr>
          <a:xfrm>
            <a:off x="365760" y="3794760"/>
            <a:ext cx="2560320" cy="438912"/>
          </a:xfrm>
          <a:prstGeom prst="rect">
            <a:avLst/>
          </a:prstGeom>
          <a:solidFill>
            <a:srgbClr val="FFFFFF"/>
          </a:solidFill>
          <a:ln w="6350">
            <a:solidFill>
              <a:srgbClr val="D6E8F5"/>
            </a:solidFill>
            <a:prstDash val="solid"/>
          </a:ln>
        </p:spPr>
        <p:txBody>
          <a:bodyPr/>
          <a:lstStyle/>
          <a:p>
            <a:endParaRPr lang="en-US"/>
          </a:p>
        </p:txBody>
      </p:sp>
      <p:sp>
        <p:nvSpPr>
          <p:cNvPr id="54" name="Text 52"/>
          <p:cNvSpPr/>
          <p:nvPr/>
        </p:nvSpPr>
        <p:spPr>
          <a:xfrm>
            <a:off x="457200" y="3794760"/>
            <a:ext cx="2377440" cy="438912"/>
          </a:xfrm>
          <a:prstGeom prst="rect">
            <a:avLst/>
          </a:prstGeom>
          <a:noFill/>
          <a:ln/>
        </p:spPr>
        <p:txBody>
          <a:bodyPr wrap="square" rtlCol="0" anchor="ctr"/>
          <a:lstStyle/>
          <a:p>
            <a:pPr marL="0" indent="0" algn="l">
              <a:buNone/>
            </a:pPr>
            <a:r>
              <a:rPr lang="en-US" sz="1100" b="1" dirty="0">
                <a:solidFill>
                  <a:srgbClr val="0D1B2A"/>
                </a:solidFill>
                <a:latin typeface="Calibri" pitchFamily="34" charset="0"/>
                <a:ea typeface="Calibri" pitchFamily="34" charset="-122"/>
                <a:cs typeface="Calibri" pitchFamily="34" charset="-120"/>
              </a:rPr>
              <a:t>Skewness</a:t>
            </a:r>
            <a:endParaRPr lang="en-US" sz="1100" dirty="0"/>
          </a:p>
        </p:txBody>
      </p:sp>
      <p:sp>
        <p:nvSpPr>
          <p:cNvPr id="55" name="Shape 53"/>
          <p:cNvSpPr/>
          <p:nvPr/>
        </p:nvSpPr>
        <p:spPr>
          <a:xfrm>
            <a:off x="2926080" y="3794760"/>
            <a:ext cx="2560320" cy="438912"/>
          </a:xfrm>
          <a:prstGeom prst="rect">
            <a:avLst/>
          </a:prstGeom>
          <a:solidFill>
            <a:srgbClr val="FFFFFF"/>
          </a:solidFill>
          <a:ln w="6350">
            <a:solidFill>
              <a:srgbClr val="D6E8F5"/>
            </a:solidFill>
            <a:prstDash val="solid"/>
          </a:ln>
        </p:spPr>
        <p:txBody>
          <a:bodyPr/>
          <a:lstStyle/>
          <a:p>
            <a:endParaRPr lang="en-US"/>
          </a:p>
        </p:txBody>
      </p:sp>
      <p:sp>
        <p:nvSpPr>
          <p:cNvPr id="56" name="Text 54"/>
          <p:cNvSpPr/>
          <p:nvPr/>
        </p:nvSpPr>
        <p:spPr>
          <a:xfrm>
            <a:off x="3017520" y="3794760"/>
            <a:ext cx="2377440" cy="438912"/>
          </a:xfrm>
          <a:prstGeom prst="rect">
            <a:avLst/>
          </a:prstGeom>
          <a:noFill/>
          <a:ln/>
        </p:spPr>
        <p:txBody>
          <a:bodyPr wrap="square" rtlCol="0" anchor="ctr"/>
          <a:lstStyle/>
          <a:p>
            <a:pPr marL="0" indent="0" algn="ctr">
              <a:buNone/>
            </a:pPr>
            <a:r>
              <a:rPr lang="en-US" sz="1100" dirty="0">
                <a:solidFill>
                  <a:srgbClr val="1A2E3B"/>
                </a:solidFill>
                <a:latin typeface="Calibri" pitchFamily="34" charset="0"/>
                <a:ea typeface="Calibri" pitchFamily="34" charset="-122"/>
                <a:cs typeface="Calibri" pitchFamily="34" charset="-120"/>
              </a:rPr>
              <a:t>-1.24 (Neg.)</a:t>
            </a:r>
            <a:endParaRPr lang="en-US" sz="1100" dirty="0"/>
          </a:p>
        </p:txBody>
      </p:sp>
      <p:sp>
        <p:nvSpPr>
          <p:cNvPr id="57" name="Shape 55"/>
          <p:cNvSpPr/>
          <p:nvPr/>
        </p:nvSpPr>
        <p:spPr>
          <a:xfrm>
            <a:off x="5486400" y="3794760"/>
            <a:ext cx="2560320" cy="438912"/>
          </a:xfrm>
          <a:prstGeom prst="rect">
            <a:avLst/>
          </a:prstGeom>
          <a:solidFill>
            <a:srgbClr val="FFFFFF"/>
          </a:solidFill>
          <a:ln w="6350">
            <a:solidFill>
              <a:srgbClr val="D6E8F5"/>
            </a:solidFill>
            <a:prstDash val="solid"/>
          </a:ln>
        </p:spPr>
        <p:txBody>
          <a:bodyPr/>
          <a:lstStyle/>
          <a:p>
            <a:endParaRPr lang="en-US"/>
          </a:p>
        </p:txBody>
      </p:sp>
      <p:sp>
        <p:nvSpPr>
          <p:cNvPr id="58" name="Text 56"/>
          <p:cNvSpPr/>
          <p:nvPr/>
        </p:nvSpPr>
        <p:spPr>
          <a:xfrm>
            <a:off x="5577840" y="3794760"/>
            <a:ext cx="2377440" cy="438912"/>
          </a:xfrm>
          <a:prstGeom prst="rect">
            <a:avLst/>
          </a:prstGeom>
          <a:noFill/>
          <a:ln/>
        </p:spPr>
        <p:txBody>
          <a:bodyPr wrap="square" rtlCol="0" anchor="ctr"/>
          <a:lstStyle/>
          <a:p>
            <a:pPr marL="0" indent="0" algn="ctr">
              <a:buNone/>
            </a:pPr>
            <a:r>
              <a:rPr lang="en-US" sz="1100" dirty="0">
                <a:solidFill>
                  <a:srgbClr val="1A2E3B"/>
                </a:solidFill>
                <a:latin typeface="Calibri" pitchFamily="34" charset="0"/>
                <a:ea typeface="Calibri" pitchFamily="34" charset="-122"/>
                <a:cs typeface="Calibri" pitchFamily="34" charset="-120"/>
              </a:rPr>
              <a:t>+1.08 (Pos.)</a:t>
            </a:r>
            <a:endParaRPr lang="en-US" sz="1100" dirty="0"/>
          </a:p>
        </p:txBody>
      </p:sp>
      <p:sp>
        <p:nvSpPr>
          <p:cNvPr id="59" name="Shape 57"/>
          <p:cNvSpPr/>
          <p:nvPr/>
        </p:nvSpPr>
        <p:spPr>
          <a:xfrm>
            <a:off x="8046720" y="3794760"/>
            <a:ext cx="2560320" cy="438912"/>
          </a:xfrm>
          <a:prstGeom prst="rect">
            <a:avLst/>
          </a:prstGeom>
          <a:solidFill>
            <a:srgbClr val="FFFFFF"/>
          </a:solidFill>
          <a:ln w="6350">
            <a:solidFill>
              <a:srgbClr val="D6E8F5"/>
            </a:solidFill>
            <a:prstDash val="solid"/>
          </a:ln>
        </p:spPr>
        <p:txBody>
          <a:bodyPr/>
          <a:lstStyle/>
          <a:p>
            <a:endParaRPr lang="en-US"/>
          </a:p>
        </p:txBody>
      </p:sp>
      <p:sp>
        <p:nvSpPr>
          <p:cNvPr id="60" name="Text 58"/>
          <p:cNvSpPr/>
          <p:nvPr/>
        </p:nvSpPr>
        <p:spPr>
          <a:xfrm>
            <a:off x="8138160" y="3794760"/>
            <a:ext cx="2377440" cy="438912"/>
          </a:xfrm>
          <a:prstGeom prst="rect">
            <a:avLst/>
          </a:prstGeom>
          <a:noFill/>
          <a:ln/>
        </p:spPr>
        <p:txBody>
          <a:bodyPr wrap="square" rtlCol="0" anchor="ctr"/>
          <a:lstStyle/>
          <a:p>
            <a:pPr marL="0" indent="0" algn="ctr">
              <a:buNone/>
            </a:pPr>
            <a:r>
              <a:rPr lang="en-US" sz="1100" dirty="0">
                <a:solidFill>
                  <a:srgbClr val="1A2E3B"/>
                </a:solidFill>
                <a:latin typeface="Calibri" pitchFamily="34" charset="0"/>
                <a:ea typeface="Calibri" pitchFamily="34" charset="-122"/>
                <a:cs typeface="Calibri" pitchFamily="34" charset="-120"/>
              </a:rPr>
              <a:t>+54.83 (Extreme)</a:t>
            </a:r>
            <a:endParaRPr lang="en-US" sz="1100" dirty="0"/>
          </a:p>
        </p:txBody>
      </p:sp>
      <p:sp>
        <p:nvSpPr>
          <p:cNvPr id="61" name="Shape 59"/>
          <p:cNvSpPr/>
          <p:nvPr/>
        </p:nvSpPr>
        <p:spPr>
          <a:xfrm>
            <a:off x="365760" y="4233672"/>
            <a:ext cx="2560320" cy="438912"/>
          </a:xfrm>
          <a:prstGeom prst="rect">
            <a:avLst/>
          </a:prstGeom>
          <a:solidFill>
            <a:srgbClr val="F7F9FB"/>
          </a:solidFill>
          <a:ln w="6350">
            <a:solidFill>
              <a:srgbClr val="D6E8F5"/>
            </a:solidFill>
            <a:prstDash val="solid"/>
          </a:ln>
        </p:spPr>
        <p:txBody>
          <a:bodyPr/>
          <a:lstStyle/>
          <a:p>
            <a:endParaRPr lang="en-US"/>
          </a:p>
        </p:txBody>
      </p:sp>
      <p:sp>
        <p:nvSpPr>
          <p:cNvPr id="62" name="Text 60"/>
          <p:cNvSpPr/>
          <p:nvPr/>
        </p:nvSpPr>
        <p:spPr>
          <a:xfrm>
            <a:off x="457200" y="4233672"/>
            <a:ext cx="2377440" cy="438912"/>
          </a:xfrm>
          <a:prstGeom prst="rect">
            <a:avLst/>
          </a:prstGeom>
          <a:noFill/>
          <a:ln/>
        </p:spPr>
        <p:txBody>
          <a:bodyPr wrap="square" rtlCol="0" anchor="ctr"/>
          <a:lstStyle/>
          <a:p>
            <a:pPr marL="0" indent="0" algn="l">
              <a:buNone/>
            </a:pPr>
            <a:r>
              <a:rPr lang="en-US" sz="1100" b="1" dirty="0">
                <a:solidFill>
                  <a:srgbClr val="0D1B2A"/>
                </a:solidFill>
                <a:latin typeface="Calibri" pitchFamily="34" charset="0"/>
                <a:ea typeface="Calibri" pitchFamily="34" charset="-122"/>
                <a:cs typeface="Calibri" pitchFamily="34" charset="-120"/>
              </a:rPr>
              <a:t>Outliers Detected</a:t>
            </a:r>
            <a:endParaRPr lang="en-US" sz="1100" dirty="0"/>
          </a:p>
        </p:txBody>
      </p:sp>
      <p:sp>
        <p:nvSpPr>
          <p:cNvPr id="63" name="Shape 61"/>
          <p:cNvSpPr/>
          <p:nvPr/>
        </p:nvSpPr>
        <p:spPr>
          <a:xfrm>
            <a:off x="2926080" y="4233672"/>
            <a:ext cx="2560320" cy="438912"/>
          </a:xfrm>
          <a:prstGeom prst="rect">
            <a:avLst/>
          </a:prstGeom>
          <a:solidFill>
            <a:srgbClr val="F7F9FB"/>
          </a:solidFill>
          <a:ln w="6350">
            <a:solidFill>
              <a:srgbClr val="D6E8F5"/>
            </a:solidFill>
            <a:prstDash val="solid"/>
          </a:ln>
        </p:spPr>
        <p:txBody>
          <a:bodyPr/>
          <a:lstStyle/>
          <a:p>
            <a:endParaRPr lang="en-US"/>
          </a:p>
        </p:txBody>
      </p:sp>
      <p:sp>
        <p:nvSpPr>
          <p:cNvPr id="64" name="Text 62"/>
          <p:cNvSpPr/>
          <p:nvPr/>
        </p:nvSpPr>
        <p:spPr>
          <a:xfrm>
            <a:off x="3017520" y="4233672"/>
            <a:ext cx="2377440" cy="438912"/>
          </a:xfrm>
          <a:prstGeom prst="rect">
            <a:avLst/>
          </a:prstGeom>
          <a:noFill/>
          <a:ln/>
        </p:spPr>
        <p:txBody>
          <a:bodyPr wrap="square" rtlCol="0" anchor="ctr"/>
          <a:lstStyle/>
          <a:p>
            <a:pPr marL="0" indent="0" algn="ctr">
              <a:buNone/>
            </a:pPr>
            <a:r>
              <a:rPr lang="en-US" sz="1100" dirty="0">
                <a:solidFill>
                  <a:srgbClr val="1A2E3B"/>
                </a:solidFill>
                <a:latin typeface="Calibri" pitchFamily="34" charset="0"/>
                <a:ea typeface="Calibri" pitchFamily="34" charset="-122"/>
                <a:cs typeface="Calibri" pitchFamily="34" charset="-120"/>
              </a:rPr>
              <a:t>20,668 records</a:t>
            </a:r>
            <a:endParaRPr lang="en-US" sz="1100" dirty="0"/>
          </a:p>
        </p:txBody>
      </p:sp>
      <p:sp>
        <p:nvSpPr>
          <p:cNvPr id="65" name="Shape 63"/>
          <p:cNvSpPr/>
          <p:nvPr/>
        </p:nvSpPr>
        <p:spPr>
          <a:xfrm>
            <a:off x="5486400" y="4233672"/>
            <a:ext cx="2560320" cy="438912"/>
          </a:xfrm>
          <a:prstGeom prst="rect">
            <a:avLst/>
          </a:prstGeom>
          <a:solidFill>
            <a:srgbClr val="F7F9FB"/>
          </a:solidFill>
          <a:ln w="6350">
            <a:solidFill>
              <a:srgbClr val="D6E8F5"/>
            </a:solidFill>
            <a:prstDash val="solid"/>
          </a:ln>
        </p:spPr>
        <p:txBody>
          <a:bodyPr/>
          <a:lstStyle/>
          <a:p>
            <a:endParaRPr lang="en-US"/>
          </a:p>
        </p:txBody>
      </p:sp>
      <p:sp>
        <p:nvSpPr>
          <p:cNvPr id="66" name="Text 64"/>
          <p:cNvSpPr/>
          <p:nvPr/>
        </p:nvSpPr>
        <p:spPr>
          <a:xfrm>
            <a:off x="5577840" y="4233672"/>
            <a:ext cx="2377440" cy="438912"/>
          </a:xfrm>
          <a:prstGeom prst="rect">
            <a:avLst/>
          </a:prstGeom>
          <a:noFill/>
          <a:ln/>
        </p:spPr>
        <p:txBody>
          <a:bodyPr wrap="square" rtlCol="0" anchor="ctr"/>
          <a:lstStyle/>
          <a:p>
            <a:pPr marL="0" indent="0" algn="ctr">
              <a:buNone/>
            </a:pPr>
            <a:r>
              <a:rPr lang="en-US" sz="1100" dirty="0">
                <a:solidFill>
                  <a:srgbClr val="1A2E3B"/>
                </a:solidFill>
                <a:latin typeface="Calibri" pitchFamily="34" charset="0"/>
                <a:ea typeface="Calibri" pitchFamily="34" charset="-122"/>
                <a:cs typeface="Calibri" pitchFamily="34" charset="-120"/>
              </a:rPr>
              <a:t>0 records</a:t>
            </a:r>
            <a:endParaRPr lang="en-US" sz="1100" dirty="0"/>
          </a:p>
        </p:txBody>
      </p:sp>
      <p:sp>
        <p:nvSpPr>
          <p:cNvPr id="67" name="Shape 65"/>
          <p:cNvSpPr/>
          <p:nvPr/>
        </p:nvSpPr>
        <p:spPr>
          <a:xfrm>
            <a:off x="8046720" y="4233672"/>
            <a:ext cx="2560320" cy="438912"/>
          </a:xfrm>
          <a:prstGeom prst="rect">
            <a:avLst/>
          </a:prstGeom>
          <a:solidFill>
            <a:srgbClr val="F7F9FB"/>
          </a:solidFill>
          <a:ln w="6350">
            <a:solidFill>
              <a:srgbClr val="D6E8F5"/>
            </a:solidFill>
            <a:prstDash val="solid"/>
          </a:ln>
        </p:spPr>
        <p:txBody>
          <a:bodyPr/>
          <a:lstStyle/>
          <a:p>
            <a:endParaRPr lang="en-US"/>
          </a:p>
        </p:txBody>
      </p:sp>
      <p:sp>
        <p:nvSpPr>
          <p:cNvPr id="68" name="Text 66"/>
          <p:cNvSpPr/>
          <p:nvPr/>
        </p:nvSpPr>
        <p:spPr>
          <a:xfrm>
            <a:off x="8138160" y="4233672"/>
            <a:ext cx="2377440" cy="438912"/>
          </a:xfrm>
          <a:prstGeom prst="rect">
            <a:avLst/>
          </a:prstGeom>
          <a:noFill/>
          <a:ln/>
        </p:spPr>
        <p:txBody>
          <a:bodyPr wrap="square" rtlCol="0" anchor="ctr"/>
          <a:lstStyle/>
          <a:p>
            <a:pPr marL="0" indent="0" algn="ctr">
              <a:buNone/>
            </a:pPr>
            <a:r>
              <a:rPr lang="en-US" sz="1100" dirty="0">
                <a:solidFill>
                  <a:srgbClr val="1A2E3B"/>
                </a:solidFill>
                <a:latin typeface="Calibri" pitchFamily="34" charset="0"/>
                <a:ea typeface="Calibri" pitchFamily="34" charset="-122"/>
                <a:cs typeface="Calibri" pitchFamily="34" charset="-120"/>
              </a:rPr>
              <a:t>35 records</a:t>
            </a:r>
            <a:endParaRPr lang="en-US" sz="1100" dirty="0"/>
          </a:p>
        </p:txBody>
      </p:sp>
      <p:sp>
        <p:nvSpPr>
          <p:cNvPr id="69" name="Shape 67"/>
          <p:cNvSpPr/>
          <p:nvPr/>
        </p:nvSpPr>
        <p:spPr>
          <a:xfrm>
            <a:off x="365760" y="5486400"/>
            <a:ext cx="11430000" cy="804672"/>
          </a:xfrm>
          <a:prstGeom prst="rect">
            <a:avLst/>
          </a:prstGeom>
          <a:solidFill>
            <a:srgbClr val="D6E8F5"/>
          </a:solidFill>
          <a:ln w="12700">
            <a:solidFill>
              <a:srgbClr val="2E86AB"/>
            </a:solidFill>
            <a:prstDash val="solid"/>
          </a:ln>
        </p:spPr>
        <p:txBody>
          <a:bodyPr/>
          <a:lstStyle/>
          <a:p>
            <a:endParaRPr lang="en-US"/>
          </a:p>
        </p:txBody>
      </p:sp>
      <p:sp>
        <p:nvSpPr>
          <p:cNvPr id="70" name="Text 68"/>
          <p:cNvSpPr/>
          <p:nvPr/>
        </p:nvSpPr>
        <p:spPr>
          <a:xfrm>
            <a:off x="502920" y="5532120"/>
            <a:ext cx="11155680" cy="713232"/>
          </a:xfrm>
          <a:prstGeom prst="rect">
            <a:avLst/>
          </a:prstGeom>
          <a:noFill/>
          <a:ln/>
        </p:spPr>
        <p:txBody>
          <a:bodyPr wrap="square" rtlCol="0" anchor="ctr"/>
          <a:lstStyle/>
          <a:p>
            <a:pPr marL="0" indent="0">
              <a:buNone/>
            </a:pPr>
            <a:r>
              <a:rPr lang="en-US" sz="1100" dirty="0">
                <a:solidFill>
                  <a:srgbClr val="1B4F72"/>
                </a:solidFill>
                <a:latin typeface="Calibri" pitchFamily="34" charset="0"/>
                <a:ea typeface="Calibri" pitchFamily="34" charset="-122"/>
                <a:cs typeface="Calibri" pitchFamily="34" charset="-120"/>
              </a:rPr>
              <a:t>💡  Key Insight: No single-value columns were found across all 25 columns </a:t>
            </a:r>
            <a:r>
              <a:rPr lang="en-US" sz="1100">
                <a:solidFill>
                  <a:srgbClr val="1B4F72"/>
                </a:solidFill>
                <a:latin typeface="Calibri" pitchFamily="34" charset="0"/>
                <a:ea typeface="Calibri" pitchFamily="34" charset="-122"/>
                <a:cs typeface="Calibri" pitchFamily="34" charset="-120"/>
              </a:rPr>
              <a:t>- </a:t>
            </a:r>
            <a:r>
              <a:rPr lang="en-US" sz="1100" dirty="0">
                <a:solidFill>
                  <a:srgbClr val="1B4F72"/>
                </a:solidFill>
                <a:latin typeface="Calibri" pitchFamily="34" charset="0"/>
                <a:ea typeface="Calibri" pitchFamily="34" charset="-122"/>
                <a:cs typeface="Calibri" pitchFamily="34" charset="-120"/>
              </a:rPr>
              <a:t>confirming dataset quality. The extreme skewness of Loss of Eye (54.83) reflects its rarity at just 0.03% of all incidents. Hospitalized and Amputation columns represent employee counts per incident, not binary flags </a:t>
            </a:r>
            <a:r>
              <a:rPr lang="en-US" sz="1100">
                <a:solidFill>
                  <a:srgbClr val="1B4F72"/>
                </a:solidFill>
                <a:latin typeface="Calibri" pitchFamily="34" charset="0"/>
                <a:ea typeface="Calibri" pitchFamily="34" charset="-122"/>
                <a:cs typeface="Calibri" pitchFamily="34" charset="-120"/>
              </a:rPr>
              <a:t>-</a:t>
            </a:r>
            <a:r>
              <a:rPr lang="en-US" sz="1100" dirty="0">
                <a:solidFill>
                  <a:srgbClr val="1B4F72"/>
                </a:solidFill>
                <a:latin typeface="Calibri" pitchFamily="34" charset="0"/>
                <a:ea typeface="Calibri" pitchFamily="34" charset="-122"/>
                <a:cs typeface="Calibri" pitchFamily="34" charset="-120"/>
              </a:rPr>
              <a:t> max values of 6 and 2 confirm multi-employee incidents occurred.</a:t>
            </a:r>
            <a:endParaRPr lang="en-US" sz="1100" dirty="0"/>
          </a:p>
        </p:txBody>
      </p:sp>
      <p:sp>
        <p:nvSpPr>
          <p:cNvPr id="71" name="Text 69"/>
          <p:cNvSpPr/>
          <p:nvPr/>
        </p:nvSpPr>
        <p:spPr>
          <a:xfrm>
            <a:off x="0" y="6492240"/>
            <a:ext cx="12192000" cy="32004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OSHA Severe Injury Report Analysis  |  Mary Becker  |  Data Analytics Capstone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0D1B2A"/>
          </a:solidFill>
          <a:ln/>
        </p:spPr>
        <p:txBody>
          <a:bodyPr/>
          <a:lstStyle/>
          <a:p>
            <a:endParaRPr lang="en-US"/>
          </a:p>
        </p:txBody>
      </p:sp>
      <p:sp>
        <p:nvSpPr>
          <p:cNvPr id="3" name="Text 1"/>
          <p:cNvSpPr/>
          <p:nvPr/>
        </p:nvSpPr>
        <p:spPr>
          <a:xfrm>
            <a:off x="365760" y="73152"/>
            <a:ext cx="91440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Correlation Analysis</a:t>
            </a:r>
            <a:endParaRPr lang="en-US" sz="2800" dirty="0"/>
          </a:p>
        </p:txBody>
      </p:sp>
      <p:sp>
        <p:nvSpPr>
          <p:cNvPr id="4" name="Text 2"/>
          <p:cNvSpPr/>
          <p:nvPr/>
        </p:nvSpPr>
        <p:spPr>
          <a:xfrm>
            <a:off x="365760" y="594360"/>
            <a:ext cx="9144000" cy="347472"/>
          </a:xfrm>
          <a:prstGeom prst="rect">
            <a:avLst/>
          </a:prstGeom>
          <a:noFill/>
          <a:ln/>
        </p:spPr>
        <p:txBody>
          <a:bodyPr wrap="square" rtlCol="0" anchor="t"/>
          <a:lstStyle/>
          <a:p>
            <a:pPr marL="0" indent="0">
              <a:buNone/>
            </a:pPr>
            <a:r>
              <a:rPr lang="en-US" sz="1300" dirty="0">
                <a:solidFill>
                  <a:srgbClr val="D6E8F5"/>
                </a:solidFill>
                <a:latin typeface="Calibri" pitchFamily="34" charset="0"/>
                <a:ea typeface="Calibri" pitchFamily="34" charset="-122"/>
                <a:cs typeface="Calibri" pitchFamily="34" charset="-120"/>
              </a:rPr>
              <a:t>Relationship between the three injury outcome variables</a:t>
            </a:r>
            <a:endParaRPr lang="en-US" sz="1300" dirty="0"/>
          </a:p>
        </p:txBody>
      </p:sp>
      <p:sp>
        <p:nvSpPr>
          <p:cNvPr id="5" name="Shape 3"/>
          <p:cNvSpPr/>
          <p:nvPr/>
        </p:nvSpPr>
        <p:spPr>
          <a:xfrm>
            <a:off x="457200" y="1188720"/>
            <a:ext cx="1371600" cy="777240"/>
          </a:xfrm>
          <a:prstGeom prst="rect">
            <a:avLst/>
          </a:prstGeom>
          <a:solidFill>
            <a:srgbClr val="0D1B2A"/>
          </a:solidFill>
          <a:ln w="12700">
            <a:solidFill>
              <a:srgbClr val="FFFFFF"/>
            </a:solidFill>
            <a:prstDash val="solid"/>
          </a:ln>
        </p:spPr>
        <p:txBody>
          <a:bodyPr/>
          <a:lstStyle/>
          <a:p>
            <a:endParaRPr lang="en-US"/>
          </a:p>
        </p:txBody>
      </p:sp>
      <p:sp>
        <p:nvSpPr>
          <p:cNvPr id="6" name="Text 4"/>
          <p:cNvSpPr/>
          <p:nvPr/>
        </p:nvSpPr>
        <p:spPr>
          <a:xfrm>
            <a:off x="548640" y="1188720"/>
            <a:ext cx="1188720" cy="777240"/>
          </a:xfrm>
          <a:prstGeom prst="rect">
            <a:avLst/>
          </a:prstGeom>
          <a:noFill/>
          <a:ln/>
        </p:spPr>
        <p:txBody>
          <a:bodyPr wrap="square" rtlCol="0" anchor="ctr"/>
          <a:lstStyle/>
          <a:p>
            <a:pPr marL="0" indent="0" algn="ctr">
              <a:buNone/>
            </a:pPr>
            <a:endParaRPr lang="en-US" sz="1200" dirty="0"/>
          </a:p>
        </p:txBody>
      </p:sp>
      <p:sp>
        <p:nvSpPr>
          <p:cNvPr id="7" name="Shape 5"/>
          <p:cNvSpPr/>
          <p:nvPr/>
        </p:nvSpPr>
        <p:spPr>
          <a:xfrm>
            <a:off x="1828800" y="1188720"/>
            <a:ext cx="1371600" cy="777240"/>
          </a:xfrm>
          <a:prstGeom prst="rect">
            <a:avLst/>
          </a:prstGeom>
          <a:solidFill>
            <a:srgbClr val="0D1B2A"/>
          </a:solidFill>
          <a:ln w="12700">
            <a:solidFill>
              <a:srgbClr val="FFFFFF"/>
            </a:solidFill>
            <a:prstDash val="solid"/>
          </a:ln>
        </p:spPr>
        <p:txBody>
          <a:bodyPr/>
          <a:lstStyle/>
          <a:p>
            <a:endParaRPr lang="en-US"/>
          </a:p>
        </p:txBody>
      </p:sp>
      <p:sp>
        <p:nvSpPr>
          <p:cNvPr id="8" name="Text 6"/>
          <p:cNvSpPr/>
          <p:nvPr/>
        </p:nvSpPr>
        <p:spPr>
          <a:xfrm>
            <a:off x="1920240" y="1188720"/>
            <a:ext cx="1188720" cy="7772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Hospitalized</a:t>
            </a:r>
            <a:endParaRPr lang="en-US" sz="1200" dirty="0"/>
          </a:p>
        </p:txBody>
      </p:sp>
      <p:sp>
        <p:nvSpPr>
          <p:cNvPr id="9" name="Shape 7"/>
          <p:cNvSpPr/>
          <p:nvPr/>
        </p:nvSpPr>
        <p:spPr>
          <a:xfrm>
            <a:off x="3200400" y="1188720"/>
            <a:ext cx="1371600" cy="777240"/>
          </a:xfrm>
          <a:prstGeom prst="rect">
            <a:avLst/>
          </a:prstGeom>
          <a:solidFill>
            <a:srgbClr val="0D1B2A"/>
          </a:solidFill>
          <a:ln w="12700">
            <a:solidFill>
              <a:srgbClr val="FFFFFF"/>
            </a:solidFill>
            <a:prstDash val="solid"/>
          </a:ln>
        </p:spPr>
        <p:txBody>
          <a:bodyPr/>
          <a:lstStyle/>
          <a:p>
            <a:endParaRPr lang="en-US"/>
          </a:p>
        </p:txBody>
      </p:sp>
      <p:sp>
        <p:nvSpPr>
          <p:cNvPr id="10" name="Text 8"/>
          <p:cNvSpPr/>
          <p:nvPr/>
        </p:nvSpPr>
        <p:spPr>
          <a:xfrm>
            <a:off x="3291840" y="1188720"/>
            <a:ext cx="1188720" cy="7772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Amputation</a:t>
            </a:r>
            <a:endParaRPr lang="en-US" sz="1200" dirty="0"/>
          </a:p>
        </p:txBody>
      </p:sp>
      <p:sp>
        <p:nvSpPr>
          <p:cNvPr id="11" name="Shape 9"/>
          <p:cNvSpPr/>
          <p:nvPr/>
        </p:nvSpPr>
        <p:spPr>
          <a:xfrm>
            <a:off x="4572000" y="1188720"/>
            <a:ext cx="1371600" cy="777240"/>
          </a:xfrm>
          <a:prstGeom prst="rect">
            <a:avLst/>
          </a:prstGeom>
          <a:solidFill>
            <a:srgbClr val="0D1B2A"/>
          </a:solidFill>
          <a:ln w="12700">
            <a:solidFill>
              <a:srgbClr val="FFFFFF"/>
            </a:solidFill>
            <a:prstDash val="solid"/>
          </a:ln>
        </p:spPr>
        <p:txBody>
          <a:bodyPr/>
          <a:lstStyle/>
          <a:p>
            <a:endParaRPr lang="en-US"/>
          </a:p>
        </p:txBody>
      </p:sp>
      <p:sp>
        <p:nvSpPr>
          <p:cNvPr id="12" name="Text 10"/>
          <p:cNvSpPr/>
          <p:nvPr/>
        </p:nvSpPr>
        <p:spPr>
          <a:xfrm>
            <a:off x="4663440" y="1188720"/>
            <a:ext cx="1188720" cy="7772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Loss of Eye</a:t>
            </a:r>
            <a:endParaRPr lang="en-US" sz="1200" dirty="0"/>
          </a:p>
        </p:txBody>
      </p:sp>
      <p:sp>
        <p:nvSpPr>
          <p:cNvPr id="13" name="Shape 11"/>
          <p:cNvSpPr/>
          <p:nvPr/>
        </p:nvSpPr>
        <p:spPr>
          <a:xfrm>
            <a:off x="457200" y="1965960"/>
            <a:ext cx="1371600" cy="777240"/>
          </a:xfrm>
          <a:prstGeom prst="rect">
            <a:avLst/>
          </a:prstGeom>
          <a:solidFill>
            <a:srgbClr val="0D1B2A"/>
          </a:solidFill>
          <a:ln w="12700">
            <a:solidFill>
              <a:srgbClr val="FFFFFF"/>
            </a:solidFill>
            <a:prstDash val="solid"/>
          </a:ln>
        </p:spPr>
        <p:txBody>
          <a:bodyPr/>
          <a:lstStyle/>
          <a:p>
            <a:endParaRPr lang="en-US"/>
          </a:p>
        </p:txBody>
      </p:sp>
      <p:sp>
        <p:nvSpPr>
          <p:cNvPr id="14" name="Text 12"/>
          <p:cNvSpPr/>
          <p:nvPr/>
        </p:nvSpPr>
        <p:spPr>
          <a:xfrm>
            <a:off x="548640" y="1965960"/>
            <a:ext cx="1188720" cy="7772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Hospitalized</a:t>
            </a:r>
            <a:endParaRPr lang="en-US" sz="1200" dirty="0"/>
          </a:p>
        </p:txBody>
      </p:sp>
      <p:sp>
        <p:nvSpPr>
          <p:cNvPr id="15" name="Shape 13"/>
          <p:cNvSpPr/>
          <p:nvPr/>
        </p:nvSpPr>
        <p:spPr>
          <a:xfrm>
            <a:off x="1828800" y="1965960"/>
            <a:ext cx="1371600" cy="777240"/>
          </a:xfrm>
          <a:prstGeom prst="rect">
            <a:avLst/>
          </a:prstGeom>
          <a:solidFill>
            <a:srgbClr val="B03A2E"/>
          </a:solidFill>
          <a:ln w="12700">
            <a:solidFill>
              <a:srgbClr val="FFFFFF"/>
            </a:solidFill>
            <a:prstDash val="solid"/>
          </a:ln>
        </p:spPr>
        <p:txBody>
          <a:bodyPr/>
          <a:lstStyle/>
          <a:p>
            <a:endParaRPr lang="en-US"/>
          </a:p>
        </p:txBody>
      </p:sp>
      <p:sp>
        <p:nvSpPr>
          <p:cNvPr id="16" name="Text 14"/>
          <p:cNvSpPr/>
          <p:nvPr/>
        </p:nvSpPr>
        <p:spPr>
          <a:xfrm>
            <a:off x="1920240" y="1965960"/>
            <a:ext cx="1188720" cy="7772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1.00</a:t>
            </a:r>
            <a:endParaRPr lang="en-US" sz="1800" dirty="0"/>
          </a:p>
        </p:txBody>
      </p:sp>
      <p:sp>
        <p:nvSpPr>
          <p:cNvPr id="17" name="Shape 15"/>
          <p:cNvSpPr/>
          <p:nvPr/>
        </p:nvSpPr>
        <p:spPr>
          <a:xfrm>
            <a:off x="3200400" y="1965960"/>
            <a:ext cx="1371600" cy="777240"/>
          </a:xfrm>
          <a:prstGeom prst="rect">
            <a:avLst/>
          </a:prstGeom>
          <a:solidFill>
            <a:srgbClr val="3B82C4"/>
          </a:solidFill>
          <a:ln w="12700">
            <a:solidFill>
              <a:srgbClr val="FFFFFF"/>
            </a:solidFill>
            <a:prstDash val="solid"/>
          </a:ln>
        </p:spPr>
        <p:txBody>
          <a:bodyPr/>
          <a:lstStyle/>
          <a:p>
            <a:endParaRPr lang="en-US"/>
          </a:p>
        </p:txBody>
      </p:sp>
      <p:sp>
        <p:nvSpPr>
          <p:cNvPr id="18" name="Text 16"/>
          <p:cNvSpPr/>
          <p:nvPr/>
        </p:nvSpPr>
        <p:spPr>
          <a:xfrm>
            <a:off x="3291840" y="1965960"/>
            <a:ext cx="1188720" cy="777240"/>
          </a:xfrm>
          <a:prstGeom prst="rect">
            <a:avLst/>
          </a:prstGeom>
          <a:noFill/>
          <a:ln/>
        </p:spPr>
        <p:txBody>
          <a:bodyPr wrap="square"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-0.79</a:t>
            </a:r>
            <a:endParaRPr lang="en-US" sz="1800" dirty="0"/>
          </a:p>
        </p:txBody>
      </p:sp>
      <p:sp>
        <p:nvSpPr>
          <p:cNvPr id="19" name="Shape 17"/>
          <p:cNvSpPr/>
          <p:nvPr/>
        </p:nvSpPr>
        <p:spPr>
          <a:xfrm>
            <a:off x="4572000" y="1965960"/>
            <a:ext cx="1371600" cy="777240"/>
          </a:xfrm>
          <a:prstGeom prst="rect">
            <a:avLst/>
          </a:prstGeom>
          <a:solidFill>
            <a:srgbClr val="D6E8F5"/>
          </a:solidFill>
          <a:ln w="12700">
            <a:solidFill>
              <a:srgbClr val="FFFFFF"/>
            </a:solidFill>
            <a:prstDash val="solid"/>
          </a:ln>
        </p:spPr>
        <p:txBody>
          <a:bodyPr/>
          <a:lstStyle/>
          <a:p>
            <a:endParaRPr lang="en-US"/>
          </a:p>
        </p:txBody>
      </p:sp>
      <p:sp>
        <p:nvSpPr>
          <p:cNvPr id="20" name="Text 18"/>
          <p:cNvSpPr/>
          <p:nvPr/>
        </p:nvSpPr>
        <p:spPr>
          <a:xfrm>
            <a:off x="4663440" y="1965960"/>
            <a:ext cx="1188720" cy="777240"/>
          </a:xfrm>
          <a:prstGeom prst="rect">
            <a:avLst/>
          </a:prstGeom>
          <a:noFill/>
          <a:ln/>
        </p:spPr>
        <p:txBody>
          <a:bodyPr wrap="square" rtlCol="0" anchor="ctr"/>
          <a:lstStyle/>
          <a:p>
            <a:pPr marL="0" indent="0" algn="ctr">
              <a:buNone/>
            </a:pPr>
            <a:r>
              <a:rPr lang="en-US" sz="1800" dirty="0">
                <a:solidFill>
                  <a:srgbClr val="1A2E3B"/>
                </a:solidFill>
                <a:latin typeface="Calibri" pitchFamily="34" charset="0"/>
                <a:ea typeface="Calibri" pitchFamily="34" charset="-122"/>
                <a:cs typeface="Calibri" pitchFamily="34" charset="-120"/>
              </a:rPr>
              <a:t>-0.00</a:t>
            </a:r>
            <a:endParaRPr lang="en-US" sz="1800" dirty="0"/>
          </a:p>
        </p:txBody>
      </p:sp>
      <p:sp>
        <p:nvSpPr>
          <p:cNvPr id="21" name="Shape 19"/>
          <p:cNvSpPr/>
          <p:nvPr/>
        </p:nvSpPr>
        <p:spPr>
          <a:xfrm>
            <a:off x="457200" y="2743200"/>
            <a:ext cx="1371600" cy="777240"/>
          </a:xfrm>
          <a:prstGeom prst="rect">
            <a:avLst/>
          </a:prstGeom>
          <a:solidFill>
            <a:srgbClr val="0D1B2A"/>
          </a:solidFill>
          <a:ln w="12700">
            <a:solidFill>
              <a:srgbClr val="FFFFFF"/>
            </a:solidFill>
            <a:prstDash val="solid"/>
          </a:ln>
        </p:spPr>
        <p:txBody>
          <a:bodyPr/>
          <a:lstStyle/>
          <a:p>
            <a:endParaRPr lang="en-US"/>
          </a:p>
        </p:txBody>
      </p:sp>
      <p:sp>
        <p:nvSpPr>
          <p:cNvPr id="22" name="Text 20"/>
          <p:cNvSpPr/>
          <p:nvPr/>
        </p:nvSpPr>
        <p:spPr>
          <a:xfrm>
            <a:off x="548640" y="2743200"/>
            <a:ext cx="1188720" cy="7772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Amputation</a:t>
            </a:r>
            <a:endParaRPr lang="en-US" sz="1200" dirty="0"/>
          </a:p>
        </p:txBody>
      </p:sp>
      <p:sp>
        <p:nvSpPr>
          <p:cNvPr id="23" name="Shape 21"/>
          <p:cNvSpPr/>
          <p:nvPr/>
        </p:nvSpPr>
        <p:spPr>
          <a:xfrm>
            <a:off x="1828800" y="2743200"/>
            <a:ext cx="1371600" cy="777240"/>
          </a:xfrm>
          <a:prstGeom prst="rect">
            <a:avLst/>
          </a:prstGeom>
          <a:solidFill>
            <a:srgbClr val="3B82C4"/>
          </a:solidFill>
          <a:ln w="12700">
            <a:solidFill>
              <a:srgbClr val="FFFFFF"/>
            </a:solidFill>
            <a:prstDash val="solid"/>
          </a:ln>
        </p:spPr>
        <p:txBody>
          <a:bodyPr/>
          <a:lstStyle/>
          <a:p>
            <a:endParaRPr lang="en-US"/>
          </a:p>
        </p:txBody>
      </p:sp>
      <p:sp>
        <p:nvSpPr>
          <p:cNvPr id="24" name="Text 22"/>
          <p:cNvSpPr/>
          <p:nvPr/>
        </p:nvSpPr>
        <p:spPr>
          <a:xfrm>
            <a:off x="1920240" y="2743200"/>
            <a:ext cx="1188720" cy="777240"/>
          </a:xfrm>
          <a:prstGeom prst="rect">
            <a:avLst/>
          </a:prstGeom>
          <a:noFill/>
          <a:ln/>
        </p:spPr>
        <p:txBody>
          <a:bodyPr wrap="square"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-0.79</a:t>
            </a:r>
            <a:endParaRPr lang="en-US" sz="1800" dirty="0"/>
          </a:p>
        </p:txBody>
      </p:sp>
      <p:sp>
        <p:nvSpPr>
          <p:cNvPr id="25" name="Shape 23"/>
          <p:cNvSpPr/>
          <p:nvPr/>
        </p:nvSpPr>
        <p:spPr>
          <a:xfrm>
            <a:off x="3200400" y="2743200"/>
            <a:ext cx="1371600" cy="777240"/>
          </a:xfrm>
          <a:prstGeom prst="rect">
            <a:avLst/>
          </a:prstGeom>
          <a:solidFill>
            <a:srgbClr val="B03A2E"/>
          </a:solidFill>
          <a:ln w="12700">
            <a:solidFill>
              <a:srgbClr val="FFFFFF"/>
            </a:solidFill>
            <a:prstDash val="solid"/>
          </a:ln>
        </p:spPr>
        <p:txBody>
          <a:bodyPr/>
          <a:lstStyle/>
          <a:p>
            <a:endParaRPr lang="en-US"/>
          </a:p>
        </p:txBody>
      </p:sp>
      <p:sp>
        <p:nvSpPr>
          <p:cNvPr id="26" name="Text 24"/>
          <p:cNvSpPr/>
          <p:nvPr/>
        </p:nvSpPr>
        <p:spPr>
          <a:xfrm>
            <a:off x="3291840" y="2743200"/>
            <a:ext cx="1188720" cy="7772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1.00</a:t>
            </a:r>
            <a:endParaRPr lang="en-US" sz="1800" dirty="0"/>
          </a:p>
        </p:txBody>
      </p:sp>
      <p:sp>
        <p:nvSpPr>
          <p:cNvPr id="27" name="Shape 25"/>
          <p:cNvSpPr/>
          <p:nvPr/>
        </p:nvSpPr>
        <p:spPr>
          <a:xfrm>
            <a:off x="4572000" y="2743200"/>
            <a:ext cx="1371600" cy="777240"/>
          </a:xfrm>
          <a:prstGeom prst="rect">
            <a:avLst/>
          </a:prstGeom>
          <a:solidFill>
            <a:srgbClr val="D6E8F5"/>
          </a:solidFill>
          <a:ln w="12700">
            <a:solidFill>
              <a:srgbClr val="FFFFFF"/>
            </a:solidFill>
            <a:prstDash val="solid"/>
          </a:ln>
        </p:spPr>
        <p:txBody>
          <a:bodyPr/>
          <a:lstStyle/>
          <a:p>
            <a:endParaRPr lang="en-US"/>
          </a:p>
        </p:txBody>
      </p:sp>
      <p:sp>
        <p:nvSpPr>
          <p:cNvPr id="28" name="Text 26"/>
          <p:cNvSpPr/>
          <p:nvPr/>
        </p:nvSpPr>
        <p:spPr>
          <a:xfrm>
            <a:off x="4663440" y="2743200"/>
            <a:ext cx="1188720" cy="777240"/>
          </a:xfrm>
          <a:prstGeom prst="rect">
            <a:avLst/>
          </a:prstGeom>
          <a:noFill/>
          <a:ln/>
        </p:spPr>
        <p:txBody>
          <a:bodyPr wrap="square" rtlCol="0" anchor="ctr"/>
          <a:lstStyle/>
          <a:p>
            <a:pPr marL="0" indent="0" algn="ctr">
              <a:buNone/>
            </a:pPr>
            <a:r>
              <a:rPr lang="en-US" sz="1800" dirty="0">
                <a:solidFill>
                  <a:srgbClr val="1A2E3B"/>
                </a:solidFill>
                <a:latin typeface="Calibri" pitchFamily="34" charset="0"/>
                <a:ea typeface="Calibri" pitchFamily="34" charset="-122"/>
                <a:cs typeface="Calibri" pitchFamily="34" charset="-120"/>
              </a:rPr>
              <a:t>-0.01</a:t>
            </a:r>
            <a:endParaRPr lang="en-US" sz="1800" dirty="0"/>
          </a:p>
        </p:txBody>
      </p:sp>
      <p:sp>
        <p:nvSpPr>
          <p:cNvPr id="29" name="Shape 27"/>
          <p:cNvSpPr/>
          <p:nvPr/>
        </p:nvSpPr>
        <p:spPr>
          <a:xfrm>
            <a:off x="457200" y="3520440"/>
            <a:ext cx="1371600" cy="777240"/>
          </a:xfrm>
          <a:prstGeom prst="rect">
            <a:avLst/>
          </a:prstGeom>
          <a:solidFill>
            <a:srgbClr val="0D1B2A"/>
          </a:solidFill>
          <a:ln w="12700">
            <a:solidFill>
              <a:srgbClr val="FFFFFF"/>
            </a:solidFill>
            <a:prstDash val="solid"/>
          </a:ln>
        </p:spPr>
        <p:txBody>
          <a:bodyPr/>
          <a:lstStyle/>
          <a:p>
            <a:endParaRPr lang="en-US"/>
          </a:p>
        </p:txBody>
      </p:sp>
      <p:sp>
        <p:nvSpPr>
          <p:cNvPr id="30" name="Text 28"/>
          <p:cNvSpPr/>
          <p:nvPr/>
        </p:nvSpPr>
        <p:spPr>
          <a:xfrm>
            <a:off x="548640" y="3520440"/>
            <a:ext cx="1188720" cy="7772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Loss of Eye</a:t>
            </a:r>
            <a:endParaRPr lang="en-US" sz="1200" dirty="0"/>
          </a:p>
        </p:txBody>
      </p:sp>
      <p:sp>
        <p:nvSpPr>
          <p:cNvPr id="31" name="Shape 29"/>
          <p:cNvSpPr/>
          <p:nvPr/>
        </p:nvSpPr>
        <p:spPr>
          <a:xfrm>
            <a:off x="1828800" y="3520440"/>
            <a:ext cx="1371600" cy="777240"/>
          </a:xfrm>
          <a:prstGeom prst="rect">
            <a:avLst/>
          </a:prstGeom>
          <a:solidFill>
            <a:srgbClr val="D6E8F5"/>
          </a:solidFill>
          <a:ln w="12700">
            <a:solidFill>
              <a:srgbClr val="FFFFFF"/>
            </a:solidFill>
            <a:prstDash val="solid"/>
          </a:ln>
        </p:spPr>
        <p:txBody>
          <a:bodyPr/>
          <a:lstStyle/>
          <a:p>
            <a:endParaRPr lang="en-US"/>
          </a:p>
        </p:txBody>
      </p:sp>
      <p:sp>
        <p:nvSpPr>
          <p:cNvPr id="32" name="Text 30"/>
          <p:cNvSpPr/>
          <p:nvPr/>
        </p:nvSpPr>
        <p:spPr>
          <a:xfrm>
            <a:off x="1920240" y="3520440"/>
            <a:ext cx="1188720" cy="777240"/>
          </a:xfrm>
          <a:prstGeom prst="rect">
            <a:avLst/>
          </a:prstGeom>
          <a:noFill/>
          <a:ln/>
        </p:spPr>
        <p:txBody>
          <a:bodyPr wrap="square" rtlCol="0" anchor="ctr"/>
          <a:lstStyle/>
          <a:p>
            <a:pPr marL="0" indent="0" algn="ctr">
              <a:buNone/>
            </a:pPr>
            <a:r>
              <a:rPr lang="en-US" sz="1800" dirty="0">
                <a:solidFill>
                  <a:srgbClr val="1A2E3B"/>
                </a:solidFill>
                <a:latin typeface="Calibri" pitchFamily="34" charset="0"/>
                <a:ea typeface="Calibri" pitchFamily="34" charset="-122"/>
                <a:cs typeface="Calibri" pitchFamily="34" charset="-120"/>
              </a:rPr>
              <a:t>-0.00</a:t>
            </a:r>
            <a:endParaRPr lang="en-US" sz="1800" dirty="0"/>
          </a:p>
        </p:txBody>
      </p:sp>
      <p:sp>
        <p:nvSpPr>
          <p:cNvPr id="33" name="Shape 31"/>
          <p:cNvSpPr/>
          <p:nvPr/>
        </p:nvSpPr>
        <p:spPr>
          <a:xfrm>
            <a:off x="3200400" y="3520440"/>
            <a:ext cx="1371600" cy="777240"/>
          </a:xfrm>
          <a:prstGeom prst="rect">
            <a:avLst/>
          </a:prstGeom>
          <a:solidFill>
            <a:srgbClr val="D6E8F5"/>
          </a:solidFill>
          <a:ln w="12700">
            <a:solidFill>
              <a:srgbClr val="FFFFFF"/>
            </a:solidFill>
            <a:prstDash val="solid"/>
          </a:ln>
        </p:spPr>
        <p:txBody>
          <a:bodyPr/>
          <a:lstStyle/>
          <a:p>
            <a:endParaRPr lang="en-US"/>
          </a:p>
        </p:txBody>
      </p:sp>
      <p:sp>
        <p:nvSpPr>
          <p:cNvPr id="34" name="Text 32"/>
          <p:cNvSpPr/>
          <p:nvPr/>
        </p:nvSpPr>
        <p:spPr>
          <a:xfrm>
            <a:off x="3291840" y="3520440"/>
            <a:ext cx="1188720" cy="777240"/>
          </a:xfrm>
          <a:prstGeom prst="rect">
            <a:avLst/>
          </a:prstGeom>
          <a:noFill/>
          <a:ln/>
        </p:spPr>
        <p:txBody>
          <a:bodyPr wrap="square" rtlCol="0" anchor="ctr"/>
          <a:lstStyle/>
          <a:p>
            <a:pPr marL="0" indent="0" algn="ctr">
              <a:buNone/>
            </a:pPr>
            <a:r>
              <a:rPr lang="en-US" sz="1800" dirty="0">
                <a:solidFill>
                  <a:srgbClr val="1A2E3B"/>
                </a:solidFill>
                <a:latin typeface="Calibri" pitchFamily="34" charset="0"/>
                <a:ea typeface="Calibri" pitchFamily="34" charset="-122"/>
                <a:cs typeface="Calibri" pitchFamily="34" charset="-120"/>
              </a:rPr>
              <a:t>-0.01</a:t>
            </a:r>
            <a:endParaRPr lang="en-US" sz="1800" dirty="0"/>
          </a:p>
        </p:txBody>
      </p:sp>
      <p:sp>
        <p:nvSpPr>
          <p:cNvPr id="35" name="Shape 33"/>
          <p:cNvSpPr/>
          <p:nvPr/>
        </p:nvSpPr>
        <p:spPr>
          <a:xfrm>
            <a:off x="4572000" y="3520440"/>
            <a:ext cx="1371600" cy="777240"/>
          </a:xfrm>
          <a:prstGeom prst="rect">
            <a:avLst/>
          </a:prstGeom>
          <a:solidFill>
            <a:srgbClr val="B03A2E"/>
          </a:solidFill>
          <a:ln w="12700">
            <a:solidFill>
              <a:srgbClr val="FFFFFF"/>
            </a:solidFill>
            <a:prstDash val="solid"/>
          </a:ln>
        </p:spPr>
        <p:txBody>
          <a:bodyPr/>
          <a:lstStyle/>
          <a:p>
            <a:endParaRPr lang="en-US"/>
          </a:p>
        </p:txBody>
      </p:sp>
      <p:sp>
        <p:nvSpPr>
          <p:cNvPr id="36" name="Text 34"/>
          <p:cNvSpPr/>
          <p:nvPr/>
        </p:nvSpPr>
        <p:spPr>
          <a:xfrm>
            <a:off x="4663440" y="3520440"/>
            <a:ext cx="1188720" cy="7772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1.00</a:t>
            </a:r>
            <a:endParaRPr lang="en-US" sz="1800" dirty="0"/>
          </a:p>
        </p:txBody>
      </p:sp>
      <p:sp>
        <p:nvSpPr>
          <p:cNvPr id="37" name="Shape 35"/>
          <p:cNvSpPr/>
          <p:nvPr/>
        </p:nvSpPr>
        <p:spPr>
          <a:xfrm>
            <a:off x="457200" y="4389120"/>
            <a:ext cx="320040" cy="320040"/>
          </a:xfrm>
          <a:prstGeom prst="rect">
            <a:avLst/>
          </a:prstGeom>
          <a:solidFill>
            <a:srgbClr val="B03A2E"/>
          </a:solidFill>
          <a:ln w="12700">
            <a:solidFill>
              <a:srgbClr val="B03A2E"/>
            </a:solidFill>
            <a:prstDash val="solid"/>
          </a:ln>
        </p:spPr>
        <p:txBody>
          <a:bodyPr/>
          <a:lstStyle/>
          <a:p>
            <a:endParaRPr lang="en-US"/>
          </a:p>
        </p:txBody>
      </p:sp>
      <p:sp>
        <p:nvSpPr>
          <p:cNvPr id="38" name="Text 36"/>
          <p:cNvSpPr/>
          <p:nvPr/>
        </p:nvSpPr>
        <p:spPr>
          <a:xfrm>
            <a:off x="868680" y="4389120"/>
            <a:ext cx="3200400" cy="320040"/>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Strong positive correlation</a:t>
            </a:r>
            <a:endParaRPr lang="en-US" sz="1100" dirty="0"/>
          </a:p>
        </p:txBody>
      </p:sp>
      <p:sp>
        <p:nvSpPr>
          <p:cNvPr id="39" name="Shape 37"/>
          <p:cNvSpPr/>
          <p:nvPr/>
        </p:nvSpPr>
        <p:spPr>
          <a:xfrm>
            <a:off x="457200" y="4800600"/>
            <a:ext cx="320040" cy="320040"/>
          </a:xfrm>
          <a:prstGeom prst="rect">
            <a:avLst/>
          </a:prstGeom>
          <a:solidFill>
            <a:srgbClr val="3B82C4"/>
          </a:solidFill>
          <a:ln w="12700">
            <a:solidFill>
              <a:srgbClr val="3B82C4"/>
            </a:solidFill>
            <a:prstDash val="solid"/>
          </a:ln>
        </p:spPr>
        <p:txBody>
          <a:bodyPr/>
          <a:lstStyle/>
          <a:p>
            <a:endParaRPr lang="en-US"/>
          </a:p>
        </p:txBody>
      </p:sp>
      <p:sp>
        <p:nvSpPr>
          <p:cNvPr id="40" name="Text 38"/>
          <p:cNvSpPr/>
          <p:nvPr/>
        </p:nvSpPr>
        <p:spPr>
          <a:xfrm>
            <a:off x="868680" y="4800600"/>
            <a:ext cx="3200400" cy="320040"/>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Strong negative correlation</a:t>
            </a:r>
            <a:endParaRPr lang="en-US" sz="1100" dirty="0"/>
          </a:p>
        </p:txBody>
      </p:sp>
      <p:sp>
        <p:nvSpPr>
          <p:cNvPr id="41" name="Shape 39"/>
          <p:cNvSpPr/>
          <p:nvPr/>
        </p:nvSpPr>
        <p:spPr>
          <a:xfrm>
            <a:off x="457200" y="5212080"/>
            <a:ext cx="320040" cy="320040"/>
          </a:xfrm>
          <a:prstGeom prst="rect">
            <a:avLst/>
          </a:prstGeom>
          <a:solidFill>
            <a:srgbClr val="D6E8F5"/>
          </a:solidFill>
          <a:ln w="12700">
            <a:solidFill>
              <a:srgbClr val="D6E8F5"/>
            </a:solidFill>
            <a:prstDash val="solid"/>
          </a:ln>
        </p:spPr>
        <p:txBody>
          <a:bodyPr/>
          <a:lstStyle/>
          <a:p>
            <a:endParaRPr lang="en-US"/>
          </a:p>
        </p:txBody>
      </p:sp>
      <p:sp>
        <p:nvSpPr>
          <p:cNvPr id="42" name="Text 40"/>
          <p:cNvSpPr/>
          <p:nvPr/>
        </p:nvSpPr>
        <p:spPr>
          <a:xfrm>
            <a:off x="868680" y="5212080"/>
            <a:ext cx="3200400" cy="320040"/>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No meaningful correlation</a:t>
            </a:r>
            <a:endParaRPr lang="en-US" sz="1100" dirty="0"/>
          </a:p>
        </p:txBody>
      </p:sp>
      <p:sp>
        <p:nvSpPr>
          <p:cNvPr id="43" name="Text 41"/>
          <p:cNvSpPr/>
          <p:nvPr/>
        </p:nvSpPr>
        <p:spPr>
          <a:xfrm>
            <a:off x="6217920" y="1188720"/>
            <a:ext cx="5486400" cy="411480"/>
          </a:xfrm>
          <a:prstGeom prst="rect">
            <a:avLst/>
          </a:prstGeom>
          <a:noFill/>
          <a:ln/>
        </p:spPr>
        <p:txBody>
          <a:bodyPr wrap="square" rtlCol="0" anchor="ctr"/>
          <a:lstStyle/>
          <a:p>
            <a:pPr marL="0" indent="0">
              <a:buNone/>
            </a:pPr>
            <a:r>
              <a:rPr lang="en-US" sz="1600" b="1" dirty="0">
                <a:solidFill>
                  <a:srgbClr val="0D1B2A"/>
                </a:solidFill>
                <a:latin typeface="Calibri" pitchFamily="34" charset="0"/>
                <a:ea typeface="Calibri" pitchFamily="34" charset="-122"/>
                <a:cs typeface="Calibri" pitchFamily="34" charset="-120"/>
              </a:rPr>
              <a:t>What does -0.79 mean?</a:t>
            </a:r>
            <a:endParaRPr lang="en-US" sz="1600" dirty="0"/>
          </a:p>
        </p:txBody>
      </p:sp>
      <p:sp>
        <p:nvSpPr>
          <p:cNvPr id="44" name="Shape 42"/>
          <p:cNvSpPr/>
          <p:nvPr/>
        </p:nvSpPr>
        <p:spPr>
          <a:xfrm>
            <a:off x="6217920" y="1691640"/>
            <a:ext cx="5486400" cy="1097280"/>
          </a:xfrm>
          <a:prstGeom prst="rect">
            <a:avLst/>
          </a:prstGeom>
          <a:solidFill>
            <a:srgbClr val="F7F9FB"/>
          </a:solidFill>
          <a:ln w="12700">
            <a:solidFill>
              <a:srgbClr val="D6E8F5"/>
            </a:solidFill>
            <a:prstDash val="solid"/>
          </a:ln>
        </p:spPr>
        <p:txBody>
          <a:bodyPr/>
          <a:lstStyle/>
          <a:p>
            <a:endParaRPr lang="en-US"/>
          </a:p>
        </p:txBody>
      </p:sp>
      <p:sp>
        <p:nvSpPr>
          <p:cNvPr id="45" name="Text 43"/>
          <p:cNvSpPr/>
          <p:nvPr/>
        </p:nvSpPr>
        <p:spPr>
          <a:xfrm>
            <a:off x="6400800" y="1755648"/>
            <a:ext cx="5120640" cy="347472"/>
          </a:xfrm>
          <a:prstGeom prst="rect">
            <a:avLst/>
          </a:prstGeom>
          <a:noFill/>
          <a:ln/>
        </p:spPr>
        <p:txBody>
          <a:bodyPr wrap="square" rtlCol="0" anchor="ctr"/>
          <a:lstStyle/>
          <a:p>
            <a:pPr marL="0" indent="0">
              <a:buNone/>
            </a:pPr>
            <a:r>
              <a:rPr lang="en-US" sz="1200" b="1" dirty="0">
                <a:solidFill>
                  <a:srgbClr val="1B4F72"/>
                </a:solidFill>
                <a:latin typeface="Calibri" pitchFamily="34" charset="0"/>
                <a:ea typeface="Calibri" pitchFamily="34" charset="-122"/>
                <a:cs typeface="Calibri" pitchFamily="34" charset="-120"/>
              </a:rPr>
              <a:t>Strong Negative Correlation (-0.79)</a:t>
            </a:r>
            <a:endParaRPr lang="en-US" sz="1200" dirty="0"/>
          </a:p>
        </p:txBody>
      </p:sp>
      <p:sp>
        <p:nvSpPr>
          <p:cNvPr id="46" name="Text 44"/>
          <p:cNvSpPr/>
          <p:nvPr/>
        </p:nvSpPr>
        <p:spPr>
          <a:xfrm>
            <a:off x="6400800" y="2103120"/>
            <a:ext cx="5120640" cy="566928"/>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Incidents resulting in hospitalization are generally NOT the same incidents that result in amputation </a:t>
            </a:r>
            <a:r>
              <a:rPr lang="en-US" sz="1100">
                <a:solidFill>
                  <a:srgbClr val="1A2E3B"/>
                </a:solidFill>
                <a:latin typeface="Calibri" pitchFamily="34" charset="0"/>
                <a:ea typeface="Calibri" pitchFamily="34" charset="-122"/>
                <a:cs typeface="Calibri" pitchFamily="34" charset="-120"/>
              </a:rPr>
              <a:t>-</a:t>
            </a:r>
            <a:r>
              <a:rPr lang="en-US" sz="1100" dirty="0">
                <a:solidFill>
                  <a:srgbClr val="1A2E3B"/>
                </a:solidFill>
                <a:latin typeface="Calibri" pitchFamily="34" charset="0"/>
                <a:ea typeface="Calibri" pitchFamily="34" charset="-122"/>
                <a:cs typeface="Calibri" pitchFamily="34" charset="-120"/>
              </a:rPr>
              <a:t> and vice versa.</a:t>
            </a:r>
            <a:endParaRPr lang="en-US" sz="1100" dirty="0"/>
          </a:p>
        </p:txBody>
      </p:sp>
      <p:sp>
        <p:nvSpPr>
          <p:cNvPr id="47" name="Shape 45"/>
          <p:cNvSpPr/>
          <p:nvPr/>
        </p:nvSpPr>
        <p:spPr>
          <a:xfrm>
            <a:off x="6217920" y="2926080"/>
            <a:ext cx="5486400" cy="1097280"/>
          </a:xfrm>
          <a:prstGeom prst="rect">
            <a:avLst/>
          </a:prstGeom>
          <a:solidFill>
            <a:srgbClr val="F7F9FB"/>
          </a:solidFill>
          <a:ln w="12700">
            <a:solidFill>
              <a:srgbClr val="D6E8F5"/>
            </a:solidFill>
            <a:prstDash val="solid"/>
          </a:ln>
        </p:spPr>
        <p:txBody>
          <a:bodyPr/>
          <a:lstStyle/>
          <a:p>
            <a:endParaRPr lang="en-US"/>
          </a:p>
        </p:txBody>
      </p:sp>
      <p:sp>
        <p:nvSpPr>
          <p:cNvPr id="48" name="Text 46"/>
          <p:cNvSpPr/>
          <p:nvPr/>
        </p:nvSpPr>
        <p:spPr>
          <a:xfrm>
            <a:off x="6400800" y="2990088"/>
            <a:ext cx="5120640" cy="347472"/>
          </a:xfrm>
          <a:prstGeom prst="rect">
            <a:avLst/>
          </a:prstGeom>
          <a:noFill/>
          <a:ln/>
        </p:spPr>
        <p:txBody>
          <a:bodyPr wrap="square" rtlCol="0" anchor="ctr"/>
          <a:lstStyle/>
          <a:p>
            <a:pPr marL="0" indent="0">
              <a:buNone/>
            </a:pPr>
            <a:r>
              <a:rPr lang="en-US" sz="1200" b="1" dirty="0">
                <a:solidFill>
                  <a:srgbClr val="1B4F72"/>
                </a:solidFill>
                <a:latin typeface="Calibri" pitchFamily="34" charset="0"/>
                <a:ea typeface="Calibri" pitchFamily="34" charset="-122"/>
                <a:cs typeface="Calibri" pitchFamily="34" charset="-120"/>
              </a:rPr>
              <a:t>Mutually Exclusive Outcomes</a:t>
            </a:r>
            <a:endParaRPr lang="en-US" sz="1200" dirty="0"/>
          </a:p>
        </p:txBody>
      </p:sp>
      <p:sp>
        <p:nvSpPr>
          <p:cNvPr id="49" name="Text 47"/>
          <p:cNvSpPr/>
          <p:nvPr/>
        </p:nvSpPr>
        <p:spPr>
          <a:xfrm>
            <a:off x="6400800" y="3337560"/>
            <a:ext cx="5120640" cy="566928"/>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OSHA classifies these as distinct injury types. A worker is typically coded under one outcome or the other </a:t>
            </a:r>
            <a:r>
              <a:rPr lang="en-US" sz="1100">
                <a:solidFill>
                  <a:srgbClr val="1A2E3B"/>
                </a:solidFill>
                <a:latin typeface="Calibri" pitchFamily="34" charset="0"/>
                <a:ea typeface="Calibri" pitchFamily="34" charset="-122"/>
                <a:cs typeface="Calibri" pitchFamily="34" charset="-120"/>
              </a:rPr>
              <a:t>-</a:t>
            </a:r>
            <a:r>
              <a:rPr lang="en-US" sz="1100" dirty="0">
                <a:solidFill>
                  <a:srgbClr val="1A2E3B"/>
                </a:solidFill>
                <a:latin typeface="Calibri" pitchFamily="34" charset="0"/>
                <a:ea typeface="Calibri" pitchFamily="34" charset="-122"/>
                <a:cs typeface="Calibri" pitchFamily="34" charset="-120"/>
              </a:rPr>
              <a:t> not both.</a:t>
            </a:r>
            <a:endParaRPr lang="en-US" sz="1100" dirty="0"/>
          </a:p>
        </p:txBody>
      </p:sp>
      <p:sp>
        <p:nvSpPr>
          <p:cNvPr id="50" name="Shape 48"/>
          <p:cNvSpPr/>
          <p:nvPr/>
        </p:nvSpPr>
        <p:spPr>
          <a:xfrm>
            <a:off x="6217920" y="4160520"/>
            <a:ext cx="5486400" cy="1097280"/>
          </a:xfrm>
          <a:prstGeom prst="rect">
            <a:avLst/>
          </a:prstGeom>
          <a:solidFill>
            <a:srgbClr val="F7F9FB"/>
          </a:solidFill>
          <a:ln w="12700">
            <a:solidFill>
              <a:srgbClr val="D6E8F5"/>
            </a:solidFill>
            <a:prstDash val="solid"/>
          </a:ln>
        </p:spPr>
        <p:txBody>
          <a:bodyPr/>
          <a:lstStyle/>
          <a:p>
            <a:endParaRPr lang="en-US"/>
          </a:p>
        </p:txBody>
      </p:sp>
      <p:sp>
        <p:nvSpPr>
          <p:cNvPr id="51" name="Text 49"/>
          <p:cNvSpPr/>
          <p:nvPr/>
        </p:nvSpPr>
        <p:spPr>
          <a:xfrm>
            <a:off x="6400800" y="4224528"/>
            <a:ext cx="5120640" cy="347472"/>
          </a:xfrm>
          <a:prstGeom prst="rect">
            <a:avLst/>
          </a:prstGeom>
          <a:noFill/>
          <a:ln/>
        </p:spPr>
        <p:txBody>
          <a:bodyPr wrap="square" rtlCol="0" anchor="ctr"/>
          <a:lstStyle/>
          <a:p>
            <a:pPr marL="0" indent="0">
              <a:buNone/>
            </a:pPr>
            <a:r>
              <a:rPr lang="en-US" sz="1200" b="1" dirty="0">
                <a:solidFill>
                  <a:srgbClr val="1B4F72"/>
                </a:solidFill>
                <a:latin typeface="Calibri" pitchFamily="34" charset="0"/>
                <a:ea typeface="Calibri" pitchFamily="34" charset="-122"/>
                <a:cs typeface="Calibri" pitchFamily="34" charset="-120"/>
              </a:rPr>
              <a:t>Different Injury Mechanisms</a:t>
            </a:r>
            <a:endParaRPr lang="en-US" sz="1200" dirty="0"/>
          </a:p>
        </p:txBody>
      </p:sp>
      <p:sp>
        <p:nvSpPr>
          <p:cNvPr id="52" name="Text 50"/>
          <p:cNvSpPr/>
          <p:nvPr/>
        </p:nvSpPr>
        <p:spPr>
          <a:xfrm>
            <a:off x="6400800" y="4572000"/>
            <a:ext cx="5120640" cy="566928"/>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Amputations may be treated and released without extended hospital stay, while hospitalizations often involve fractures, burns, or crush injuries.</a:t>
            </a:r>
            <a:endParaRPr lang="en-US" sz="1100" dirty="0"/>
          </a:p>
        </p:txBody>
      </p:sp>
      <p:sp>
        <p:nvSpPr>
          <p:cNvPr id="53" name="Shape 51"/>
          <p:cNvSpPr/>
          <p:nvPr/>
        </p:nvSpPr>
        <p:spPr>
          <a:xfrm>
            <a:off x="6217920" y="5394960"/>
            <a:ext cx="5486400" cy="1097280"/>
          </a:xfrm>
          <a:prstGeom prst="rect">
            <a:avLst/>
          </a:prstGeom>
          <a:solidFill>
            <a:srgbClr val="F7F9FB"/>
          </a:solidFill>
          <a:ln w="12700">
            <a:solidFill>
              <a:srgbClr val="D6E8F5"/>
            </a:solidFill>
            <a:prstDash val="solid"/>
          </a:ln>
        </p:spPr>
        <p:txBody>
          <a:bodyPr/>
          <a:lstStyle/>
          <a:p>
            <a:endParaRPr lang="en-US"/>
          </a:p>
        </p:txBody>
      </p:sp>
      <p:sp>
        <p:nvSpPr>
          <p:cNvPr id="54" name="Text 52"/>
          <p:cNvSpPr/>
          <p:nvPr/>
        </p:nvSpPr>
        <p:spPr>
          <a:xfrm>
            <a:off x="6400800" y="5458968"/>
            <a:ext cx="5120640" cy="347472"/>
          </a:xfrm>
          <a:prstGeom prst="rect">
            <a:avLst/>
          </a:prstGeom>
          <a:noFill/>
          <a:ln/>
        </p:spPr>
        <p:txBody>
          <a:bodyPr wrap="square" rtlCol="0" anchor="ctr"/>
          <a:lstStyle/>
          <a:p>
            <a:pPr marL="0" indent="0">
              <a:buNone/>
            </a:pPr>
            <a:r>
              <a:rPr lang="en-US" sz="1200" b="1" dirty="0">
                <a:solidFill>
                  <a:srgbClr val="1B4F72"/>
                </a:solidFill>
                <a:latin typeface="Calibri" pitchFamily="34" charset="0"/>
                <a:ea typeface="Calibri" pitchFamily="34" charset="-122"/>
                <a:cs typeface="Calibri" pitchFamily="34" charset="-120"/>
              </a:rPr>
              <a:t>Loss of Eye </a:t>
            </a:r>
            <a:r>
              <a:rPr lang="en-US" sz="1200" b="1">
                <a:solidFill>
                  <a:srgbClr val="1B4F72"/>
                </a:solidFill>
                <a:latin typeface="Calibri" pitchFamily="34" charset="0"/>
                <a:ea typeface="Calibri" pitchFamily="34" charset="-122"/>
                <a:cs typeface="Calibri" pitchFamily="34" charset="-120"/>
              </a:rPr>
              <a:t>-</a:t>
            </a:r>
            <a:r>
              <a:rPr lang="en-US" sz="1200" b="1" dirty="0">
                <a:solidFill>
                  <a:srgbClr val="1B4F72"/>
                </a:solidFill>
                <a:latin typeface="Calibri" pitchFamily="34" charset="0"/>
                <a:ea typeface="Calibri" pitchFamily="34" charset="-122"/>
                <a:cs typeface="Calibri" pitchFamily="34" charset="-120"/>
              </a:rPr>
              <a:t> No Correlation</a:t>
            </a:r>
            <a:endParaRPr lang="en-US" sz="1200" dirty="0"/>
          </a:p>
        </p:txBody>
      </p:sp>
      <p:sp>
        <p:nvSpPr>
          <p:cNvPr id="55" name="Text 53"/>
          <p:cNvSpPr/>
          <p:nvPr/>
        </p:nvSpPr>
        <p:spPr>
          <a:xfrm>
            <a:off x="6400800" y="5806440"/>
            <a:ext cx="5120640" cy="566928"/>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Loss of Eye shows virtually zero correlation with either outcome (-0.00 and -0.01), confirming it occurs independently.</a:t>
            </a:r>
            <a:endParaRPr lang="en-US" sz="1100" dirty="0"/>
          </a:p>
        </p:txBody>
      </p:sp>
      <p:sp>
        <p:nvSpPr>
          <p:cNvPr id="56" name="Text 54"/>
          <p:cNvSpPr/>
          <p:nvPr/>
        </p:nvSpPr>
        <p:spPr>
          <a:xfrm>
            <a:off x="0" y="6492240"/>
            <a:ext cx="12192000" cy="32004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OSHA Severe Injury Report Analysis  |  Mary Becker  |  Data Analytics Capstone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0D1B2A"/>
          </a:solidFill>
          <a:ln/>
        </p:spPr>
        <p:txBody>
          <a:bodyPr/>
          <a:lstStyle/>
          <a:p>
            <a:endParaRPr lang="en-US"/>
          </a:p>
        </p:txBody>
      </p:sp>
      <p:sp>
        <p:nvSpPr>
          <p:cNvPr id="3" name="Text 1"/>
          <p:cNvSpPr/>
          <p:nvPr/>
        </p:nvSpPr>
        <p:spPr>
          <a:xfrm>
            <a:off x="365760" y="73152"/>
            <a:ext cx="91440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Key Findings </a:t>
            </a:r>
            <a:r>
              <a:rPr lang="en-US" sz="2800" b="1">
                <a:solidFill>
                  <a:srgbClr val="FFFFFF"/>
                </a:solidFill>
                <a:latin typeface="Calibri" pitchFamily="34" charset="0"/>
                <a:ea typeface="Calibri" pitchFamily="34" charset="-122"/>
                <a:cs typeface="Calibri" pitchFamily="34" charset="-120"/>
              </a:rPr>
              <a:t>-</a:t>
            </a:r>
            <a:r>
              <a:rPr lang="en-US" sz="2800" b="1" dirty="0">
                <a:solidFill>
                  <a:srgbClr val="FFFFFF"/>
                </a:solidFill>
                <a:latin typeface="Calibri" pitchFamily="34" charset="0"/>
                <a:ea typeface="Calibri" pitchFamily="34" charset="-122"/>
                <a:cs typeface="Calibri" pitchFamily="34" charset="-120"/>
              </a:rPr>
              <a:t> Industry &amp; Geography</a:t>
            </a:r>
            <a:endParaRPr lang="en-US" sz="2800" dirty="0"/>
          </a:p>
        </p:txBody>
      </p:sp>
      <p:sp>
        <p:nvSpPr>
          <p:cNvPr id="4" name="Text 2"/>
          <p:cNvSpPr/>
          <p:nvPr/>
        </p:nvSpPr>
        <p:spPr>
          <a:xfrm>
            <a:off x="365760" y="594360"/>
            <a:ext cx="9144000" cy="347472"/>
          </a:xfrm>
          <a:prstGeom prst="rect">
            <a:avLst/>
          </a:prstGeom>
          <a:noFill/>
          <a:ln/>
        </p:spPr>
        <p:txBody>
          <a:bodyPr wrap="square" rtlCol="0" anchor="t"/>
          <a:lstStyle/>
          <a:p>
            <a:pPr marL="0" indent="0">
              <a:buNone/>
            </a:pPr>
            <a:r>
              <a:rPr lang="en-US" sz="1300" dirty="0">
                <a:solidFill>
                  <a:srgbClr val="D6E8F5"/>
                </a:solidFill>
                <a:latin typeface="Calibri" pitchFamily="34" charset="0"/>
                <a:ea typeface="Calibri" pitchFamily="34" charset="-122"/>
                <a:cs typeface="Calibri" pitchFamily="34" charset="-120"/>
              </a:rPr>
              <a:t>Where severe injuries are concentrated</a:t>
            </a:r>
            <a:endParaRPr lang="en-US" sz="1300" dirty="0"/>
          </a:p>
        </p:txBody>
      </p:sp>
      <p:sp>
        <p:nvSpPr>
          <p:cNvPr id="5" name="Text 3"/>
          <p:cNvSpPr/>
          <p:nvPr/>
        </p:nvSpPr>
        <p:spPr>
          <a:xfrm>
            <a:off x="365760" y="1188720"/>
            <a:ext cx="5669280" cy="365760"/>
          </a:xfrm>
          <a:prstGeom prst="rect">
            <a:avLst/>
          </a:prstGeom>
          <a:noFill/>
          <a:ln/>
        </p:spPr>
        <p:txBody>
          <a:bodyPr wrap="square" rtlCol="0" anchor="ctr"/>
          <a:lstStyle/>
          <a:p>
            <a:pPr marL="0" indent="0">
              <a:buNone/>
            </a:pPr>
            <a:r>
              <a:rPr lang="en-US" sz="1500" b="1" dirty="0">
                <a:solidFill>
                  <a:srgbClr val="0D1B2A"/>
                </a:solidFill>
                <a:latin typeface="Calibri" pitchFamily="34" charset="0"/>
                <a:ea typeface="Calibri" pitchFamily="34" charset="-122"/>
                <a:cs typeface="Calibri" pitchFamily="34" charset="-120"/>
              </a:rPr>
              <a:t>Top Industries by Hospitalizations</a:t>
            </a:r>
            <a:endParaRPr lang="en-US" sz="1500" dirty="0"/>
          </a:p>
        </p:txBody>
      </p:sp>
      <p:sp>
        <p:nvSpPr>
          <p:cNvPr id="6" name="Text 4"/>
          <p:cNvSpPr/>
          <p:nvPr/>
        </p:nvSpPr>
        <p:spPr>
          <a:xfrm>
            <a:off x="365760" y="1664208"/>
            <a:ext cx="3840480" cy="320040"/>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General Medical &amp; Surgical Hospitals</a:t>
            </a:r>
            <a:endParaRPr lang="en-US" sz="1100" dirty="0"/>
          </a:p>
        </p:txBody>
      </p:sp>
      <p:sp>
        <p:nvSpPr>
          <p:cNvPr id="7" name="Shape 5"/>
          <p:cNvSpPr/>
          <p:nvPr/>
        </p:nvSpPr>
        <p:spPr>
          <a:xfrm>
            <a:off x="4251960" y="1709928"/>
            <a:ext cx="1280160" cy="256032"/>
          </a:xfrm>
          <a:prstGeom prst="rect">
            <a:avLst/>
          </a:prstGeom>
          <a:solidFill>
            <a:srgbClr val="D6E8F5"/>
          </a:solidFill>
          <a:ln w="12700">
            <a:solidFill>
              <a:srgbClr val="D6E8F5"/>
            </a:solidFill>
            <a:prstDash val="solid"/>
          </a:ln>
        </p:spPr>
        <p:txBody>
          <a:bodyPr/>
          <a:lstStyle/>
          <a:p>
            <a:endParaRPr lang="en-US"/>
          </a:p>
        </p:txBody>
      </p:sp>
      <p:sp>
        <p:nvSpPr>
          <p:cNvPr id="8" name="Shape 6"/>
          <p:cNvSpPr/>
          <p:nvPr/>
        </p:nvSpPr>
        <p:spPr>
          <a:xfrm>
            <a:off x="4251960" y="1709928"/>
            <a:ext cx="1280160" cy="256032"/>
          </a:xfrm>
          <a:prstGeom prst="rect">
            <a:avLst/>
          </a:prstGeom>
          <a:solidFill>
            <a:srgbClr val="2E86AB"/>
          </a:solidFill>
          <a:ln w="12700">
            <a:solidFill>
              <a:srgbClr val="2E86AB"/>
            </a:solidFill>
            <a:prstDash val="solid"/>
          </a:ln>
        </p:spPr>
        <p:txBody>
          <a:bodyPr/>
          <a:lstStyle/>
          <a:p>
            <a:endParaRPr lang="en-US"/>
          </a:p>
        </p:txBody>
      </p:sp>
      <p:sp>
        <p:nvSpPr>
          <p:cNvPr id="9" name="Text 7"/>
          <p:cNvSpPr/>
          <p:nvPr/>
        </p:nvSpPr>
        <p:spPr>
          <a:xfrm>
            <a:off x="5580000" y="1664208"/>
            <a:ext cx="640080" cy="320040"/>
          </a:xfrm>
          <a:prstGeom prst="rect">
            <a:avLst/>
          </a:prstGeom>
          <a:noFill/>
          <a:ln/>
        </p:spPr>
        <p:txBody>
          <a:bodyPr wrap="square" rtlCol="0" anchor="ctr"/>
          <a:lstStyle/>
          <a:p>
            <a:pPr marL="0" indent="0" algn="r">
              <a:buNone/>
            </a:pPr>
            <a:r>
              <a:rPr lang="en-US" sz="1100" b="1" dirty="0">
                <a:solidFill>
                  <a:srgbClr val="1B4F72"/>
                </a:solidFill>
                <a:latin typeface="Calibri" pitchFamily="34" charset="0"/>
                <a:ea typeface="Calibri" pitchFamily="34" charset="-122"/>
                <a:cs typeface="Calibri" pitchFamily="34" charset="-120"/>
              </a:rPr>
              <a:t>2,348</a:t>
            </a:r>
            <a:endParaRPr lang="en-US" sz="1100" dirty="0"/>
          </a:p>
        </p:txBody>
      </p:sp>
      <p:sp>
        <p:nvSpPr>
          <p:cNvPr id="10" name="Text 8"/>
          <p:cNvSpPr/>
          <p:nvPr/>
        </p:nvSpPr>
        <p:spPr>
          <a:xfrm>
            <a:off x="365760" y="2377440"/>
            <a:ext cx="3840480" cy="320040"/>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Electrical Contractors</a:t>
            </a:r>
            <a:endParaRPr lang="en-US" sz="1100" dirty="0"/>
          </a:p>
        </p:txBody>
      </p:sp>
      <p:sp>
        <p:nvSpPr>
          <p:cNvPr id="11" name="Shape 9"/>
          <p:cNvSpPr/>
          <p:nvPr/>
        </p:nvSpPr>
        <p:spPr>
          <a:xfrm>
            <a:off x="4251960" y="2423160"/>
            <a:ext cx="1280160" cy="256032"/>
          </a:xfrm>
          <a:prstGeom prst="rect">
            <a:avLst/>
          </a:prstGeom>
          <a:solidFill>
            <a:srgbClr val="D6E8F5"/>
          </a:solidFill>
          <a:ln w="12700">
            <a:solidFill>
              <a:srgbClr val="D6E8F5"/>
            </a:solidFill>
            <a:prstDash val="solid"/>
          </a:ln>
        </p:spPr>
        <p:txBody>
          <a:bodyPr/>
          <a:lstStyle/>
          <a:p>
            <a:endParaRPr lang="en-US"/>
          </a:p>
        </p:txBody>
      </p:sp>
      <p:sp>
        <p:nvSpPr>
          <p:cNvPr id="12" name="Shape 10"/>
          <p:cNvSpPr/>
          <p:nvPr/>
        </p:nvSpPr>
        <p:spPr>
          <a:xfrm>
            <a:off x="4251960" y="2423160"/>
            <a:ext cx="998524" cy="256032"/>
          </a:xfrm>
          <a:prstGeom prst="rect">
            <a:avLst/>
          </a:prstGeom>
          <a:solidFill>
            <a:srgbClr val="2E86AB"/>
          </a:solidFill>
          <a:ln w="12700">
            <a:solidFill>
              <a:srgbClr val="2E86AB"/>
            </a:solidFill>
            <a:prstDash val="solid"/>
          </a:ln>
        </p:spPr>
        <p:txBody>
          <a:bodyPr/>
          <a:lstStyle/>
          <a:p>
            <a:endParaRPr lang="en-US"/>
          </a:p>
        </p:txBody>
      </p:sp>
      <p:sp>
        <p:nvSpPr>
          <p:cNvPr id="13" name="Text 11"/>
          <p:cNvSpPr/>
          <p:nvPr/>
        </p:nvSpPr>
        <p:spPr>
          <a:xfrm>
            <a:off x="5580000" y="2377440"/>
            <a:ext cx="640080" cy="320040"/>
          </a:xfrm>
          <a:prstGeom prst="rect">
            <a:avLst/>
          </a:prstGeom>
          <a:noFill/>
          <a:ln/>
        </p:spPr>
        <p:txBody>
          <a:bodyPr wrap="square" rtlCol="0" anchor="ctr"/>
          <a:lstStyle/>
          <a:p>
            <a:pPr marL="0" indent="0" algn="r">
              <a:buNone/>
            </a:pPr>
            <a:r>
              <a:rPr lang="en-US" sz="1100" b="1" dirty="0">
                <a:solidFill>
                  <a:srgbClr val="1B4F72"/>
                </a:solidFill>
                <a:latin typeface="Calibri" pitchFamily="34" charset="0"/>
                <a:ea typeface="Calibri" pitchFamily="34" charset="-122"/>
                <a:cs typeface="Calibri" pitchFamily="34" charset="-120"/>
              </a:rPr>
              <a:t>1,839</a:t>
            </a:r>
            <a:endParaRPr lang="en-US" sz="1100" dirty="0"/>
          </a:p>
        </p:txBody>
      </p:sp>
      <p:sp>
        <p:nvSpPr>
          <p:cNvPr id="14" name="Text 12"/>
          <p:cNvSpPr/>
          <p:nvPr/>
        </p:nvSpPr>
        <p:spPr>
          <a:xfrm>
            <a:off x="365760" y="3090672"/>
            <a:ext cx="3840480" cy="320040"/>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Commercial &amp; Institutional Construction</a:t>
            </a:r>
            <a:endParaRPr lang="en-US" sz="1100" dirty="0"/>
          </a:p>
        </p:txBody>
      </p:sp>
      <p:sp>
        <p:nvSpPr>
          <p:cNvPr id="15" name="Shape 13"/>
          <p:cNvSpPr/>
          <p:nvPr/>
        </p:nvSpPr>
        <p:spPr>
          <a:xfrm>
            <a:off x="4251960" y="3136392"/>
            <a:ext cx="1280160" cy="256032"/>
          </a:xfrm>
          <a:prstGeom prst="rect">
            <a:avLst/>
          </a:prstGeom>
          <a:solidFill>
            <a:srgbClr val="D6E8F5"/>
          </a:solidFill>
          <a:ln w="12700">
            <a:solidFill>
              <a:srgbClr val="D6E8F5"/>
            </a:solidFill>
            <a:prstDash val="solid"/>
          </a:ln>
        </p:spPr>
        <p:txBody>
          <a:bodyPr/>
          <a:lstStyle/>
          <a:p>
            <a:endParaRPr lang="en-US"/>
          </a:p>
        </p:txBody>
      </p:sp>
      <p:sp>
        <p:nvSpPr>
          <p:cNvPr id="16" name="Shape 14"/>
          <p:cNvSpPr/>
          <p:nvPr/>
        </p:nvSpPr>
        <p:spPr>
          <a:xfrm>
            <a:off x="4251960" y="3136392"/>
            <a:ext cx="921715" cy="256032"/>
          </a:xfrm>
          <a:prstGeom prst="rect">
            <a:avLst/>
          </a:prstGeom>
          <a:solidFill>
            <a:srgbClr val="2E86AB"/>
          </a:solidFill>
          <a:ln w="12700">
            <a:solidFill>
              <a:srgbClr val="2E86AB"/>
            </a:solidFill>
            <a:prstDash val="solid"/>
          </a:ln>
        </p:spPr>
        <p:txBody>
          <a:bodyPr/>
          <a:lstStyle/>
          <a:p>
            <a:endParaRPr lang="en-US"/>
          </a:p>
        </p:txBody>
      </p:sp>
      <p:sp>
        <p:nvSpPr>
          <p:cNvPr id="17" name="Text 15"/>
          <p:cNvSpPr/>
          <p:nvPr/>
        </p:nvSpPr>
        <p:spPr>
          <a:xfrm>
            <a:off x="5580000" y="3090672"/>
            <a:ext cx="640080" cy="320040"/>
          </a:xfrm>
          <a:prstGeom prst="rect">
            <a:avLst/>
          </a:prstGeom>
          <a:noFill/>
          <a:ln/>
        </p:spPr>
        <p:txBody>
          <a:bodyPr wrap="square" rtlCol="0" anchor="ctr"/>
          <a:lstStyle/>
          <a:p>
            <a:pPr marL="0" indent="0" algn="r">
              <a:buNone/>
            </a:pPr>
            <a:r>
              <a:rPr lang="en-US" sz="1100" b="1" dirty="0">
                <a:solidFill>
                  <a:srgbClr val="1B4F72"/>
                </a:solidFill>
                <a:latin typeface="Calibri" pitchFamily="34" charset="0"/>
                <a:ea typeface="Calibri" pitchFamily="34" charset="-122"/>
                <a:cs typeface="Calibri" pitchFamily="34" charset="-120"/>
              </a:rPr>
              <a:t>1,700</a:t>
            </a:r>
            <a:endParaRPr lang="en-US" sz="1100" dirty="0"/>
          </a:p>
        </p:txBody>
      </p:sp>
      <p:sp>
        <p:nvSpPr>
          <p:cNvPr id="18" name="Text 16"/>
          <p:cNvSpPr/>
          <p:nvPr/>
        </p:nvSpPr>
        <p:spPr>
          <a:xfrm>
            <a:off x="365760" y="3803904"/>
            <a:ext cx="3840480" cy="320040"/>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Supermarkets &amp; Grocery Retailers</a:t>
            </a:r>
            <a:endParaRPr lang="en-US" sz="1100" dirty="0"/>
          </a:p>
        </p:txBody>
      </p:sp>
      <p:sp>
        <p:nvSpPr>
          <p:cNvPr id="19" name="Shape 17"/>
          <p:cNvSpPr/>
          <p:nvPr/>
        </p:nvSpPr>
        <p:spPr>
          <a:xfrm>
            <a:off x="4251960" y="3849624"/>
            <a:ext cx="1280160" cy="256032"/>
          </a:xfrm>
          <a:prstGeom prst="rect">
            <a:avLst/>
          </a:prstGeom>
          <a:solidFill>
            <a:srgbClr val="D6E8F5"/>
          </a:solidFill>
          <a:ln w="12700">
            <a:solidFill>
              <a:srgbClr val="D6E8F5"/>
            </a:solidFill>
            <a:prstDash val="solid"/>
          </a:ln>
        </p:spPr>
        <p:txBody>
          <a:bodyPr/>
          <a:lstStyle/>
          <a:p>
            <a:endParaRPr lang="en-US"/>
          </a:p>
        </p:txBody>
      </p:sp>
      <p:sp>
        <p:nvSpPr>
          <p:cNvPr id="20" name="Shape 18"/>
          <p:cNvSpPr/>
          <p:nvPr/>
        </p:nvSpPr>
        <p:spPr>
          <a:xfrm>
            <a:off x="4251960" y="3849624"/>
            <a:ext cx="921715" cy="256032"/>
          </a:xfrm>
          <a:prstGeom prst="rect">
            <a:avLst/>
          </a:prstGeom>
          <a:solidFill>
            <a:srgbClr val="2E86AB"/>
          </a:solidFill>
          <a:ln w="12700">
            <a:solidFill>
              <a:srgbClr val="2E86AB"/>
            </a:solidFill>
            <a:prstDash val="solid"/>
          </a:ln>
        </p:spPr>
        <p:txBody>
          <a:bodyPr/>
          <a:lstStyle/>
          <a:p>
            <a:endParaRPr lang="en-US"/>
          </a:p>
        </p:txBody>
      </p:sp>
      <p:sp>
        <p:nvSpPr>
          <p:cNvPr id="21" name="Text 19"/>
          <p:cNvSpPr/>
          <p:nvPr/>
        </p:nvSpPr>
        <p:spPr>
          <a:xfrm>
            <a:off x="5580000" y="3803904"/>
            <a:ext cx="640080" cy="320040"/>
          </a:xfrm>
          <a:prstGeom prst="rect">
            <a:avLst/>
          </a:prstGeom>
          <a:noFill/>
          <a:ln/>
        </p:spPr>
        <p:txBody>
          <a:bodyPr wrap="square" rtlCol="0" anchor="ctr"/>
          <a:lstStyle/>
          <a:p>
            <a:pPr marL="0" indent="0" algn="r">
              <a:buNone/>
            </a:pPr>
            <a:r>
              <a:rPr lang="en-US" sz="1100" b="1" dirty="0">
                <a:solidFill>
                  <a:srgbClr val="1B4F72"/>
                </a:solidFill>
                <a:latin typeface="Calibri" pitchFamily="34" charset="0"/>
                <a:ea typeface="Calibri" pitchFamily="34" charset="-122"/>
                <a:cs typeface="Calibri" pitchFamily="34" charset="-120"/>
              </a:rPr>
              <a:t>1,692</a:t>
            </a:r>
            <a:endParaRPr lang="en-US" sz="1100" dirty="0"/>
          </a:p>
        </p:txBody>
      </p:sp>
      <p:sp>
        <p:nvSpPr>
          <p:cNvPr id="22" name="Text 20"/>
          <p:cNvSpPr/>
          <p:nvPr/>
        </p:nvSpPr>
        <p:spPr>
          <a:xfrm>
            <a:off x="365760" y="4517136"/>
            <a:ext cx="3840480" cy="320040"/>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Support Activities for Oil &amp; Gas</a:t>
            </a:r>
            <a:endParaRPr lang="en-US" sz="1100" dirty="0"/>
          </a:p>
        </p:txBody>
      </p:sp>
      <p:sp>
        <p:nvSpPr>
          <p:cNvPr id="23" name="Shape 21"/>
          <p:cNvSpPr/>
          <p:nvPr/>
        </p:nvSpPr>
        <p:spPr>
          <a:xfrm>
            <a:off x="4251960" y="4562856"/>
            <a:ext cx="1280160" cy="256032"/>
          </a:xfrm>
          <a:prstGeom prst="rect">
            <a:avLst/>
          </a:prstGeom>
          <a:solidFill>
            <a:srgbClr val="D6E8F5"/>
          </a:solidFill>
          <a:ln w="12700">
            <a:solidFill>
              <a:srgbClr val="D6E8F5"/>
            </a:solidFill>
            <a:prstDash val="solid"/>
          </a:ln>
        </p:spPr>
        <p:txBody>
          <a:bodyPr/>
          <a:lstStyle/>
          <a:p>
            <a:endParaRPr lang="en-US"/>
          </a:p>
        </p:txBody>
      </p:sp>
      <p:sp>
        <p:nvSpPr>
          <p:cNvPr id="24" name="Shape 22"/>
          <p:cNvSpPr/>
          <p:nvPr/>
        </p:nvSpPr>
        <p:spPr>
          <a:xfrm>
            <a:off x="4251960" y="4562856"/>
            <a:ext cx="832104" cy="256032"/>
          </a:xfrm>
          <a:prstGeom prst="rect">
            <a:avLst/>
          </a:prstGeom>
          <a:solidFill>
            <a:srgbClr val="2E86AB"/>
          </a:solidFill>
          <a:ln w="12700">
            <a:solidFill>
              <a:srgbClr val="2E86AB"/>
            </a:solidFill>
            <a:prstDash val="solid"/>
          </a:ln>
        </p:spPr>
        <p:txBody>
          <a:bodyPr/>
          <a:lstStyle/>
          <a:p>
            <a:endParaRPr lang="en-US"/>
          </a:p>
        </p:txBody>
      </p:sp>
      <p:sp>
        <p:nvSpPr>
          <p:cNvPr id="25" name="Text 23"/>
          <p:cNvSpPr/>
          <p:nvPr/>
        </p:nvSpPr>
        <p:spPr>
          <a:xfrm>
            <a:off x="5580000" y="4517136"/>
            <a:ext cx="640080" cy="320040"/>
          </a:xfrm>
          <a:prstGeom prst="rect">
            <a:avLst/>
          </a:prstGeom>
          <a:noFill/>
          <a:ln/>
        </p:spPr>
        <p:txBody>
          <a:bodyPr wrap="square" rtlCol="0" anchor="ctr"/>
          <a:lstStyle/>
          <a:p>
            <a:pPr marL="0" indent="0" algn="r">
              <a:buNone/>
            </a:pPr>
            <a:r>
              <a:rPr lang="en-US" sz="1100" b="1" dirty="0">
                <a:solidFill>
                  <a:srgbClr val="1B4F72"/>
                </a:solidFill>
                <a:latin typeface="Calibri" pitchFamily="34" charset="0"/>
                <a:ea typeface="Calibri" pitchFamily="34" charset="-122"/>
                <a:cs typeface="Calibri" pitchFamily="34" charset="-120"/>
              </a:rPr>
              <a:t>1,519</a:t>
            </a:r>
            <a:endParaRPr lang="en-US" sz="1100" dirty="0"/>
          </a:p>
        </p:txBody>
      </p:sp>
      <p:sp>
        <p:nvSpPr>
          <p:cNvPr id="26" name="Text 24"/>
          <p:cNvSpPr/>
          <p:nvPr/>
        </p:nvSpPr>
        <p:spPr>
          <a:xfrm>
            <a:off x="365760" y="5230368"/>
            <a:ext cx="5669280" cy="365760"/>
          </a:xfrm>
          <a:prstGeom prst="rect">
            <a:avLst/>
          </a:prstGeom>
          <a:noFill/>
          <a:ln/>
        </p:spPr>
        <p:txBody>
          <a:bodyPr wrap="square" rtlCol="0" anchor="ctr"/>
          <a:lstStyle/>
          <a:p>
            <a:pPr marL="0" indent="0">
              <a:buNone/>
            </a:pPr>
            <a:r>
              <a:rPr lang="en-US" sz="1100" b="1" dirty="0">
                <a:solidFill>
                  <a:srgbClr val="E09F3E"/>
                </a:solidFill>
                <a:latin typeface="Calibri" pitchFamily="34" charset="0"/>
                <a:ea typeface="Calibri" pitchFamily="34" charset="-122"/>
                <a:cs typeface="Calibri" pitchFamily="34" charset="-120"/>
              </a:rPr>
              <a:t>⚠️  Construction appears 3x across specific industry sub-categories in the full top 20</a:t>
            </a:r>
            <a:endParaRPr lang="en-US" sz="1100" dirty="0"/>
          </a:p>
        </p:txBody>
      </p:sp>
      <p:sp>
        <p:nvSpPr>
          <p:cNvPr id="27" name="Shape 25"/>
          <p:cNvSpPr/>
          <p:nvPr/>
        </p:nvSpPr>
        <p:spPr>
          <a:xfrm>
            <a:off x="6263640" y="1143000"/>
            <a:ext cx="36576" cy="5029200"/>
          </a:xfrm>
          <a:prstGeom prst="rect">
            <a:avLst/>
          </a:prstGeom>
          <a:solidFill>
            <a:srgbClr val="D6E8F5"/>
          </a:solidFill>
          <a:ln w="12700">
            <a:solidFill>
              <a:srgbClr val="D6E8F5"/>
            </a:solidFill>
            <a:prstDash val="solid"/>
          </a:ln>
        </p:spPr>
        <p:txBody>
          <a:bodyPr/>
          <a:lstStyle/>
          <a:p>
            <a:endParaRPr lang="en-US"/>
          </a:p>
        </p:txBody>
      </p:sp>
      <p:sp>
        <p:nvSpPr>
          <p:cNvPr id="28" name="Text 26"/>
          <p:cNvSpPr/>
          <p:nvPr/>
        </p:nvSpPr>
        <p:spPr>
          <a:xfrm>
            <a:off x="6400800" y="1188720"/>
            <a:ext cx="5394960" cy="365760"/>
          </a:xfrm>
          <a:prstGeom prst="rect">
            <a:avLst/>
          </a:prstGeom>
          <a:noFill/>
          <a:ln/>
        </p:spPr>
        <p:txBody>
          <a:bodyPr wrap="square" rtlCol="0" anchor="ctr"/>
          <a:lstStyle/>
          <a:p>
            <a:pPr marL="0" indent="0">
              <a:buNone/>
            </a:pPr>
            <a:r>
              <a:rPr lang="en-US" sz="1500" b="1" dirty="0">
                <a:solidFill>
                  <a:srgbClr val="0D1B2A"/>
                </a:solidFill>
                <a:latin typeface="Calibri" pitchFamily="34" charset="0"/>
                <a:ea typeface="Calibri" pitchFamily="34" charset="-122"/>
                <a:cs typeface="Calibri" pitchFamily="34" charset="-120"/>
              </a:rPr>
              <a:t>Top States by Total Incidents</a:t>
            </a:r>
            <a:endParaRPr lang="en-US" sz="1500" dirty="0"/>
          </a:p>
        </p:txBody>
      </p:sp>
      <p:sp>
        <p:nvSpPr>
          <p:cNvPr id="29" name="Text 27"/>
          <p:cNvSpPr/>
          <p:nvPr/>
        </p:nvSpPr>
        <p:spPr>
          <a:xfrm>
            <a:off x="6400800" y="1664208"/>
            <a:ext cx="2011680" cy="292608"/>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Texas</a:t>
            </a:r>
            <a:endParaRPr lang="en-US" sz="1100" dirty="0"/>
          </a:p>
        </p:txBody>
      </p:sp>
      <p:sp>
        <p:nvSpPr>
          <p:cNvPr id="30" name="Shape 28"/>
          <p:cNvSpPr/>
          <p:nvPr/>
        </p:nvSpPr>
        <p:spPr>
          <a:xfrm>
            <a:off x="8503920" y="1709928"/>
            <a:ext cx="2194560" cy="219456"/>
          </a:xfrm>
          <a:prstGeom prst="rect">
            <a:avLst/>
          </a:prstGeom>
          <a:solidFill>
            <a:srgbClr val="D6E8F5"/>
          </a:solidFill>
          <a:ln w="12700">
            <a:solidFill>
              <a:srgbClr val="D6E8F5"/>
            </a:solidFill>
            <a:prstDash val="solid"/>
          </a:ln>
        </p:spPr>
        <p:txBody>
          <a:bodyPr/>
          <a:lstStyle/>
          <a:p>
            <a:endParaRPr lang="en-US"/>
          </a:p>
        </p:txBody>
      </p:sp>
      <p:sp>
        <p:nvSpPr>
          <p:cNvPr id="31" name="Shape 29"/>
          <p:cNvSpPr/>
          <p:nvPr/>
        </p:nvSpPr>
        <p:spPr>
          <a:xfrm>
            <a:off x="8503920" y="1709928"/>
            <a:ext cx="2194560" cy="219456"/>
          </a:xfrm>
          <a:prstGeom prst="rect">
            <a:avLst/>
          </a:prstGeom>
          <a:solidFill>
            <a:srgbClr val="E09F3E"/>
          </a:solidFill>
          <a:ln w="12700">
            <a:solidFill>
              <a:srgbClr val="E09F3E"/>
            </a:solidFill>
            <a:prstDash val="solid"/>
          </a:ln>
        </p:spPr>
        <p:txBody>
          <a:bodyPr/>
          <a:lstStyle/>
          <a:p>
            <a:endParaRPr lang="en-US"/>
          </a:p>
        </p:txBody>
      </p:sp>
      <p:sp>
        <p:nvSpPr>
          <p:cNvPr id="32" name="Text 30"/>
          <p:cNvSpPr/>
          <p:nvPr/>
        </p:nvSpPr>
        <p:spPr>
          <a:xfrm>
            <a:off x="10789920" y="1664208"/>
            <a:ext cx="822960" cy="292608"/>
          </a:xfrm>
          <a:prstGeom prst="rect">
            <a:avLst/>
          </a:prstGeom>
          <a:noFill/>
          <a:ln/>
        </p:spPr>
        <p:txBody>
          <a:bodyPr wrap="square" rtlCol="0" anchor="ctr"/>
          <a:lstStyle/>
          <a:p>
            <a:pPr marL="0" indent="0" algn="r">
              <a:buNone/>
            </a:pPr>
            <a:r>
              <a:rPr lang="en-US" sz="1100" b="1" dirty="0">
                <a:solidFill>
                  <a:srgbClr val="1B4F72"/>
                </a:solidFill>
                <a:latin typeface="Calibri" pitchFamily="34" charset="0"/>
                <a:ea typeface="Calibri" pitchFamily="34" charset="-122"/>
                <a:cs typeface="Calibri" pitchFamily="34" charset="-120"/>
              </a:rPr>
              <a:t>17,378</a:t>
            </a:r>
            <a:endParaRPr lang="en-US" sz="1100" dirty="0"/>
          </a:p>
        </p:txBody>
      </p:sp>
      <p:sp>
        <p:nvSpPr>
          <p:cNvPr id="33" name="Text 31"/>
          <p:cNvSpPr/>
          <p:nvPr/>
        </p:nvSpPr>
        <p:spPr>
          <a:xfrm>
            <a:off x="6400800" y="2231136"/>
            <a:ext cx="2011680" cy="292608"/>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Florida</a:t>
            </a:r>
            <a:endParaRPr lang="en-US" sz="1100" dirty="0"/>
          </a:p>
        </p:txBody>
      </p:sp>
      <p:sp>
        <p:nvSpPr>
          <p:cNvPr id="34" name="Shape 32"/>
          <p:cNvSpPr/>
          <p:nvPr/>
        </p:nvSpPr>
        <p:spPr>
          <a:xfrm>
            <a:off x="8503920" y="2276856"/>
            <a:ext cx="2194560" cy="219456"/>
          </a:xfrm>
          <a:prstGeom prst="rect">
            <a:avLst/>
          </a:prstGeom>
          <a:solidFill>
            <a:srgbClr val="D6E8F5"/>
          </a:solidFill>
          <a:ln w="12700">
            <a:solidFill>
              <a:srgbClr val="D6E8F5"/>
            </a:solidFill>
            <a:prstDash val="solid"/>
          </a:ln>
        </p:spPr>
        <p:txBody>
          <a:bodyPr/>
          <a:lstStyle/>
          <a:p>
            <a:endParaRPr lang="en-US"/>
          </a:p>
        </p:txBody>
      </p:sp>
      <p:sp>
        <p:nvSpPr>
          <p:cNvPr id="35" name="Shape 33"/>
          <p:cNvSpPr/>
          <p:nvPr/>
        </p:nvSpPr>
        <p:spPr>
          <a:xfrm>
            <a:off x="8503920" y="2276856"/>
            <a:ext cx="1470355" cy="219456"/>
          </a:xfrm>
          <a:prstGeom prst="rect">
            <a:avLst/>
          </a:prstGeom>
          <a:solidFill>
            <a:srgbClr val="E09F3E"/>
          </a:solidFill>
          <a:ln w="12700">
            <a:solidFill>
              <a:srgbClr val="E09F3E"/>
            </a:solidFill>
            <a:prstDash val="solid"/>
          </a:ln>
        </p:spPr>
        <p:txBody>
          <a:bodyPr/>
          <a:lstStyle/>
          <a:p>
            <a:endParaRPr lang="en-US"/>
          </a:p>
        </p:txBody>
      </p:sp>
      <p:sp>
        <p:nvSpPr>
          <p:cNvPr id="36" name="Text 34"/>
          <p:cNvSpPr/>
          <p:nvPr/>
        </p:nvSpPr>
        <p:spPr>
          <a:xfrm>
            <a:off x="10789920" y="2231136"/>
            <a:ext cx="822960" cy="292608"/>
          </a:xfrm>
          <a:prstGeom prst="rect">
            <a:avLst/>
          </a:prstGeom>
          <a:noFill/>
          <a:ln/>
        </p:spPr>
        <p:txBody>
          <a:bodyPr wrap="square" rtlCol="0" anchor="ctr"/>
          <a:lstStyle/>
          <a:p>
            <a:pPr marL="0" indent="0" algn="r">
              <a:buNone/>
            </a:pPr>
            <a:r>
              <a:rPr lang="en-US" sz="1100" b="1" dirty="0">
                <a:solidFill>
                  <a:srgbClr val="1B4F72"/>
                </a:solidFill>
                <a:latin typeface="Calibri" pitchFamily="34" charset="0"/>
                <a:ea typeface="Calibri" pitchFamily="34" charset="-122"/>
                <a:cs typeface="Calibri" pitchFamily="34" charset="-120"/>
              </a:rPr>
              <a:t>11,630</a:t>
            </a:r>
            <a:endParaRPr lang="en-US" sz="1100" dirty="0"/>
          </a:p>
        </p:txBody>
      </p:sp>
      <p:sp>
        <p:nvSpPr>
          <p:cNvPr id="37" name="Text 35"/>
          <p:cNvSpPr/>
          <p:nvPr/>
        </p:nvSpPr>
        <p:spPr>
          <a:xfrm>
            <a:off x="6400800" y="2798064"/>
            <a:ext cx="2011680" cy="292608"/>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Pennsylvania</a:t>
            </a:r>
            <a:endParaRPr lang="en-US" sz="1100" dirty="0"/>
          </a:p>
        </p:txBody>
      </p:sp>
      <p:sp>
        <p:nvSpPr>
          <p:cNvPr id="38" name="Shape 36"/>
          <p:cNvSpPr/>
          <p:nvPr/>
        </p:nvSpPr>
        <p:spPr>
          <a:xfrm>
            <a:off x="8503920" y="2843784"/>
            <a:ext cx="2194560" cy="219456"/>
          </a:xfrm>
          <a:prstGeom prst="rect">
            <a:avLst/>
          </a:prstGeom>
          <a:solidFill>
            <a:srgbClr val="D6E8F5"/>
          </a:solidFill>
          <a:ln w="12700">
            <a:solidFill>
              <a:srgbClr val="D6E8F5"/>
            </a:solidFill>
            <a:prstDash val="solid"/>
          </a:ln>
        </p:spPr>
        <p:txBody>
          <a:bodyPr/>
          <a:lstStyle/>
          <a:p>
            <a:endParaRPr lang="en-US"/>
          </a:p>
        </p:txBody>
      </p:sp>
      <p:sp>
        <p:nvSpPr>
          <p:cNvPr id="39" name="Shape 37"/>
          <p:cNvSpPr/>
          <p:nvPr/>
        </p:nvSpPr>
        <p:spPr>
          <a:xfrm>
            <a:off x="8503920" y="2843784"/>
            <a:ext cx="1053389" cy="219456"/>
          </a:xfrm>
          <a:prstGeom prst="rect">
            <a:avLst/>
          </a:prstGeom>
          <a:solidFill>
            <a:srgbClr val="E09F3E"/>
          </a:solidFill>
          <a:ln w="12700">
            <a:solidFill>
              <a:srgbClr val="E09F3E"/>
            </a:solidFill>
            <a:prstDash val="solid"/>
          </a:ln>
        </p:spPr>
        <p:txBody>
          <a:bodyPr/>
          <a:lstStyle/>
          <a:p>
            <a:endParaRPr lang="en-US"/>
          </a:p>
        </p:txBody>
      </p:sp>
      <p:sp>
        <p:nvSpPr>
          <p:cNvPr id="40" name="Text 38"/>
          <p:cNvSpPr/>
          <p:nvPr/>
        </p:nvSpPr>
        <p:spPr>
          <a:xfrm>
            <a:off x="10789920" y="2798064"/>
            <a:ext cx="822960" cy="292608"/>
          </a:xfrm>
          <a:prstGeom prst="rect">
            <a:avLst/>
          </a:prstGeom>
          <a:noFill/>
          <a:ln/>
        </p:spPr>
        <p:txBody>
          <a:bodyPr wrap="square" rtlCol="0" anchor="ctr"/>
          <a:lstStyle/>
          <a:p>
            <a:pPr marL="0" indent="0" algn="r">
              <a:buNone/>
            </a:pPr>
            <a:r>
              <a:rPr lang="en-US" sz="1100" b="1" dirty="0">
                <a:solidFill>
                  <a:srgbClr val="1B4F72"/>
                </a:solidFill>
                <a:latin typeface="Calibri" pitchFamily="34" charset="0"/>
                <a:ea typeface="Calibri" pitchFamily="34" charset="-122"/>
                <a:cs typeface="Calibri" pitchFamily="34" charset="-120"/>
              </a:rPr>
              <a:t>8,314</a:t>
            </a:r>
            <a:endParaRPr lang="en-US" sz="1100" dirty="0"/>
          </a:p>
        </p:txBody>
      </p:sp>
      <p:sp>
        <p:nvSpPr>
          <p:cNvPr id="41" name="Text 39"/>
          <p:cNvSpPr/>
          <p:nvPr/>
        </p:nvSpPr>
        <p:spPr>
          <a:xfrm>
            <a:off x="6400800" y="3364992"/>
            <a:ext cx="2011680" cy="292608"/>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Ohio</a:t>
            </a:r>
            <a:endParaRPr lang="en-US" sz="1100" dirty="0"/>
          </a:p>
        </p:txBody>
      </p:sp>
      <p:sp>
        <p:nvSpPr>
          <p:cNvPr id="42" name="Shape 40"/>
          <p:cNvSpPr/>
          <p:nvPr/>
        </p:nvSpPr>
        <p:spPr>
          <a:xfrm>
            <a:off x="8503920" y="3410712"/>
            <a:ext cx="2194560" cy="219456"/>
          </a:xfrm>
          <a:prstGeom prst="rect">
            <a:avLst/>
          </a:prstGeom>
          <a:solidFill>
            <a:srgbClr val="D6E8F5"/>
          </a:solidFill>
          <a:ln w="12700">
            <a:solidFill>
              <a:srgbClr val="D6E8F5"/>
            </a:solidFill>
            <a:prstDash val="solid"/>
          </a:ln>
        </p:spPr>
        <p:txBody>
          <a:bodyPr/>
          <a:lstStyle/>
          <a:p>
            <a:endParaRPr lang="en-US"/>
          </a:p>
        </p:txBody>
      </p:sp>
      <p:sp>
        <p:nvSpPr>
          <p:cNvPr id="43" name="Shape 41"/>
          <p:cNvSpPr/>
          <p:nvPr/>
        </p:nvSpPr>
        <p:spPr>
          <a:xfrm>
            <a:off x="8503920" y="3410712"/>
            <a:ext cx="1031443" cy="219456"/>
          </a:xfrm>
          <a:prstGeom prst="rect">
            <a:avLst/>
          </a:prstGeom>
          <a:solidFill>
            <a:srgbClr val="E09F3E"/>
          </a:solidFill>
          <a:ln w="12700">
            <a:solidFill>
              <a:srgbClr val="E09F3E"/>
            </a:solidFill>
            <a:prstDash val="solid"/>
          </a:ln>
        </p:spPr>
        <p:txBody>
          <a:bodyPr/>
          <a:lstStyle/>
          <a:p>
            <a:endParaRPr lang="en-US"/>
          </a:p>
        </p:txBody>
      </p:sp>
      <p:sp>
        <p:nvSpPr>
          <p:cNvPr id="44" name="Text 42"/>
          <p:cNvSpPr/>
          <p:nvPr/>
        </p:nvSpPr>
        <p:spPr>
          <a:xfrm>
            <a:off x="10789920" y="3364992"/>
            <a:ext cx="822960" cy="292608"/>
          </a:xfrm>
          <a:prstGeom prst="rect">
            <a:avLst/>
          </a:prstGeom>
          <a:noFill/>
          <a:ln/>
        </p:spPr>
        <p:txBody>
          <a:bodyPr wrap="square" rtlCol="0" anchor="ctr"/>
          <a:lstStyle/>
          <a:p>
            <a:pPr marL="0" indent="0" algn="r">
              <a:buNone/>
            </a:pPr>
            <a:r>
              <a:rPr lang="en-US" sz="1100" b="1" dirty="0">
                <a:solidFill>
                  <a:srgbClr val="1B4F72"/>
                </a:solidFill>
                <a:latin typeface="Calibri" pitchFamily="34" charset="0"/>
                <a:ea typeface="Calibri" pitchFamily="34" charset="-122"/>
                <a:cs typeface="Calibri" pitchFamily="34" charset="-120"/>
              </a:rPr>
              <a:t>8,196</a:t>
            </a:r>
            <a:endParaRPr lang="en-US" sz="1100" dirty="0"/>
          </a:p>
        </p:txBody>
      </p:sp>
      <p:sp>
        <p:nvSpPr>
          <p:cNvPr id="45" name="Text 43"/>
          <p:cNvSpPr/>
          <p:nvPr/>
        </p:nvSpPr>
        <p:spPr>
          <a:xfrm>
            <a:off x="6400800" y="3931920"/>
            <a:ext cx="2011680" cy="292608"/>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Illinois</a:t>
            </a:r>
            <a:endParaRPr lang="en-US" sz="1100" dirty="0"/>
          </a:p>
        </p:txBody>
      </p:sp>
      <p:sp>
        <p:nvSpPr>
          <p:cNvPr id="46" name="Shape 44"/>
          <p:cNvSpPr/>
          <p:nvPr/>
        </p:nvSpPr>
        <p:spPr>
          <a:xfrm>
            <a:off x="8503920" y="3977640"/>
            <a:ext cx="2194560" cy="219456"/>
          </a:xfrm>
          <a:prstGeom prst="rect">
            <a:avLst/>
          </a:prstGeom>
          <a:solidFill>
            <a:srgbClr val="D6E8F5"/>
          </a:solidFill>
          <a:ln w="12700">
            <a:solidFill>
              <a:srgbClr val="D6E8F5"/>
            </a:solidFill>
            <a:prstDash val="solid"/>
          </a:ln>
        </p:spPr>
        <p:txBody>
          <a:bodyPr/>
          <a:lstStyle/>
          <a:p>
            <a:endParaRPr lang="en-US"/>
          </a:p>
        </p:txBody>
      </p:sp>
      <p:sp>
        <p:nvSpPr>
          <p:cNvPr id="47" name="Shape 45"/>
          <p:cNvSpPr/>
          <p:nvPr/>
        </p:nvSpPr>
        <p:spPr>
          <a:xfrm>
            <a:off x="8503920" y="3977640"/>
            <a:ext cx="790042" cy="219456"/>
          </a:xfrm>
          <a:prstGeom prst="rect">
            <a:avLst/>
          </a:prstGeom>
          <a:solidFill>
            <a:srgbClr val="E09F3E"/>
          </a:solidFill>
          <a:ln w="12700">
            <a:solidFill>
              <a:srgbClr val="E09F3E"/>
            </a:solidFill>
            <a:prstDash val="solid"/>
          </a:ln>
        </p:spPr>
        <p:txBody>
          <a:bodyPr/>
          <a:lstStyle/>
          <a:p>
            <a:endParaRPr lang="en-US"/>
          </a:p>
        </p:txBody>
      </p:sp>
      <p:sp>
        <p:nvSpPr>
          <p:cNvPr id="48" name="Text 46"/>
          <p:cNvSpPr/>
          <p:nvPr/>
        </p:nvSpPr>
        <p:spPr>
          <a:xfrm>
            <a:off x="10789920" y="3931920"/>
            <a:ext cx="822960" cy="292608"/>
          </a:xfrm>
          <a:prstGeom prst="rect">
            <a:avLst/>
          </a:prstGeom>
          <a:noFill/>
          <a:ln/>
        </p:spPr>
        <p:txBody>
          <a:bodyPr wrap="square" rtlCol="0" anchor="ctr"/>
          <a:lstStyle/>
          <a:p>
            <a:pPr marL="0" indent="0" algn="r">
              <a:buNone/>
            </a:pPr>
            <a:r>
              <a:rPr lang="en-US" sz="1100" b="1" dirty="0">
                <a:solidFill>
                  <a:srgbClr val="1B4F72"/>
                </a:solidFill>
                <a:latin typeface="Calibri" pitchFamily="34" charset="0"/>
                <a:ea typeface="Calibri" pitchFamily="34" charset="-122"/>
                <a:cs typeface="Calibri" pitchFamily="34" charset="-120"/>
              </a:rPr>
              <a:t>6,337</a:t>
            </a:r>
            <a:endParaRPr lang="en-US" sz="1100" dirty="0"/>
          </a:p>
        </p:txBody>
      </p:sp>
      <p:sp>
        <p:nvSpPr>
          <p:cNvPr id="49" name="Text 47"/>
          <p:cNvSpPr/>
          <p:nvPr/>
        </p:nvSpPr>
        <p:spPr>
          <a:xfrm>
            <a:off x="6400800" y="4498848"/>
            <a:ext cx="2011680" cy="292608"/>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Georgia</a:t>
            </a:r>
            <a:endParaRPr lang="en-US" sz="1100" dirty="0"/>
          </a:p>
        </p:txBody>
      </p:sp>
      <p:sp>
        <p:nvSpPr>
          <p:cNvPr id="50" name="Shape 48"/>
          <p:cNvSpPr/>
          <p:nvPr/>
        </p:nvSpPr>
        <p:spPr>
          <a:xfrm>
            <a:off x="8503920" y="4544568"/>
            <a:ext cx="2194560" cy="219456"/>
          </a:xfrm>
          <a:prstGeom prst="rect">
            <a:avLst/>
          </a:prstGeom>
          <a:solidFill>
            <a:srgbClr val="D6E8F5"/>
          </a:solidFill>
          <a:ln w="12700">
            <a:solidFill>
              <a:srgbClr val="D6E8F5"/>
            </a:solidFill>
            <a:prstDash val="solid"/>
          </a:ln>
        </p:spPr>
        <p:txBody>
          <a:bodyPr/>
          <a:lstStyle/>
          <a:p>
            <a:endParaRPr lang="en-US"/>
          </a:p>
        </p:txBody>
      </p:sp>
      <p:sp>
        <p:nvSpPr>
          <p:cNvPr id="51" name="Shape 49"/>
          <p:cNvSpPr/>
          <p:nvPr/>
        </p:nvSpPr>
        <p:spPr>
          <a:xfrm>
            <a:off x="8503920" y="4544568"/>
            <a:ext cx="746150" cy="219456"/>
          </a:xfrm>
          <a:prstGeom prst="rect">
            <a:avLst/>
          </a:prstGeom>
          <a:solidFill>
            <a:srgbClr val="E09F3E"/>
          </a:solidFill>
          <a:ln w="12700">
            <a:solidFill>
              <a:srgbClr val="E09F3E"/>
            </a:solidFill>
            <a:prstDash val="solid"/>
          </a:ln>
        </p:spPr>
        <p:txBody>
          <a:bodyPr/>
          <a:lstStyle/>
          <a:p>
            <a:endParaRPr lang="en-US"/>
          </a:p>
        </p:txBody>
      </p:sp>
      <p:sp>
        <p:nvSpPr>
          <p:cNvPr id="52" name="Text 50"/>
          <p:cNvSpPr/>
          <p:nvPr/>
        </p:nvSpPr>
        <p:spPr>
          <a:xfrm>
            <a:off x="10789920" y="4498848"/>
            <a:ext cx="822960" cy="292608"/>
          </a:xfrm>
          <a:prstGeom prst="rect">
            <a:avLst/>
          </a:prstGeom>
          <a:noFill/>
          <a:ln/>
        </p:spPr>
        <p:txBody>
          <a:bodyPr wrap="square" rtlCol="0" anchor="ctr"/>
          <a:lstStyle/>
          <a:p>
            <a:pPr marL="0" indent="0" algn="r">
              <a:buNone/>
            </a:pPr>
            <a:r>
              <a:rPr lang="en-US" sz="1100" b="1" dirty="0">
                <a:solidFill>
                  <a:srgbClr val="1B4F72"/>
                </a:solidFill>
                <a:latin typeface="Calibri" pitchFamily="34" charset="0"/>
                <a:ea typeface="Calibri" pitchFamily="34" charset="-122"/>
                <a:cs typeface="Calibri" pitchFamily="34" charset="-120"/>
              </a:rPr>
              <a:t>5,943</a:t>
            </a:r>
            <a:endParaRPr lang="en-US" sz="1100" dirty="0"/>
          </a:p>
        </p:txBody>
      </p:sp>
      <p:sp>
        <p:nvSpPr>
          <p:cNvPr id="53" name="Text 51"/>
          <p:cNvSpPr/>
          <p:nvPr/>
        </p:nvSpPr>
        <p:spPr>
          <a:xfrm>
            <a:off x="6400800" y="5065776"/>
            <a:ext cx="2011680" cy="292608"/>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New York</a:t>
            </a:r>
            <a:endParaRPr lang="en-US" sz="1100" dirty="0"/>
          </a:p>
        </p:txBody>
      </p:sp>
      <p:sp>
        <p:nvSpPr>
          <p:cNvPr id="54" name="Shape 52"/>
          <p:cNvSpPr/>
          <p:nvPr/>
        </p:nvSpPr>
        <p:spPr>
          <a:xfrm>
            <a:off x="8503920" y="5111496"/>
            <a:ext cx="2194560" cy="219456"/>
          </a:xfrm>
          <a:prstGeom prst="rect">
            <a:avLst/>
          </a:prstGeom>
          <a:solidFill>
            <a:srgbClr val="D6E8F5"/>
          </a:solidFill>
          <a:ln w="12700">
            <a:solidFill>
              <a:srgbClr val="D6E8F5"/>
            </a:solidFill>
            <a:prstDash val="solid"/>
          </a:ln>
        </p:spPr>
        <p:txBody>
          <a:bodyPr/>
          <a:lstStyle/>
          <a:p>
            <a:endParaRPr lang="en-US"/>
          </a:p>
        </p:txBody>
      </p:sp>
      <p:sp>
        <p:nvSpPr>
          <p:cNvPr id="55" name="Shape 53"/>
          <p:cNvSpPr/>
          <p:nvPr/>
        </p:nvSpPr>
        <p:spPr>
          <a:xfrm>
            <a:off x="8503920" y="5111496"/>
            <a:ext cx="658368" cy="219456"/>
          </a:xfrm>
          <a:prstGeom prst="rect">
            <a:avLst/>
          </a:prstGeom>
          <a:solidFill>
            <a:srgbClr val="E09F3E"/>
          </a:solidFill>
          <a:ln w="12700">
            <a:solidFill>
              <a:srgbClr val="E09F3E"/>
            </a:solidFill>
            <a:prstDash val="solid"/>
          </a:ln>
        </p:spPr>
        <p:txBody>
          <a:bodyPr/>
          <a:lstStyle/>
          <a:p>
            <a:endParaRPr lang="en-US"/>
          </a:p>
        </p:txBody>
      </p:sp>
      <p:sp>
        <p:nvSpPr>
          <p:cNvPr id="56" name="Text 54"/>
          <p:cNvSpPr/>
          <p:nvPr/>
        </p:nvSpPr>
        <p:spPr>
          <a:xfrm>
            <a:off x="10789920" y="5065776"/>
            <a:ext cx="822960" cy="292608"/>
          </a:xfrm>
          <a:prstGeom prst="rect">
            <a:avLst/>
          </a:prstGeom>
          <a:noFill/>
          <a:ln/>
        </p:spPr>
        <p:txBody>
          <a:bodyPr wrap="square" rtlCol="0" anchor="ctr"/>
          <a:lstStyle/>
          <a:p>
            <a:pPr marL="0" indent="0" algn="r">
              <a:buNone/>
            </a:pPr>
            <a:r>
              <a:rPr lang="en-US" sz="1100" b="1" dirty="0">
                <a:solidFill>
                  <a:srgbClr val="1B4F72"/>
                </a:solidFill>
                <a:latin typeface="Calibri" pitchFamily="34" charset="0"/>
                <a:ea typeface="Calibri" pitchFamily="34" charset="-122"/>
                <a:cs typeface="Calibri" pitchFamily="34" charset="-120"/>
              </a:rPr>
              <a:t>5,260</a:t>
            </a:r>
            <a:endParaRPr lang="en-US" sz="1100" dirty="0"/>
          </a:p>
        </p:txBody>
      </p:sp>
      <p:sp>
        <p:nvSpPr>
          <p:cNvPr id="57" name="Text 55"/>
          <p:cNvSpPr/>
          <p:nvPr/>
        </p:nvSpPr>
        <p:spPr>
          <a:xfrm>
            <a:off x="0" y="6492240"/>
            <a:ext cx="12192000" cy="32004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OSHA Severe Injury Report Analysis  |  Mary Becker  |  Data Analytics Capstone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0D1B2A"/>
          </a:solidFill>
          <a:ln/>
        </p:spPr>
        <p:txBody>
          <a:bodyPr/>
          <a:lstStyle/>
          <a:p>
            <a:endParaRPr lang="en-US"/>
          </a:p>
        </p:txBody>
      </p:sp>
      <p:sp>
        <p:nvSpPr>
          <p:cNvPr id="3" name="Text 1"/>
          <p:cNvSpPr/>
          <p:nvPr/>
        </p:nvSpPr>
        <p:spPr>
          <a:xfrm>
            <a:off x="365760" y="73152"/>
            <a:ext cx="91440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Key Findings </a:t>
            </a:r>
            <a:r>
              <a:rPr lang="en-US" sz="2800" b="1">
                <a:solidFill>
                  <a:srgbClr val="FFFFFF"/>
                </a:solidFill>
                <a:latin typeface="Calibri" pitchFamily="34" charset="0"/>
                <a:ea typeface="Calibri" pitchFamily="34" charset="-122"/>
                <a:cs typeface="Calibri" pitchFamily="34" charset="-120"/>
              </a:rPr>
              <a:t>-</a:t>
            </a:r>
            <a:r>
              <a:rPr lang="en-US" sz="2800" b="1" dirty="0">
                <a:solidFill>
                  <a:srgbClr val="FFFFFF"/>
                </a:solidFill>
                <a:latin typeface="Calibri" pitchFamily="34" charset="0"/>
                <a:ea typeface="Calibri" pitchFamily="34" charset="-122"/>
                <a:cs typeface="Calibri" pitchFamily="34" charset="-120"/>
              </a:rPr>
              <a:t> Injury Types &amp; Time Trends</a:t>
            </a:r>
            <a:endParaRPr lang="en-US" sz="2800" dirty="0"/>
          </a:p>
        </p:txBody>
      </p:sp>
      <p:sp>
        <p:nvSpPr>
          <p:cNvPr id="4" name="Text 2"/>
          <p:cNvSpPr/>
          <p:nvPr/>
        </p:nvSpPr>
        <p:spPr>
          <a:xfrm>
            <a:off x="365760" y="594360"/>
            <a:ext cx="9144000" cy="347472"/>
          </a:xfrm>
          <a:prstGeom prst="rect">
            <a:avLst/>
          </a:prstGeom>
          <a:noFill/>
          <a:ln/>
        </p:spPr>
        <p:txBody>
          <a:bodyPr wrap="square" rtlCol="0" anchor="t"/>
          <a:lstStyle/>
          <a:p>
            <a:pPr marL="0" indent="0">
              <a:buNone/>
            </a:pPr>
            <a:r>
              <a:rPr lang="en-US" sz="1300" dirty="0">
                <a:solidFill>
                  <a:srgbClr val="D6E8F5"/>
                </a:solidFill>
                <a:latin typeface="Calibri" pitchFamily="34" charset="0"/>
                <a:ea typeface="Calibri" pitchFamily="34" charset="-122"/>
                <a:cs typeface="Calibri" pitchFamily="34" charset="-120"/>
              </a:rPr>
              <a:t>What gets injured and when</a:t>
            </a:r>
            <a:endParaRPr lang="en-US" sz="1300" dirty="0"/>
          </a:p>
        </p:txBody>
      </p:sp>
      <p:sp>
        <p:nvSpPr>
          <p:cNvPr id="5" name="Text 3"/>
          <p:cNvSpPr/>
          <p:nvPr/>
        </p:nvSpPr>
        <p:spPr>
          <a:xfrm>
            <a:off x="365760" y="1188720"/>
            <a:ext cx="5669280" cy="365760"/>
          </a:xfrm>
          <a:prstGeom prst="rect">
            <a:avLst/>
          </a:prstGeom>
          <a:noFill/>
          <a:ln/>
        </p:spPr>
        <p:txBody>
          <a:bodyPr wrap="square" rtlCol="0" anchor="ctr"/>
          <a:lstStyle/>
          <a:p>
            <a:pPr marL="0" indent="0">
              <a:buNone/>
            </a:pPr>
            <a:r>
              <a:rPr lang="en-US" sz="1500" b="1" dirty="0">
                <a:solidFill>
                  <a:srgbClr val="0D1B2A"/>
                </a:solidFill>
                <a:latin typeface="Calibri" pitchFamily="34" charset="0"/>
                <a:ea typeface="Calibri" pitchFamily="34" charset="-122"/>
                <a:cs typeface="Calibri" pitchFamily="34" charset="-120"/>
              </a:rPr>
              <a:t>Top Injury Types (NatureTitle)</a:t>
            </a:r>
            <a:endParaRPr lang="en-US" sz="1500" dirty="0"/>
          </a:p>
        </p:txBody>
      </p:sp>
      <p:sp>
        <p:nvSpPr>
          <p:cNvPr id="6" name="Text 4"/>
          <p:cNvSpPr/>
          <p:nvPr/>
        </p:nvSpPr>
        <p:spPr>
          <a:xfrm>
            <a:off x="365760" y="1664208"/>
            <a:ext cx="3200400" cy="320040"/>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Fractures</a:t>
            </a:r>
            <a:endParaRPr lang="en-US" sz="1100" dirty="0"/>
          </a:p>
        </p:txBody>
      </p:sp>
      <p:sp>
        <p:nvSpPr>
          <p:cNvPr id="7" name="Shape 5"/>
          <p:cNvSpPr/>
          <p:nvPr/>
        </p:nvSpPr>
        <p:spPr>
          <a:xfrm>
            <a:off x="3611880" y="1709928"/>
            <a:ext cx="1737360" cy="256032"/>
          </a:xfrm>
          <a:prstGeom prst="rect">
            <a:avLst/>
          </a:prstGeom>
          <a:solidFill>
            <a:srgbClr val="D6E8F5"/>
          </a:solidFill>
          <a:ln w="12700">
            <a:solidFill>
              <a:srgbClr val="D6E8F5"/>
            </a:solidFill>
            <a:prstDash val="solid"/>
          </a:ln>
        </p:spPr>
        <p:txBody>
          <a:bodyPr/>
          <a:lstStyle/>
          <a:p>
            <a:endParaRPr lang="en-US"/>
          </a:p>
        </p:txBody>
      </p:sp>
      <p:sp>
        <p:nvSpPr>
          <p:cNvPr id="8" name="Shape 6"/>
          <p:cNvSpPr/>
          <p:nvPr/>
        </p:nvSpPr>
        <p:spPr>
          <a:xfrm>
            <a:off x="3611880" y="1709928"/>
            <a:ext cx="1737360" cy="256032"/>
          </a:xfrm>
          <a:prstGeom prst="rect">
            <a:avLst/>
          </a:prstGeom>
          <a:solidFill>
            <a:srgbClr val="B03A2E"/>
          </a:solidFill>
          <a:ln w="12700">
            <a:solidFill>
              <a:srgbClr val="B03A2E"/>
            </a:solidFill>
            <a:prstDash val="solid"/>
          </a:ln>
        </p:spPr>
        <p:txBody>
          <a:bodyPr/>
          <a:lstStyle/>
          <a:p>
            <a:endParaRPr lang="en-US"/>
          </a:p>
        </p:txBody>
      </p:sp>
      <p:sp>
        <p:nvSpPr>
          <p:cNvPr id="9" name="Text 7"/>
          <p:cNvSpPr/>
          <p:nvPr/>
        </p:nvSpPr>
        <p:spPr>
          <a:xfrm>
            <a:off x="5440680" y="1664208"/>
            <a:ext cx="640080" cy="320040"/>
          </a:xfrm>
          <a:prstGeom prst="rect">
            <a:avLst/>
          </a:prstGeom>
          <a:noFill/>
          <a:ln/>
        </p:spPr>
        <p:txBody>
          <a:bodyPr wrap="square" rtlCol="0" anchor="ctr"/>
          <a:lstStyle/>
          <a:p>
            <a:pPr marL="0" indent="0" algn="r">
              <a:buNone/>
            </a:pPr>
            <a:r>
              <a:rPr lang="en-US" sz="1100" b="1" dirty="0">
                <a:solidFill>
                  <a:srgbClr val="B03A2E"/>
                </a:solidFill>
                <a:latin typeface="Calibri" pitchFamily="34" charset="0"/>
                <a:ea typeface="Calibri" pitchFamily="34" charset="-122"/>
                <a:cs typeface="Calibri" pitchFamily="34" charset="-120"/>
              </a:rPr>
              <a:t>34,598</a:t>
            </a:r>
            <a:endParaRPr lang="en-US" sz="1100" dirty="0"/>
          </a:p>
        </p:txBody>
      </p:sp>
      <p:sp>
        <p:nvSpPr>
          <p:cNvPr id="10" name="Text 8"/>
          <p:cNvSpPr/>
          <p:nvPr/>
        </p:nvSpPr>
        <p:spPr>
          <a:xfrm>
            <a:off x="365760" y="2377440"/>
            <a:ext cx="3200400" cy="320040"/>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Amputations</a:t>
            </a:r>
            <a:endParaRPr lang="en-US" sz="1100" dirty="0"/>
          </a:p>
        </p:txBody>
      </p:sp>
      <p:sp>
        <p:nvSpPr>
          <p:cNvPr id="11" name="Shape 9"/>
          <p:cNvSpPr/>
          <p:nvPr/>
        </p:nvSpPr>
        <p:spPr>
          <a:xfrm>
            <a:off x="3611880" y="2423160"/>
            <a:ext cx="1737360" cy="256032"/>
          </a:xfrm>
          <a:prstGeom prst="rect">
            <a:avLst/>
          </a:prstGeom>
          <a:solidFill>
            <a:srgbClr val="D6E8F5"/>
          </a:solidFill>
          <a:ln w="12700">
            <a:solidFill>
              <a:srgbClr val="D6E8F5"/>
            </a:solidFill>
            <a:prstDash val="solid"/>
          </a:ln>
        </p:spPr>
        <p:txBody>
          <a:bodyPr/>
          <a:lstStyle/>
          <a:p>
            <a:endParaRPr lang="en-US"/>
          </a:p>
        </p:txBody>
      </p:sp>
      <p:sp>
        <p:nvSpPr>
          <p:cNvPr id="12" name="Shape 10"/>
          <p:cNvSpPr/>
          <p:nvPr/>
        </p:nvSpPr>
        <p:spPr>
          <a:xfrm>
            <a:off x="3611880" y="2423160"/>
            <a:ext cx="1181405" cy="256032"/>
          </a:xfrm>
          <a:prstGeom prst="rect">
            <a:avLst/>
          </a:prstGeom>
          <a:solidFill>
            <a:srgbClr val="B03A2E"/>
          </a:solidFill>
          <a:ln w="12700">
            <a:solidFill>
              <a:srgbClr val="B03A2E"/>
            </a:solidFill>
            <a:prstDash val="solid"/>
          </a:ln>
        </p:spPr>
        <p:txBody>
          <a:bodyPr/>
          <a:lstStyle/>
          <a:p>
            <a:endParaRPr lang="en-US"/>
          </a:p>
        </p:txBody>
      </p:sp>
      <p:sp>
        <p:nvSpPr>
          <p:cNvPr id="13" name="Text 11"/>
          <p:cNvSpPr/>
          <p:nvPr/>
        </p:nvSpPr>
        <p:spPr>
          <a:xfrm>
            <a:off x="5440680" y="2377440"/>
            <a:ext cx="640080" cy="320040"/>
          </a:xfrm>
          <a:prstGeom prst="rect">
            <a:avLst/>
          </a:prstGeom>
          <a:noFill/>
          <a:ln/>
        </p:spPr>
        <p:txBody>
          <a:bodyPr wrap="square" rtlCol="0" anchor="ctr"/>
          <a:lstStyle/>
          <a:p>
            <a:pPr marL="0" indent="0" algn="r">
              <a:buNone/>
            </a:pPr>
            <a:r>
              <a:rPr lang="en-US" sz="1100" b="1" dirty="0">
                <a:solidFill>
                  <a:srgbClr val="B03A2E"/>
                </a:solidFill>
                <a:latin typeface="Calibri" pitchFamily="34" charset="0"/>
                <a:ea typeface="Calibri" pitchFamily="34" charset="-122"/>
                <a:cs typeface="Calibri" pitchFamily="34" charset="-120"/>
              </a:rPr>
              <a:t>23,449</a:t>
            </a:r>
            <a:endParaRPr lang="en-US" sz="1100" dirty="0"/>
          </a:p>
        </p:txBody>
      </p:sp>
      <p:sp>
        <p:nvSpPr>
          <p:cNvPr id="14" name="Text 12"/>
          <p:cNvSpPr/>
          <p:nvPr/>
        </p:nvSpPr>
        <p:spPr>
          <a:xfrm>
            <a:off x="365760" y="3090672"/>
            <a:ext cx="3200400" cy="320040"/>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Soreness &amp; Pain</a:t>
            </a:r>
            <a:endParaRPr lang="en-US" sz="1100" dirty="0"/>
          </a:p>
        </p:txBody>
      </p:sp>
      <p:sp>
        <p:nvSpPr>
          <p:cNvPr id="15" name="Shape 13"/>
          <p:cNvSpPr/>
          <p:nvPr/>
        </p:nvSpPr>
        <p:spPr>
          <a:xfrm>
            <a:off x="3611880" y="3136392"/>
            <a:ext cx="1737360" cy="256032"/>
          </a:xfrm>
          <a:prstGeom prst="rect">
            <a:avLst/>
          </a:prstGeom>
          <a:solidFill>
            <a:srgbClr val="D6E8F5"/>
          </a:solidFill>
          <a:ln w="12700">
            <a:solidFill>
              <a:srgbClr val="D6E8F5"/>
            </a:solidFill>
            <a:prstDash val="solid"/>
          </a:ln>
        </p:spPr>
        <p:txBody>
          <a:bodyPr/>
          <a:lstStyle/>
          <a:p>
            <a:endParaRPr lang="en-US"/>
          </a:p>
        </p:txBody>
      </p:sp>
      <p:sp>
        <p:nvSpPr>
          <p:cNvPr id="16" name="Shape 14"/>
          <p:cNvSpPr/>
          <p:nvPr/>
        </p:nvSpPr>
        <p:spPr>
          <a:xfrm>
            <a:off x="3611880" y="3136392"/>
            <a:ext cx="330098" cy="256032"/>
          </a:xfrm>
          <a:prstGeom prst="rect">
            <a:avLst/>
          </a:prstGeom>
          <a:solidFill>
            <a:srgbClr val="B03A2E"/>
          </a:solidFill>
          <a:ln w="12700">
            <a:solidFill>
              <a:srgbClr val="B03A2E"/>
            </a:solidFill>
            <a:prstDash val="solid"/>
          </a:ln>
        </p:spPr>
        <p:txBody>
          <a:bodyPr/>
          <a:lstStyle/>
          <a:p>
            <a:endParaRPr lang="en-US"/>
          </a:p>
        </p:txBody>
      </p:sp>
      <p:sp>
        <p:nvSpPr>
          <p:cNvPr id="17" name="Text 15"/>
          <p:cNvSpPr/>
          <p:nvPr/>
        </p:nvSpPr>
        <p:spPr>
          <a:xfrm>
            <a:off x="5440680" y="3090672"/>
            <a:ext cx="640080" cy="320040"/>
          </a:xfrm>
          <a:prstGeom prst="rect">
            <a:avLst/>
          </a:prstGeom>
          <a:noFill/>
          <a:ln/>
        </p:spPr>
        <p:txBody>
          <a:bodyPr wrap="square" rtlCol="0" anchor="ctr"/>
          <a:lstStyle/>
          <a:p>
            <a:pPr marL="0" indent="0" algn="r">
              <a:buNone/>
            </a:pPr>
            <a:r>
              <a:rPr lang="en-US" sz="1100" b="1" dirty="0">
                <a:solidFill>
                  <a:srgbClr val="B03A2E"/>
                </a:solidFill>
                <a:latin typeface="Calibri" pitchFamily="34" charset="0"/>
                <a:ea typeface="Calibri" pitchFamily="34" charset="-122"/>
                <a:cs typeface="Calibri" pitchFamily="34" charset="-120"/>
              </a:rPr>
              <a:t>6,522</a:t>
            </a:r>
            <a:endParaRPr lang="en-US" sz="1100" dirty="0"/>
          </a:p>
        </p:txBody>
      </p:sp>
      <p:sp>
        <p:nvSpPr>
          <p:cNvPr id="18" name="Text 16"/>
          <p:cNvSpPr/>
          <p:nvPr/>
        </p:nvSpPr>
        <p:spPr>
          <a:xfrm>
            <a:off x="365760" y="3803904"/>
            <a:ext cx="3200400" cy="320040"/>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Cuts &amp; Lacerations</a:t>
            </a:r>
            <a:endParaRPr lang="en-US" sz="1100" dirty="0"/>
          </a:p>
        </p:txBody>
      </p:sp>
      <p:sp>
        <p:nvSpPr>
          <p:cNvPr id="19" name="Shape 17"/>
          <p:cNvSpPr/>
          <p:nvPr/>
        </p:nvSpPr>
        <p:spPr>
          <a:xfrm>
            <a:off x="3611880" y="3849624"/>
            <a:ext cx="1737360" cy="256032"/>
          </a:xfrm>
          <a:prstGeom prst="rect">
            <a:avLst/>
          </a:prstGeom>
          <a:solidFill>
            <a:srgbClr val="D6E8F5"/>
          </a:solidFill>
          <a:ln w="12700">
            <a:solidFill>
              <a:srgbClr val="D6E8F5"/>
            </a:solidFill>
            <a:prstDash val="solid"/>
          </a:ln>
        </p:spPr>
        <p:txBody>
          <a:bodyPr/>
          <a:lstStyle/>
          <a:p>
            <a:endParaRPr lang="en-US"/>
          </a:p>
        </p:txBody>
      </p:sp>
      <p:sp>
        <p:nvSpPr>
          <p:cNvPr id="20" name="Shape 18"/>
          <p:cNvSpPr/>
          <p:nvPr/>
        </p:nvSpPr>
        <p:spPr>
          <a:xfrm>
            <a:off x="3611880" y="3849624"/>
            <a:ext cx="208482" cy="256032"/>
          </a:xfrm>
          <a:prstGeom prst="rect">
            <a:avLst/>
          </a:prstGeom>
          <a:solidFill>
            <a:srgbClr val="B03A2E"/>
          </a:solidFill>
          <a:ln w="12700">
            <a:solidFill>
              <a:srgbClr val="B03A2E"/>
            </a:solidFill>
            <a:prstDash val="solid"/>
          </a:ln>
        </p:spPr>
        <p:txBody>
          <a:bodyPr/>
          <a:lstStyle/>
          <a:p>
            <a:endParaRPr lang="en-US"/>
          </a:p>
        </p:txBody>
      </p:sp>
      <p:sp>
        <p:nvSpPr>
          <p:cNvPr id="21" name="Text 19"/>
          <p:cNvSpPr/>
          <p:nvPr/>
        </p:nvSpPr>
        <p:spPr>
          <a:xfrm>
            <a:off x="5440680" y="3803904"/>
            <a:ext cx="640080" cy="320040"/>
          </a:xfrm>
          <a:prstGeom prst="rect">
            <a:avLst/>
          </a:prstGeom>
          <a:noFill/>
          <a:ln/>
        </p:spPr>
        <p:txBody>
          <a:bodyPr wrap="square" rtlCol="0" anchor="ctr"/>
          <a:lstStyle/>
          <a:p>
            <a:pPr marL="0" indent="0" algn="r">
              <a:buNone/>
            </a:pPr>
            <a:r>
              <a:rPr lang="en-US" sz="1100" b="1" dirty="0">
                <a:solidFill>
                  <a:srgbClr val="B03A2E"/>
                </a:solidFill>
                <a:latin typeface="Calibri" pitchFamily="34" charset="0"/>
                <a:ea typeface="Calibri" pitchFamily="34" charset="-122"/>
                <a:cs typeface="Calibri" pitchFamily="34" charset="-120"/>
              </a:rPr>
              <a:t>4,267</a:t>
            </a:r>
            <a:endParaRPr lang="en-US" sz="1100" dirty="0"/>
          </a:p>
        </p:txBody>
      </p:sp>
      <p:sp>
        <p:nvSpPr>
          <p:cNvPr id="22" name="Text 20"/>
          <p:cNvSpPr/>
          <p:nvPr/>
        </p:nvSpPr>
        <p:spPr>
          <a:xfrm>
            <a:off x="365760" y="4517136"/>
            <a:ext cx="3200400" cy="320040"/>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Amputations, avulsions, enucleations</a:t>
            </a:r>
            <a:endParaRPr lang="en-US" sz="1100" dirty="0"/>
          </a:p>
        </p:txBody>
      </p:sp>
      <p:sp>
        <p:nvSpPr>
          <p:cNvPr id="23" name="Shape 21"/>
          <p:cNvSpPr/>
          <p:nvPr/>
        </p:nvSpPr>
        <p:spPr>
          <a:xfrm>
            <a:off x="3611880" y="4562856"/>
            <a:ext cx="1737360" cy="256032"/>
          </a:xfrm>
          <a:prstGeom prst="rect">
            <a:avLst/>
          </a:prstGeom>
          <a:solidFill>
            <a:srgbClr val="D6E8F5"/>
          </a:solidFill>
          <a:ln w="12700">
            <a:solidFill>
              <a:srgbClr val="D6E8F5"/>
            </a:solidFill>
            <a:prstDash val="solid"/>
          </a:ln>
        </p:spPr>
        <p:txBody>
          <a:bodyPr/>
          <a:lstStyle/>
          <a:p>
            <a:endParaRPr lang="en-US"/>
          </a:p>
        </p:txBody>
      </p:sp>
      <p:sp>
        <p:nvSpPr>
          <p:cNvPr id="24" name="Shape 22"/>
          <p:cNvSpPr/>
          <p:nvPr/>
        </p:nvSpPr>
        <p:spPr>
          <a:xfrm>
            <a:off x="3611880" y="4562856"/>
            <a:ext cx="138989" cy="256032"/>
          </a:xfrm>
          <a:prstGeom prst="rect">
            <a:avLst/>
          </a:prstGeom>
          <a:solidFill>
            <a:srgbClr val="B03A2E"/>
          </a:solidFill>
          <a:ln w="12700">
            <a:solidFill>
              <a:srgbClr val="B03A2E"/>
            </a:solidFill>
            <a:prstDash val="solid"/>
          </a:ln>
        </p:spPr>
        <p:txBody>
          <a:bodyPr/>
          <a:lstStyle/>
          <a:p>
            <a:endParaRPr lang="en-US"/>
          </a:p>
        </p:txBody>
      </p:sp>
      <p:sp>
        <p:nvSpPr>
          <p:cNvPr id="25" name="Text 23"/>
          <p:cNvSpPr/>
          <p:nvPr/>
        </p:nvSpPr>
        <p:spPr>
          <a:xfrm>
            <a:off x="5440680" y="4517136"/>
            <a:ext cx="640080" cy="320040"/>
          </a:xfrm>
          <a:prstGeom prst="rect">
            <a:avLst/>
          </a:prstGeom>
          <a:noFill/>
          <a:ln/>
        </p:spPr>
        <p:txBody>
          <a:bodyPr wrap="square" rtlCol="0" anchor="ctr"/>
          <a:lstStyle/>
          <a:p>
            <a:pPr marL="0" indent="0" algn="r">
              <a:buNone/>
            </a:pPr>
            <a:r>
              <a:rPr lang="en-US" sz="1100" b="1" dirty="0">
                <a:solidFill>
                  <a:srgbClr val="B03A2E"/>
                </a:solidFill>
                <a:latin typeface="Calibri" pitchFamily="34" charset="0"/>
                <a:ea typeface="Calibri" pitchFamily="34" charset="-122"/>
                <a:cs typeface="Calibri" pitchFamily="34" charset="-120"/>
              </a:rPr>
              <a:t>2,791</a:t>
            </a:r>
            <a:endParaRPr lang="en-US" sz="1100" dirty="0"/>
          </a:p>
        </p:txBody>
      </p:sp>
      <p:sp>
        <p:nvSpPr>
          <p:cNvPr id="26" name="Text 24"/>
          <p:cNvSpPr/>
          <p:nvPr/>
        </p:nvSpPr>
        <p:spPr>
          <a:xfrm>
            <a:off x="365760" y="5230368"/>
            <a:ext cx="5669280" cy="502920"/>
          </a:xfrm>
          <a:prstGeom prst="rect">
            <a:avLst/>
          </a:prstGeom>
          <a:noFill/>
          <a:ln/>
        </p:spPr>
        <p:txBody>
          <a:bodyPr wrap="square" rtlCol="0" anchor="ctr"/>
          <a:lstStyle/>
          <a:p>
            <a:pPr marL="0" indent="0">
              <a:buNone/>
            </a:pPr>
            <a:r>
              <a:rPr lang="en-US" sz="1100" b="1" dirty="0">
                <a:solidFill>
                  <a:srgbClr val="1B4F72"/>
                </a:solidFill>
                <a:latin typeface="Calibri" pitchFamily="34" charset="0"/>
                <a:ea typeface="Calibri" pitchFamily="34" charset="-122"/>
                <a:cs typeface="Calibri" pitchFamily="34" charset="-120"/>
              </a:rPr>
              <a:t>Most Injured Body Part: Fingertip(s) </a:t>
            </a:r>
            <a:r>
              <a:rPr lang="en-US" sz="1100" b="1">
                <a:solidFill>
                  <a:srgbClr val="1B4F72"/>
                </a:solidFill>
                <a:latin typeface="Calibri" pitchFamily="34" charset="0"/>
                <a:ea typeface="Calibri" pitchFamily="34" charset="-122"/>
                <a:cs typeface="Calibri" pitchFamily="34" charset="-120"/>
              </a:rPr>
              <a:t>-</a:t>
            </a:r>
            <a:r>
              <a:rPr lang="en-US" sz="1100" b="1" dirty="0">
                <a:solidFill>
                  <a:srgbClr val="1B4F72"/>
                </a:solidFill>
                <a:latin typeface="Calibri" pitchFamily="34" charset="0"/>
                <a:ea typeface="Calibri" pitchFamily="34" charset="-122"/>
                <a:cs typeface="Calibri" pitchFamily="34" charset="-120"/>
              </a:rPr>
              <a:t> 10,402 incidents</a:t>
            </a:r>
            <a:endParaRPr lang="en-US" sz="1100" dirty="0"/>
          </a:p>
          <a:p>
            <a:pPr marL="0" indent="0">
              <a:buNone/>
            </a:pPr>
            <a:r>
              <a:rPr lang="en-US" sz="1100" b="1" dirty="0">
                <a:solidFill>
                  <a:srgbClr val="1B4F72"/>
                </a:solidFill>
                <a:latin typeface="Calibri" pitchFamily="34" charset="0"/>
                <a:ea typeface="Calibri" pitchFamily="34" charset="-122"/>
                <a:cs typeface="Calibri" pitchFamily="34" charset="-120"/>
              </a:rPr>
              <a:t>Fingers dominate the top 3 body part categories</a:t>
            </a:r>
            <a:endParaRPr lang="en-US" sz="1100" dirty="0"/>
          </a:p>
        </p:txBody>
      </p:sp>
      <p:sp>
        <p:nvSpPr>
          <p:cNvPr id="27" name="Shape 25"/>
          <p:cNvSpPr/>
          <p:nvPr/>
        </p:nvSpPr>
        <p:spPr>
          <a:xfrm>
            <a:off x="6263640" y="1143000"/>
            <a:ext cx="36576" cy="5029200"/>
          </a:xfrm>
          <a:prstGeom prst="rect">
            <a:avLst/>
          </a:prstGeom>
          <a:solidFill>
            <a:srgbClr val="D6E8F5"/>
          </a:solidFill>
          <a:ln w="12700">
            <a:solidFill>
              <a:srgbClr val="D6E8F5"/>
            </a:solidFill>
            <a:prstDash val="solid"/>
          </a:ln>
        </p:spPr>
        <p:txBody>
          <a:bodyPr/>
          <a:lstStyle/>
          <a:p>
            <a:endParaRPr lang="en-US"/>
          </a:p>
        </p:txBody>
      </p:sp>
      <p:sp>
        <p:nvSpPr>
          <p:cNvPr id="28" name="Text 26"/>
          <p:cNvSpPr/>
          <p:nvPr/>
        </p:nvSpPr>
        <p:spPr>
          <a:xfrm>
            <a:off x="6400800" y="1188720"/>
            <a:ext cx="5394960" cy="365760"/>
          </a:xfrm>
          <a:prstGeom prst="rect">
            <a:avLst/>
          </a:prstGeom>
          <a:noFill/>
          <a:ln/>
        </p:spPr>
        <p:txBody>
          <a:bodyPr wrap="square" rtlCol="0" anchor="ctr"/>
          <a:lstStyle/>
          <a:p>
            <a:pPr marL="0" indent="0">
              <a:buNone/>
            </a:pPr>
            <a:r>
              <a:rPr lang="en-US" sz="1500" b="1" dirty="0">
                <a:solidFill>
                  <a:srgbClr val="0D1B2A"/>
                </a:solidFill>
                <a:latin typeface="Calibri" pitchFamily="34" charset="0"/>
                <a:ea typeface="Calibri" pitchFamily="34" charset="-122"/>
                <a:cs typeface="Calibri" pitchFamily="34" charset="-120"/>
              </a:rPr>
              <a:t>Incidents by Day of Week</a:t>
            </a:r>
            <a:endParaRPr lang="en-US" sz="1500" dirty="0"/>
          </a:p>
        </p:txBody>
      </p:sp>
      <p:sp>
        <p:nvSpPr>
          <p:cNvPr id="29" name="Text 27"/>
          <p:cNvSpPr/>
          <p:nvPr/>
        </p:nvSpPr>
        <p:spPr>
          <a:xfrm>
            <a:off x="6400800" y="1664208"/>
            <a:ext cx="1371600" cy="292608"/>
          </a:xfrm>
          <a:prstGeom prst="rect">
            <a:avLst/>
          </a:prstGeom>
          <a:noFill/>
          <a:ln/>
        </p:spPr>
        <p:txBody>
          <a:bodyPr wrap="square" rtlCol="0" anchor="ctr"/>
          <a:lstStyle/>
          <a:p>
            <a:pPr marL="0" indent="0">
              <a:buNone/>
            </a:pPr>
            <a:r>
              <a:rPr lang="en-US" sz="1100" dirty="0">
                <a:solidFill>
                  <a:srgbClr val="5A7A8E"/>
                </a:solidFill>
                <a:latin typeface="Calibri" pitchFamily="34" charset="0"/>
                <a:ea typeface="Calibri" pitchFamily="34" charset="-122"/>
                <a:cs typeface="Calibri" pitchFamily="34" charset="-120"/>
              </a:rPr>
              <a:t>Sunday</a:t>
            </a:r>
            <a:endParaRPr lang="en-US" sz="1100" dirty="0"/>
          </a:p>
        </p:txBody>
      </p:sp>
      <p:sp>
        <p:nvSpPr>
          <p:cNvPr id="30" name="Shape 28"/>
          <p:cNvSpPr/>
          <p:nvPr/>
        </p:nvSpPr>
        <p:spPr>
          <a:xfrm>
            <a:off x="7863840" y="1709928"/>
            <a:ext cx="2560320" cy="219456"/>
          </a:xfrm>
          <a:prstGeom prst="rect">
            <a:avLst/>
          </a:prstGeom>
          <a:solidFill>
            <a:srgbClr val="D6E8F5"/>
          </a:solidFill>
          <a:ln w="12700">
            <a:solidFill>
              <a:srgbClr val="D6E8F5"/>
            </a:solidFill>
            <a:prstDash val="solid"/>
          </a:ln>
        </p:spPr>
        <p:txBody>
          <a:bodyPr/>
          <a:lstStyle/>
          <a:p>
            <a:endParaRPr lang="en-US"/>
          </a:p>
        </p:txBody>
      </p:sp>
      <p:sp>
        <p:nvSpPr>
          <p:cNvPr id="31" name="Shape 29"/>
          <p:cNvSpPr/>
          <p:nvPr/>
        </p:nvSpPr>
        <p:spPr>
          <a:xfrm>
            <a:off x="7863840" y="1709928"/>
            <a:ext cx="614955" cy="219456"/>
          </a:xfrm>
          <a:prstGeom prst="rect">
            <a:avLst/>
          </a:prstGeom>
          <a:solidFill>
            <a:srgbClr val="5A7A8E"/>
          </a:solidFill>
          <a:ln w="12700">
            <a:solidFill>
              <a:srgbClr val="5A7A8E"/>
            </a:solidFill>
            <a:prstDash val="solid"/>
          </a:ln>
        </p:spPr>
        <p:txBody>
          <a:bodyPr/>
          <a:lstStyle/>
          <a:p>
            <a:endParaRPr lang="en-US"/>
          </a:p>
        </p:txBody>
      </p:sp>
      <p:sp>
        <p:nvSpPr>
          <p:cNvPr id="32" name="Text 30"/>
          <p:cNvSpPr/>
          <p:nvPr/>
        </p:nvSpPr>
        <p:spPr>
          <a:xfrm>
            <a:off x="10515600" y="1664208"/>
            <a:ext cx="1097280" cy="292608"/>
          </a:xfrm>
          <a:prstGeom prst="rect">
            <a:avLst/>
          </a:prstGeom>
          <a:noFill/>
          <a:ln/>
        </p:spPr>
        <p:txBody>
          <a:bodyPr wrap="square" rtlCol="0" anchor="ctr"/>
          <a:lstStyle/>
          <a:p>
            <a:pPr marL="0" indent="0" algn="r">
              <a:buNone/>
            </a:pPr>
            <a:r>
              <a:rPr lang="en-US" sz="1100" dirty="0">
                <a:solidFill>
                  <a:srgbClr val="5A7A8E"/>
                </a:solidFill>
                <a:latin typeface="Calibri" pitchFamily="34" charset="0"/>
                <a:ea typeface="Calibri" pitchFamily="34" charset="-122"/>
                <a:cs typeface="Calibri" pitchFamily="34" charset="-120"/>
              </a:rPr>
              <a:t>4,736</a:t>
            </a:r>
            <a:endParaRPr lang="en-US" sz="1100" dirty="0"/>
          </a:p>
        </p:txBody>
      </p:sp>
      <p:sp>
        <p:nvSpPr>
          <p:cNvPr id="33" name="Text 31"/>
          <p:cNvSpPr/>
          <p:nvPr/>
        </p:nvSpPr>
        <p:spPr>
          <a:xfrm>
            <a:off x="6400800" y="2231136"/>
            <a:ext cx="1371600" cy="292608"/>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Monday</a:t>
            </a:r>
            <a:endParaRPr lang="en-US" sz="1100" dirty="0"/>
          </a:p>
        </p:txBody>
      </p:sp>
      <p:sp>
        <p:nvSpPr>
          <p:cNvPr id="34" name="Shape 32"/>
          <p:cNvSpPr/>
          <p:nvPr/>
        </p:nvSpPr>
        <p:spPr>
          <a:xfrm>
            <a:off x="7863840" y="2276856"/>
            <a:ext cx="2560320" cy="219456"/>
          </a:xfrm>
          <a:prstGeom prst="rect">
            <a:avLst/>
          </a:prstGeom>
          <a:solidFill>
            <a:srgbClr val="D6E8F5"/>
          </a:solidFill>
          <a:ln w="12700">
            <a:solidFill>
              <a:srgbClr val="D6E8F5"/>
            </a:solidFill>
            <a:prstDash val="solid"/>
          </a:ln>
        </p:spPr>
        <p:txBody>
          <a:bodyPr/>
          <a:lstStyle/>
          <a:p>
            <a:endParaRPr lang="en-US"/>
          </a:p>
        </p:txBody>
      </p:sp>
      <p:sp>
        <p:nvSpPr>
          <p:cNvPr id="35" name="Shape 33"/>
          <p:cNvSpPr/>
          <p:nvPr/>
        </p:nvSpPr>
        <p:spPr>
          <a:xfrm>
            <a:off x="7863840" y="2276856"/>
            <a:ext cx="2400868" cy="219456"/>
          </a:xfrm>
          <a:prstGeom prst="rect">
            <a:avLst/>
          </a:prstGeom>
          <a:solidFill>
            <a:srgbClr val="2E86AB"/>
          </a:solidFill>
          <a:ln w="12700">
            <a:solidFill>
              <a:srgbClr val="2E86AB"/>
            </a:solidFill>
            <a:prstDash val="solid"/>
          </a:ln>
        </p:spPr>
        <p:txBody>
          <a:bodyPr/>
          <a:lstStyle/>
          <a:p>
            <a:endParaRPr lang="en-US"/>
          </a:p>
        </p:txBody>
      </p:sp>
      <p:sp>
        <p:nvSpPr>
          <p:cNvPr id="36" name="Text 34"/>
          <p:cNvSpPr/>
          <p:nvPr/>
        </p:nvSpPr>
        <p:spPr>
          <a:xfrm>
            <a:off x="10515600" y="2231136"/>
            <a:ext cx="1097280" cy="292608"/>
          </a:xfrm>
          <a:prstGeom prst="rect">
            <a:avLst/>
          </a:prstGeom>
          <a:noFill/>
          <a:ln/>
        </p:spPr>
        <p:txBody>
          <a:bodyPr wrap="square" rtlCol="0" anchor="ctr"/>
          <a:lstStyle/>
          <a:p>
            <a:pPr marL="0" indent="0" algn="r">
              <a:buNone/>
            </a:pPr>
            <a:r>
              <a:rPr lang="en-US" sz="1100" b="1" dirty="0">
                <a:solidFill>
                  <a:srgbClr val="1B4F72"/>
                </a:solidFill>
                <a:latin typeface="Calibri" pitchFamily="34" charset="0"/>
                <a:ea typeface="Calibri" pitchFamily="34" charset="-122"/>
                <a:cs typeface="Calibri" pitchFamily="34" charset="-120"/>
              </a:rPr>
              <a:t>18,490</a:t>
            </a:r>
            <a:endParaRPr lang="en-US" sz="1100" dirty="0"/>
          </a:p>
        </p:txBody>
      </p:sp>
      <p:sp>
        <p:nvSpPr>
          <p:cNvPr id="37" name="Text 35"/>
          <p:cNvSpPr/>
          <p:nvPr/>
        </p:nvSpPr>
        <p:spPr>
          <a:xfrm>
            <a:off x="6400800" y="2798064"/>
            <a:ext cx="1371600" cy="292608"/>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Tuesday</a:t>
            </a:r>
            <a:endParaRPr lang="en-US" sz="1100" dirty="0"/>
          </a:p>
        </p:txBody>
      </p:sp>
      <p:sp>
        <p:nvSpPr>
          <p:cNvPr id="38" name="Shape 36"/>
          <p:cNvSpPr/>
          <p:nvPr/>
        </p:nvSpPr>
        <p:spPr>
          <a:xfrm>
            <a:off x="7863840" y="2843784"/>
            <a:ext cx="2560320" cy="219456"/>
          </a:xfrm>
          <a:prstGeom prst="rect">
            <a:avLst/>
          </a:prstGeom>
          <a:solidFill>
            <a:srgbClr val="D6E8F5"/>
          </a:solidFill>
          <a:ln w="12700">
            <a:solidFill>
              <a:srgbClr val="D6E8F5"/>
            </a:solidFill>
            <a:prstDash val="solid"/>
          </a:ln>
        </p:spPr>
        <p:txBody>
          <a:bodyPr/>
          <a:lstStyle/>
          <a:p>
            <a:endParaRPr lang="en-US"/>
          </a:p>
        </p:txBody>
      </p:sp>
      <p:sp>
        <p:nvSpPr>
          <p:cNvPr id="39" name="Shape 37"/>
          <p:cNvSpPr/>
          <p:nvPr/>
        </p:nvSpPr>
        <p:spPr>
          <a:xfrm>
            <a:off x="7863840" y="2843784"/>
            <a:ext cx="2552789" cy="219456"/>
          </a:xfrm>
          <a:prstGeom prst="rect">
            <a:avLst/>
          </a:prstGeom>
          <a:solidFill>
            <a:srgbClr val="2E86AB"/>
          </a:solidFill>
          <a:ln w="12700">
            <a:solidFill>
              <a:srgbClr val="2E86AB"/>
            </a:solidFill>
            <a:prstDash val="solid"/>
          </a:ln>
        </p:spPr>
        <p:txBody>
          <a:bodyPr/>
          <a:lstStyle/>
          <a:p>
            <a:endParaRPr lang="en-US"/>
          </a:p>
        </p:txBody>
      </p:sp>
      <p:sp>
        <p:nvSpPr>
          <p:cNvPr id="40" name="Text 38"/>
          <p:cNvSpPr/>
          <p:nvPr/>
        </p:nvSpPr>
        <p:spPr>
          <a:xfrm>
            <a:off x="10515600" y="2798064"/>
            <a:ext cx="1097280" cy="292608"/>
          </a:xfrm>
          <a:prstGeom prst="rect">
            <a:avLst/>
          </a:prstGeom>
          <a:noFill/>
          <a:ln/>
        </p:spPr>
        <p:txBody>
          <a:bodyPr wrap="square" rtlCol="0" anchor="ctr"/>
          <a:lstStyle/>
          <a:p>
            <a:pPr marL="0" indent="0" algn="r">
              <a:buNone/>
            </a:pPr>
            <a:r>
              <a:rPr lang="en-US" sz="1100" b="1" dirty="0">
                <a:solidFill>
                  <a:srgbClr val="1B4F72"/>
                </a:solidFill>
                <a:latin typeface="Calibri" pitchFamily="34" charset="0"/>
                <a:ea typeface="Calibri" pitchFamily="34" charset="-122"/>
                <a:cs typeface="Calibri" pitchFamily="34" charset="-120"/>
              </a:rPr>
              <a:t>19,660</a:t>
            </a:r>
            <a:endParaRPr lang="en-US" sz="1100" dirty="0"/>
          </a:p>
        </p:txBody>
      </p:sp>
      <p:sp>
        <p:nvSpPr>
          <p:cNvPr id="41" name="Text 39"/>
          <p:cNvSpPr/>
          <p:nvPr/>
        </p:nvSpPr>
        <p:spPr>
          <a:xfrm>
            <a:off x="6400800" y="3364992"/>
            <a:ext cx="1371600" cy="292608"/>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Wednesday</a:t>
            </a:r>
            <a:endParaRPr lang="en-US" sz="1100" dirty="0"/>
          </a:p>
        </p:txBody>
      </p:sp>
      <p:sp>
        <p:nvSpPr>
          <p:cNvPr id="42" name="Shape 40"/>
          <p:cNvSpPr/>
          <p:nvPr/>
        </p:nvSpPr>
        <p:spPr>
          <a:xfrm>
            <a:off x="7863840" y="3410712"/>
            <a:ext cx="2560320" cy="219456"/>
          </a:xfrm>
          <a:prstGeom prst="rect">
            <a:avLst/>
          </a:prstGeom>
          <a:solidFill>
            <a:srgbClr val="D6E8F5"/>
          </a:solidFill>
          <a:ln w="12700">
            <a:solidFill>
              <a:srgbClr val="D6E8F5"/>
            </a:solidFill>
            <a:prstDash val="solid"/>
          </a:ln>
        </p:spPr>
        <p:txBody>
          <a:bodyPr/>
          <a:lstStyle/>
          <a:p>
            <a:endParaRPr lang="en-US"/>
          </a:p>
        </p:txBody>
      </p:sp>
      <p:sp>
        <p:nvSpPr>
          <p:cNvPr id="43" name="Shape 41"/>
          <p:cNvSpPr/>
          <p:nvPr/>
        </p:nvSpPr>
        <p:spPr>
          <a:xfrm>
            <a:off x="7863840" y="3410712"/>
            <a:ext cx="2560320" cy="219456"/>
          </a:xfrm>
          <a:prstGeom prst="rect">
            <a:avLst/>
          </a:prstGeom>
          <a:solidFill>
            <a:srgbClr val="2E86AB"/>
          </a:solidFill>
          <a:ln w="12700">
            <a:solidFill>
              <a:srgbClr val="2E86AB"/>
            </a:solidFill>
            <a:prstDash val="solid"/>
          </a:ln>
        </p:spPr>
        <p:txBody>
          <a:bodyPr/>
          <a:lstStyle/>
          <a:p>
            <a:endParaRPr lang="en-US"/>
          </a:p>
        </p:txBody>
      </p:sp>
      <p:sp>
        <p:nvSpPr>
          <p:cNvPr id="44" name="Text 42"/>
          <p:cNvSpPr/>
          <p:nvPr/>
        </p:nvSpPr>
        <p:spPr>
          <a:xfrm>
            <a:off x="10515600" y="3364992"/>
            <a:ext cx="1097280" cy="292608"/>
          </a:xfrm>
          <a:prstGeom prst="rect">
            <a:avLst/>
          </a:prstGeom>
          <a:noFill/>
          <a:ln/>
        </p:spPr>
        <p:txBody>
          <a:bodyPr wrap="square" rtlCol="0" anchor="ctr"/>
          <a:lstStyle/>
          <a:p>
            <a:pPr marL="0" indent="0" algn="r">
              <a:buNone/>
            </a:pPr>
            <a:r>
              <a:rPr lang="en-US" sz="1100" b="1" dirty="0">
                <a:solidFill>
                  <a:srgbClr val="1B4F72"/>
                </a:solidFill>
                <a:latin typeface="Calibri" pitchFamily="34" charset="0"/>
                <a:ea typeface="Calibri" pitchFamily="34" charset="-122"/>
                <a:cs typeface="Calibri" pitchFamily="34" charset="-120"/>
              </a:rPr>
              <a:t>19,718</a:t>
            </a:r>
            <a:endParaRPr lang="en-US" sz="1100" dirty="0"/>
          </a:p>
        </p:txBody>
      </p:sp>
      <p:sp>
        <p:nvSpPr>
          <p:cNvPr id="45" name="Text 43"/>
          <p:cNvSpPr/>
          <p:nvPr/>
        </p:nvSpPr>
        <p:spPr>
          <a:xfrm>
            <a:off x="6400800" y="3931920"/>
            <a:ext cx="1371600" cy="292608"/>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Thursday</a:t>
            </a:r>
            <a:endParaRPr lang="en-US" sz="1100" dirty="0"/>
          </a:p>
        </p:txBody>
      </p:sp>
      <p:sp>
        <p:nvSpPr>
          <p:cNvPr id="46" name="Shape 44"/>
          <p:cNvSpPr/>
          <p:nvPr/>
        </p:nvSpPr>
        <p:spPr>
          <a:xfrm>
            <a:off x="7863840" y="3977640"/>
            <a:ext cx="2560320" cy="219456"/>
          </a:xfrm>
          <a:prstGeom prst="rect">
            <a:avLst/>
          </a:prstGeom>
          <a:solidFill>
            <a:srgbClr val="D6E8F5"/>
          </a:solidFill>
          <a:ln w="12700">
            <a:solidFill>
              <a:srgbClr val="D6E8F5"/>
            </a:solidFill>
            <a:prstDash val="solid"/>
          </a:ln>
        </p:spPr>
        <p:txBody>
          <a:bodyPr/>
          <a:lstStyle/>
          <a:p>
            <a:endParaRPr lang="en-US"/>
          </a:p>
        </p:txBody>
      </p:sp>
      <p:sp>
        <p:nvSpPr>
          <p:cNvPr id="47" name="Shape 45"/>
          <p:cNvSpPr/>
          <p:nvPr/>
        </p:nvSpPr>
        <p:spPr>
          <a:xfrm>
            <a:off x="7863840" y="3977640"/>
            <a:ext cx="2453326" cy="219456"/>
          </a:xfrm>
          <a:prstGeom prst="rect">
            <a:avLst/>
          </a:prstGeom>
          <a:solidFill>
            <a:srgbClr val="2E86AB"/>
          </a:solidFill>
          <a:ln w="12700">
            <a:solidFill>
              <a:srgbClr val="2E86AB"/>
            </a:solidFill>
            <a:prstDash val="solid"/>
          </a:ln>
        </p:spPr>
        <p:txBody>
          <a:bodyPr/>
          <a:lstStyle/>
          <a:p>
            <a:endParaRPr lang="en-US"/>
          </a:p>
        </p:txBody>
      </p:sp>
      <p:sp>
        <p:nvSpPr>
          <p:cNvPr id="48" name="Text 46"/>
          <p:cNvSpPr/>
          <p:nvPr/>
        </p:nvSpPr>
        <p:spPr>
          <a:xfrm>
            <a:off x="10515600" y="3931920"/>
            <a:ext cx="1097280" cy="292608"/>
          </a:xfrm>
          <a:prstGeom prst="rect">
            <a:avLst/>
          </a:prstGeom>
          <a:noFill/>
          <a:ln/>
        </p:spPr>
        <p:txBody>
          <a:bodyPr wrap="square" rtlCol="0" anchor="ctr"/>
          <a:lstStyle/>
          <a:p>
            <a:pPr marL="0" indent="0" algn="r">
              <a:buNone/>
            </a:pPr>
            <a:r>
              <a:rPr lang="en-US" sz="1100" b="1" dirty="0">
                <a:solidFill>
                  <a:srgbClr val="1B4F72"/>
                </a:solidFill>
                <a:latin typeface="Calibri" pitchFamily="34" charset="0"/>
                <a:ea typeface="Calibri" pitchFamily="34" charset="-122"/>
                <a:cs typeface="Calibri" pitchFamily="34" charset="-120"/>
              </a:rPr>
              <a:t>18,894</a:t>
            </a:r>
            <a:endParaRPr lang="en-US" sz="1100" dirty="0"/>
          </a:p>
        </p:txBody>
      </p:sp>
      <p:sp>
        <p:nvSpPr>
          <p:cNvPr id="49" name="Text 47"/>
          <p:cNvSpPr/>
          <p:nvPr/>
        </p:nvSpPr>
        <p:spPr>
          <a:xfrm>
            <a:off x="6400800" y="4498848"/>
            <a:ext cx="1371600" cy="292608"/>
          </a:xfrm>
          <a:prstGeom prst="rect">
            <a:avLst/>
          </a:prstGeom>
          <a:noFill/>
          <a:ln/>
        </p:spPr>
        <p:txBody>
          <a:bodyPr wrap="square" rtlCol="0" anchor="ctr"/>
          <a:lstStyle/>
          <a:p>
            <a:pPr marL="0" indent="0">
              <a:buNone/>
            </a:pPr>
            <a:r>
              <a:rPr lang="en-US" sz="1100" dirty="0">
                <a:solidFill>
                  <a:srgbClr val="1A2E3B"/>
                </a:solidFill>
                <a:latin typeface="Calibri" pitchFamily="34" charset="0"/>
                <a:ea typeface="Calibri" pitchFamily="34" charset="-122"/>
                <a:cs typeface="Calibri" pitchFamily="34" charset="-120"/>
              </a:rPr>
              <a:t>Friday</a:t>
            </a:r>
            <a:endParaRPr lang="en-US" sz="1100" dirty="0"/>
          </a:p>
        </p:txBody>
      </p:sp>
      <p:sp>
        <p:nvSpPr>
          <p:cNvPr id="50" name="Shape 48"/>
          <p:cNvSpPr/>
          <p:nvPr/>
        </p:nvSpPr>
        <p:spPr>
          <a:xfrm>
            <a:off x="7863840" y="4544568"/>
            <a:ext cx="2560320" cy="219456"/>
          </a:xfrm>
          <a:prstGeom prst="rect">
            <a:avLst/>
          </a:prstGeom>
          <a:solidFill>
            <a:srgbClr val="D6E8F5"/>
          </a:solidFill>
          <a:ln w="12700">
            <a:solidFill>
              <a:srgbClr val="D6E8F5"/>
            </a:solidFill>
            <a:prstDash val="solid"/>
          </a:ln>
        </p:spPr>
        <p:txBody>
          <a:bodyPr/>
          <a:lstStyle/>
          <a:p>
            <a:endParaRPr lang="en-US"/>
          </a:p>
        </p:txBody>
      </p:sp>
      <p:sp>
        <p:nvSpPr>
          <p:cNvPr id="51" name="Shape 49"/>
          <p:cNvSpPr/>
          <p:nvPr/>
        </p:nvSpPr>
        <p:spPr>
          <a:xfrm>
            <a:off x="7863840" y="4544568"/>
            <a:ext cx="2117283" cy="219456"/>
          </a:xfrm>
          <a:prstGeom prst="rect">
            <a:avLst/>
          </a:prstGeom>
          <a:solidFill>
            <a:srgbClr val="2E86AB"/>
          </a:solidFill>
          <a:ln w="12700">
            <a:solidFill>
              <a:srgbClr val="2E86AB"/>
            </a:solidFill>
            <a:prstDash val="solid"/>
          </a:ln>
        </p:spPr>
        <p:txBody>
          <a:bodyPr/>
          <a:lstStyle/>
          <a:p>
            <a:endParaRPr lang="en-US"/>
          </a:p>
        </p:txBody>
      </p:sp>
      <p:sp>
        <p:nvSpPr>
          <p:cNvPr id="52" name="Text 50"/>
          <p:cNvSpPr/>
          <p:nvPr/>
        </p:nvSpPr>
        <p:spPr>
          <a:xfrm>
            <a:off x="10515600" y="4498848"/>
            <a:ext cx="1097280" cy="292608"/>
          </a:xfrm>
          <a:prstGeom prst="rect">
            <a:avLst/>
          </a:prstGeom>
          <a:noFill/>
          <a:ln/>
        </p:spPr>
        <p:txBody>
          <a:bodyPr wrap="square" rtlCol="0" anchor="ctr"/>
          <a:lstStyle/>
          <a:p>
            <a:pPr marL="0" indent="0" algn="r">
              <a:buNone/>
            </a:pPr>
            <a:r>
              <a:rPr lang="en-US" sz="1100" b="1" dirty="0">
                <a:solidFill>
                  <a:srgbClr val="1B4F72"/>
                </a:solidFill>
                <a:latin typeface="Calibri" pitchFamily="34" charset="0"/>
                <a:ea typeface="Calibri" pitchFamily="34" charset="-122"/>
                <a:cs typeface="Calibri" pitchFamily="34" charset="-120"/>
              </a:rPr>
              <a:t>16,306</a:t>
            </a:r>
            <a:endParaRPr lang="en-US" sz="1100" dirty="0"/>
          </a:p>
        </p:txBody>
      </p:sp>
      <p:sp>
        <p:nvSpPr>
          <p:cNvPr id="53" name="Text 51"/>
          <p:cNvSpPr/>
          <p:nvPr/>
        </p:nvSpPr>
        <p:spPr>
          <a:xfrm>
            <a:off x="6400800" y="5065776"/>
            <a:ext cx="1371600" cy="292608"/>
          </a:xfrm>
          <a:prstGeom prst="rect">
            <a:avLst/>
          </a:prstGeom>
          <a:noFill/>
          <a:ln/>
        </p:spPr>
        <p:txBody>
          <a:bodyPr wrap="square" rtlCol="0" anchor="ctr"/>
          <a:lstStyle/>
          <a:p>
            <a:pPr marL="0" indent="0">
              <a:buNone/>
            </a:pPr>
            <a:r>
              <a:rPr lang="en-US" sz="1100" dirty="0">
                <a:solidFill>
                  <a:srgbClr val="5A7A8E"/>
                </a:solidFill>
                <a:latin typeface="Calibri" pitchFamily="34" charset="0"/>
                <a:ea typeface="Calibri" pitchFamily="34" charset="-122"/>
                <a:cs typeface="Calibri" pitchFamily="34" charset="-120"/>
              </a:rPr>
              <a:t>Saturday</a:t>
            </a:r>
            <a:endParaRPr lang="en-US" sz="1100" dirty="0"/>
          </a:p>
        </p:txBody>
      </p:sp>
      <p:sp>
        <p:nvSpPr>
          <p:cNvPr id="54" name="Shape 52"/>
          <p:cNvSpPr/>
          <p:nvPr/>
        </p:nvSpPr>
        <p:spPr>
          <a:xfrm>
            <a:off x="7863840" y="5111496"/>
            <a:ext cx="2560320" cy="219456"/>
          </a:xfrm>
          <a:prstGeom prst="rect">
            <a:avLst/>
          </a:prstGeom>
          <a:solidFill>
            <a:srgbClr val="D6E8F5"/>
          </a:solidFill>
          <a:ln w="12700">
            <a:solidFill>
              <a:srgbClr val="D6E8F5"/>
            </a:solidFill>
            <a:prstDash val="solid"/>
          </a:ln>
        </p:spPr>
        <p:txBody>
          <a:bodyPr/>
          <a:lstStyle/>
          <a:p>
            <a:endParaRPr lang="en-US"/>
          </a:p>
        </p:txBody>
      </p:sp>
      <p:sp>
        <p:nvSpPr>
          <p:cNvPr id="55" name="Shape 53"/>
          <p:cNvSpPr/>
          <p:nvPr/>
        </p:nvSpPr>
        <p:spPr>
          <a:xfrm>
            <a:off x="7863840" y="5111496"/>
            <a:ext cx="975669" cy="219456"/>
          </a:xfrm>
          <a:prstGeom prst="rect">
            <a:avLst/>
          </a:prstGeom>
          <a:solidFill>
            <a:srgbClr val="5A7A8E"/>
          </a:solidFill>
          <a:ln w="12700">
            <a:solidFill>
              <a:srgbClr val="5A7A8E"/>
            </a:solidFill>
            <a:prstDash val="solid"/>
          </a:ln>
        </p:spPr>
        <p:txBody>
          <a:bodyPr/>
          <a:lstStyle/>
          <a:p>
            <a:endParaRPr lang="en-US"/>
          </a:p>
        </p:txBody>
      </p:sp>
      <p:sp>
        <p:nvSpPr>
          <p:cNvPr id="56" name="Text 54"/>
          <p:cNvSpPr/>
          <p:nvPr/>
        </p:nvSpPr>
        <p:spPr>
          <a:xfrm>
            <a:off x="10515600" y="5065776"/>
            <a:ext cx="1097280" cy="292608"/>
          </a:xfrm>
          <a:prstGeom prst="rect">
            <a:avLst/>
          </a:prstGeom>
          <a:noFill/>
          <a:ln/>
        </p:spPr>
        <p:txBody>
          <a:bodyPr wrap="square" rtlCol="0" anchor="ctr"/>
          <a:lstStyle/>
          <a:p>
            <a:pPr marL="0" indent="0" algn="r">
              <a:buNone/>
            </a:pPr>
            <a:r>
              <a:rPr lang="en-US" sz="1100" dirty="0">
                <a:solidFill>
                  <a:srgbClr val="5A7A8E"/>
                </a:solidFill>
                <a:latin typeface="Calibri" pitchFamily="34" charset="0"/>
                <a:ea typeface="Calibri" pitchFamily="34" charset="-122"/>
                <a:cs typeface="Calibri" pitchFamily="34" charset="-120"/>
              </a:rPr>
              <a:t>7,514</a:t>
            </a:r>
            <a:endParaRPr lang="en-US" sz="1100" dirty="0"/>
          </a:p>
        </p:txBody>
      </p:sp>
      <p:sp>
        <p:nvSpPr>
          <p:cNvPr id="57" name="Shape 55"/>
          <p:cNvSpPr/>
          <p:nvPr/>
        </p:nvSpPr>
        <p:spPr>
          <a:xfrm>
            <a:off x="6400800" y="5559552"/>
            <a:ext cx="219456" cy="219456"/>
          </a:xfrm>
          <a:prstGeom prst="rect">
            <a:avLst/>
          </a:prstGeom>
          <a:solidFill>
            <a:srgbClr val="2E86AB"/>
          </a:solidFill>
          <a:ln w="12700">
            <a:solidFill>
              <a:srgbClr val="2E86AB"/>
            </a:solidFill>
            <a:prstDash val="solid"/>
          </a:ln>
        </p:spPr>
        <p:txBody>
          <a:bodyPr/>
          <a:lstStyle/>
          <a:p>
            <a:endParaRPr lang="en-US"/>
          </a:p>
        </p:txBody>
      </p:sp>
      <p:sp>
        <p:nvSpPr>
          <p:cNvPr id="58" name="Text 56"/>
          <p:cNvSpPr/>
          <p:nvPr/>
        </p:nvSpPr>
        <p:spPr>
          <a:xfrm>
            <a:off x="6675120" y="5559552"/>
            <a:ext cx="1371600" cy="219456"/>
          </a:xfrm>
          <a:prstGeom prst="rect">
            <a:avLst/>
          </a:prstGeom>
          <a:noFill/>
          <a:ln/>
        </p:spPr>
        <p:txBody>
          <a:bodyPr wrap="square" rtlCol="0" anchor="ctr"/>
          <a:lstStyle/>
          <a:p>
            <a:pPr marL="0" indent="0">
              <a:buNone/>
            </a:pPr>
            <a:r>
              <a:rPr lang="en-US" sz="1000" dirty="0">
                <a:solidFill>
                  <a:srgbClr val="1A2E3B"/>
                </a:solidFill>
                <a:latin typeface="Calibri" pitchFamily="34" charset="0"/>
                <a:ea typeface="Calibri" pitchFamily="34" charset="-122"/>
                <a:cs typeface="Calibri" pitchFamily="34" charset="-120"/>
              </a:rPr>
              <a:t>Weekdays</a:t>
            </a:r>
            <a:endParaRPr lang="en-US" sz="1000" dirty="0"/>
          </a:p>
        </p:txBody>
      </p:sp>
      <p:sp>
        <p:nvSpPr>
          <p:cNvPr id="59" name="Shape 57"/>
          <p:cNvSpPr/>
          <p:nvPr/>
        </p:nvSpPr>
        <p:spPr>
          <a:xfrm>
            <a:off x="8229600" y="5559552"/>
            <a:ext cx="219456" cy="219456"/>
          </a:xfrm>
          <a:prstGeom prst="rect">
            <a:avLst/>
          </a:prstGeom>
          <a:solidFill>
            <a:srgbClr val="5A7A8E"/>
          </a:solidFill>
          <a:ln w="12700">
            <a:solidFill>
              <a:srgbClr val="5A7A8E"/>
            </a:solidFill>
            <a:prstDash val="solid"/>
          </a:ln>
        </p:spPr>
        <p:txBody>
          <a:bodyPr/>
          <a:lstStyle/>
          <a:p>
            <a:endParaRPr lang="en-US"/>
          </a:p>
        </p:txBody>
      </p:sp>
      <p:sp>
        <p:nvSpPr>
          <p:cNvPr id="60" name="Text 58"/>
          <p:cNvSpPr/>
          <p:nvPr/>
        </p:nvSpPr>
        <p:spPr>
          <a:xfrm>
            <a:off x="8503920" y="5559552"/>
            <a:ext cx="1371600" cy="219456"/>
          </a:xfrm>
          <a:prstGeom prst="rect">
            <a:avLst/>
          </a:prstGeom>
          <a:noFill/>
          <a:ln/>
        </p:spPr>
        <p:txBody>
          <a:bodyPr wrap="square" rtlCol="0" anchor="ctr"/>
          <a:lstStyle/>
          <a:p>
            <a:pPr marL="0" indent="0">
              <a:buNone/>
            </a:pPr>
            <a:r>
              <a:rPr lang="en-US" sz="1000" dirty="0">
                <a:solidFill>
                  <a:srgbClr val="1A2E3B"/>
                </a:solidFill>
                <a:latin typeface="Calibri" pitchFamily="34" charset="0"/>
                <a:ea typeface="Calibri" pitchFamily="34" charset="-122"/>
                <a:cs typeface="Calibri" pitchFamily="34" charset="-120"/>
              </a:rPr>
              <a:t>Weekends</a:t>
            </a:r>
            <a:endParaRPr lang="en-US" sz="1000" dirty="0"/>
          </a:p>
        </p:txBody>
      </p:sp>
      <p:sp>
        <p:nvSpPr>
          <p:cNvPr id="61" name="Text 59"/>
          <p:cNvSpPr/>
          <p:nvPr/>
        </p:nvSpPr>
        <p:spPr>
          <a:xfrm>
            <a:off x="0" y="6492240"/>
            <a:ext cx="12192000" cy="32004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OSHA Severe Injury Report Analysis  |  Mary Becker  |  Data Analytics Capstone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0D1B2A"/>
          </a:solidFill>
          <a:ln/>
        </p:spPr>
        <p:txBody>
          <a:bodyPr/>
          <a:lstStyle/>
          <a:p>
            <a:endParaRPr lang="en-US"/>
          </a:p>
        </p:txBody>
      </p:sp>
      <p:sp>
        <p:nvSpPr>
          <p:cNvPr id="3" name="Text 1"/>
          <p:cNvSpPr/>
          <p:nvPr/>
        </p:nvSpPr>
        <p:spPr>
          <a:xfrm>
            <a:off x="365760" y="73152"/>
            <a:ext cx="91440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Time Trend Analysis</a:t>
            </a:r>
            <a:endParaRPr lang="en-US" sz="2800" dirty="0"/>
          </a:p>
        </p:txBody>
      </p:sp>
      <p:sp>
        <p:nvSpPr>
          <p:cNvPr id="4" name="Text 2"/>
          <p:cNvSpPr/>
          <p:nvPr/>
        </p:nvSpPr>
        <p:spPr>
          <a:xfrm>
            <a:off x="365760" y="594360"/>
            <a:ext cx="9144000" cy="347472"/>
          </a:xfrm>
          <a:prstGeom prst="rect">
            <a:avLst/>
          </a:prstGeom>
          <a:noFill/>
          <a:ln/>
        </p:spPr>
        <p:txBody>
          <a:bodyPr wrap="square" rtlCol="0" anchor="t"/>
          <a:lstStyle/>
          <a:p>
            <a:pPr marL="0" indent="0">
              <a:buNone/>
            </a:pPr>
            <a:r>
              <a:rPr lang="en-US" sz="1300" dirty="0">
                <a:solidFill>
                  <a:srgbClr val="D6E8F5"/>
                </a:solidFill>
                <a:latin typeface="Calibri" pitchFamily="34" charset="0"/>
                <a:ea typeface="Calibri" pitchFamily="34" charset="-122"/>
                <a:cs typeface="Calibri" pitchFamily="34" charset="-120"/>
              </a:rPr>
              <a:t>Year over year incident counts with COVID-19 impact</a:t>
            </a:r>
            <a:endParaRPr lang="en-US" sz="1300" dirty="0"/>
          </a:p>
        </p:txBody>
      </p:sp>
      <p:sp>
        <p:nvSpPr>
          <p:cNvPr id="5" name="Shape 3"/>
          <p:cNvSpPr/>
          <p:nvPr/>
        </p:nvSpPr>
        <p:spPr>
          <a:xfrm>
            <a:off x="548640" y="1234440"/>
            <a:ext cx="8229600" cy="4114800"/>
          </a:xfrm>
          <a:prstGeom prst="rect">
            <a:avLst/>
          </a:prstGeom>
          <a:solidFill>
            <a:srgbClr val="F7F9FB"/>
          </a:solidFill>
          <a:ln w="12700">
            <a:solidFill>
              <a:srgbClr val="D6E8F5"/>
            </a:solidFill>
            <a:prstDash val="solid"/>
          </a:ln>
        </p:spPr>
        <p:txBody>
          <a:bodyPr/>
          <a:lstStyle/>
          <a:p>
            <a:endParaRPr lang="en-US"/>
          </a:p>
        </p:txBody>
      </p:sp>
      <p:sp>
        <p:nvSpPr>
          <p:cNvPr id="6" name="Shape 4"/>
          <p:cNvSpPr/>
          <p:nvPr/>
        </p:nvSpPr>
        <p:spPr>
          <a:xfrm>
            <a:off x="548640" y="4526280"/>
            <a:ext cx="8229600" cy="0"/>
          </a:xfrm>
          <a:prstGeom prst="line">
            <a:avLst/>
          </a:prstGeom>
          <a:noFill/>
          <a:ln w="6350">
            <a:solidFill>
              <a:srgbClr val="CCCCCC"/>
            </a:solidFill>
            <a:prstDash val="dash"/>
          </a:ln>
        </p:spPr>
        <p:txBody>
          <a:bodyPr/>
          <a:lstStyle/>
          <a:p>
            <a:endParaRPr lang="en-US"/>
          </a:p>
        </p:txBody>
      </p:sp>
      <p:sp>
        <p:nvSpPr>
          <p:cNvPr id="7" name="Text 5"/>
          <p:cNvSpPr/>
          <p:nvPr/>
        </p:nvSpPr>
        <p:spPr>
          <a:xfrm>
            <a:off x="-182880" y="4389120"/>
            <a:ext cx="685800" cy="274320"/>
          </a:xfrm>
          <a:prstGeom prst="rect">
            <a:avLst/>
          </a:prstGeom>
          <a:noFill/>
          <a:ln/>
        </p:spPr>
        <p:txBody>
          <a:bodyPr wrap="square" rtlCol="0" anchor="ctr"/>
          <a:lstStyle/>
          <a:p>
            <a:pPr marL="0" indent="0" algn="r">
              <a:buNone/>
            </a:pPr>
            <a:r>
              <a:rPr lang="en-US" sz="900" dirty="0">
                <a:solidFill>
                  <a:srgbClr val="5A7A8E"/>
                </a:solidFill>
                <a:latin typeface="Calibri" pitchFamily="34" charset="0"/>
                <a:ea typeface="Calibri" pitchFamily="34" charset="-122"/>
                <a:cs typeface="Calibri" pitchFamily="34" charset="-120"/>
              </a:rPr>
              <a:t>8,000</a:t>
            </a:r>
            <a:endParaRPr lang="en-US" sz="900" dirty="0"/>
          </a:p>
        </p:txBody>
      </p:sp>
      <p:sp>
        <p:nvSpPr>
          <p:cNvPr id="8" name="Shape 6"/>
          <p:cNvSpPr/>
          <p:nvPr/>
        </p:nvSpPr>
        <p:spPr>
          <a:xfrm>
            <a:off x="548640" y="3703320"/>
            <a:ext cx="8229600" cy="0"/>
          </a:xfrm>
          <a:prstGeom prst="line">
            <a:avLst/>
          </a:prstGeom>
          <a:noFill/>
          <a:ln w="6350">
            <a:solidFill>
              <a:srgbClr val="CCCCCC"/>
            </a:solidFill>
            <a:prstDash val="dash"/>
          </a:ln>
        </p:spPr>
        <p:txBody>
          <a:bodyPr/>
          <a:lstStyle/>
          <a:p>
            <a:endParaRPr lang="en-US"/>
          </a:p>
        </p:txBody>
      </p:sp>
      <p:sp>
        <p:nvSpPr>
          <p:cNvPr id="9" name="Text 7"/>
          <p:cNvSpPr/>
          <p:nvPr/>
        </p:nvSpPr>
        <p:spPr>
          <a:xfrm>
            <a:off x="-182880" y="3566160"/>
            <a:ext cx="685800" cy="274320"/>
          </a:xfrm>
          <a:prstGeom prst="rect">
            <a:avLst/>
          </a:prstGeom>
          <a:noFill/>
          <a:ln/>
        </p:spPr>
        <p:txBody>
          <a:bodyPr wrap="square" rtlCol="0" anchor="ctr"/>
          <a:lstStyle/>
          <a:p>
            <a:pPr marL="0" indent="0" algn="r">
              <a:buNone/>
            </a:pPr>
            <a:r>
              <a:rPr lang="en-US" sz="900" dirty="0">
                <a:solidFill>
                  <a:srgbClr val="5A7A8E"/>
                </a:solidFill>
                <a:latin typeface="Calibri" pitchFamily="34" charset="0"/>
                <a:ea typeface="Calibri" pitchFamily="34" charset="-122"/>
                <a:cs typeface="Calibri" pitchFamily="34" charset="-120"/>
              </a:rPr>
              <a:t>9,000</a:t>
            </a:r>
            <a:endParaRPr lang="en-US" sz="900" dirty="0"/>
          </a:p>
        </p:txBody>
      </p:sp>
      <p:sp>
        <p:nvSpPr>
          <p:cNvPr id="10" name="Shape 8"/>
          <p:cNvSpPr/>
          <p:nvPr/>
        </p:nvSpPr>
        <p:spPr>
          <a:xfrm>
            <a:off x="548640" y="2880360"/>
            <a:ext cx="8229600" cy="0"/>
          </a:xfrm>
          <a:prstGeom prst="line">
            <a:avLst/>
          </a:prstGeom>
          <a:noFill/>
          <a:ln w="6350">
            <a:solidFill>
              <a:srgbClr val="CCCCCC"/>
            </a:solidFill>
            <a:prstDash val="dash"/>
          </a:ln>
        </p:spPr>
        <p:txBody>
          <a:bodyPr/>
          <a:lstStyle/>
          <a:p>
            <a:endParaRPr lang="en-US"/>
          </a:p>
        </p:txBody>
      </p:sp>
      <p:sp>
        <p:nvSpPr>
          <p:cNvPr id="11" name="Text 9"/>
          <p:cNvSpPr/>
          <p:nvPr/>
        </p:nvSpPr>
        <p:spPr>
          <a:xfrm>
            <a:off x="-182880" y="2743200"/>
            <a:ext cx="685800" cy="274320"/>
          </a:xfrm>
          <a:prstGeom prst="rect">
            <a:avLst/>
          </a:prstGeom>
          <a:noFill/>
          <a:ln/>
        </p:spPr>
        <p:txBody>
          <a:bodyPr wrap="square" rtlCol="0" anchor="ctr"/>
          <a:lstStyle/>
          <a:p>
            <a:pPr marL="0" indent="0" algn="r">
              <a:buNone/>
            </a:pPr>
            <a:r>
              <a:rPr lang="en-US" sz="900" dirty="0">
                <a:solidFill>
                  <a:srgbClr val="5A7A8E"/>
                </a:solidFill>
                <a:latin typeface="Calibri" pitchFamily="34" charset="0"/>
                <a:ea typeface="Calibri" pitchFamily="34" charset="-122"/>
                <a:cs typeface="Calibri" pitchFamily="34" charset="-120"/>
              </a:rPr>
              <a:t>10,000</a:t>
            </a:r>
            <a:endParaRPr lang="en-US" sz="900" dirty="0"/>
          </a:p>
        </p:txBody>
      </p:sp>
      <p:sp>
        <p:nvSpPr>
          <p:cNvPr id="12" name="Shape 10"/>
          <p:cNvSpPr/>
          <p:nvPr/>
        </p:nvSpPr>
        <p:spPr>
          <a:xfrm>
            <a:off x="548640" y="2057400"/>
            <a:ext cx="8229600" cy="0"/>
          </a:xfrm>
          <a:prstGeom prst="line">
            <a:avLst/>
          </a:prstGeom>
          <a:noFill/>
          <a:ln w="6350">
            <a:solidFill>
              <a:srgbClr val="CCCCCC"/>
            </a:solidFill>
            <a:prstDash val="dash"/>
          </a:ln>
        </p:spPr>
        <p:txBody>
          <a:bodyPr/>
          <a:lstStyle/>
          <a:p>
            <a:endParaRPr lang="en-US"/>
          </a:p>
        </p:txBody>
      </p:sp>
      <p:sp>
        <p:nvSpPr>
          <p:cNvPr id="13" name="Text 11"/>
          <p:cNvSpPr/>
          <p:nvPr/>
        </p:nvSpPr>
        <p:spPr>
          <a:xfrm>
            <a:off x="-182880" y="1920240"/>
            <a:ext cx="685800" cy="274320"/>
          </a:xfrm>
          <a:prstGeom prst="rect">
            <a:avLst/>
          </a:prstGeom>
          <a:noFill/>
          <a:ln/>
        </p:spPr>
        <p:txBody>
          <a:bodyPr wrap="square" rtlCol="0" anchor="ctr"/>
          <a:lstStyle/>
          <a:p>
            <a:pPr marL="0" indent="0" algn="r">
              <a:buNone/>
            </a:pPr>
            <a:r>
              <a:rPr lang="en-US" sz="900" dirty="0">
                <a:solidFill>
                  <a:srgbClr val="5A7A8E"/>
                </a:solidFill>
                <a:latin typeface="Calibri" pitchFamily="34" charset="0"/>
                <a:ea typeface="Calibri" pitchFamily="34" charset="-122"/>
                <a:cs typeface="Calibri" pitchFamily="34" charset="-120"/>
              </a:rPr>
              <a:t>11,000</a:t>
            </a:r>
            <a:endParaRPr lang="en-US" sz="900" dirty="0"/>
          </a:p>
        </p:txBody>
      </p:sp>
      <p:sp>
        <p:nvSpPr>
          <p:cNvPr id="14" name="Shape 12"/>
          <p:cNvSpPr/>
          <p:nvPr/>
        </p:nvSpPr>
        <p:spPr>
          <a:xfrm>
            <a:off x="4663440" y="1234440"/>
            <a:ext cx="0" cy="4114800"/>
          </a:xfrm>
          <a:prstGeom prst="line">
            <a:avLst/>
          </a:prstGeom>
          <a:noFill/>
          <a:ln w="19050">
            <a:solidFill>
              <a:srgbClr val="E74C3C"/>
            </a:solidFill>
            <a:prstDash val="dash"/>
          </a:ln>
        </p:spPr>
        <p:txBody>
          <a:bodyPr/>
          <a:lstStyle/>
          <a:p>
            <a:endParaRPr lang="en-US"/>
          </a:p>
        </p:txBody>
      </p:sp>
      <p:sp>
        <p:nvSpPr>
          <p:cNvPr id="15" name="Text 13"/>
          <p:cNvSpPr/>
          <p:nvPr/>
        </p:nvSpPr>
        <p:spPr>
          <a:xfrm>
            <a:off x="4736592" y="1325880"/>
            <a:ext cx="1097280" cy="274320"/>
          </a:xfrm>
          <a:prstGeom prst="rect">
            <a:avLst/>
          </a:prstGeom>
          <a:noFill/>
          <a:ln/>
        </p:spPr>
        <p:txBody>
          <a:bodyPr wrap="square"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COVID-19</a:t>
            </a:r>
            <a:endParaRPr lang="en-US" sz="1000" dirty="0"/>
          </a:p>
        </p:txBody>
      </p:sp>
      <p:sp>
        <p:nvSpPr>
          <p:cNvPr id="16" name="Shape 14"/>
          <p:cNvSpPr/>
          <p:nvPr/>
        </p:nvSpPr>
        <p:spPr>
          <a:xfrm>
            <a:off x="679565" y="3026847"/>
            <a:ext cx="486295" cy="2322393"/>
          </a:xfrm>
          <a:prstGeom prst="rect">
            <a:avLst/>
          </a:prstGeom>
          <a:solidFill>
            <a:srgbClr val="2E86AB"/>
          </a:solidFill>
          <a:ln w="12700">
            <a:solidFill>
              <a:srgbClr val="2E86AB"/>
            </a:solidFill>
            <a:prstDash val="solid"/>
          </a:ln>
        </p:spPr>
        <p:txBody>
          <a:bodyPr/>
          <a:lstStyle/>
          <a:p>
            <a:endParaRPr lang="en-US"/>
          </a:p>
        </p:txBody>
      </p:sp>
      <p:sp>
        <p:nvSpPr>
          <p:cNvPr id="17" name="Text 15"/>
          <p:cNvSpPr/>
          <p:nvPr/>
        </p:nvSpPr>
        <p:spPr>
          <a:xfrm>
            <a:off x="588125" y="5394960"/>
            <a:ext cx="669175" cy="27432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2015</a:t>
            </a:r>
            <a:endParaRPr lang="en-US" sz="900" dirty="0"/>
          </a:p>
        </p:txBody>
      </p:sp>
      <p:sp>
        <p:nvSpPr>
          <p:cNvPr id="18" name="Text 16"/>
          <p:cNvSpPr/>
          <p:nvPr/>
        </p:nvSpPr>
        <p:spPr>
          <a:xfrm>
            <a:off x="542405" y="2752527"/>
            <a:ext cx="760615" cy="256032"/>
          </a:xfrm>
          <a:prstGeom prst="rect">
            <a:avLst/>
          </a:prstGeom>
          <a:noFill/>
          <a:ln/>
        </p:spPr>
        <p:txBody>
          <a:bodyPr wrap="square" rtlCol="0" anchor="ctr"/>
          <a:lstStyle/>
          <a:p>
            <a:pPr marL="0" indent="0" algn="ctr">
              <a:buNone/>
            </a:pPr>
            <a:r>
              <a:rPr lang="en-US" sz="850" dirty="0">
                <a:solidFill>
                  <a:srgbClr val="1A2E3B"/>
                </a:solidFill>
                <a:latin typeface="Calibri" pitchFamily="34" charset="0"/>
                <a:ea typeface="Calibri" pitchFamily="34" charset="-122"/>
                <a:cs typeface="Calibri" pitchFamily="34" charset="-120"/>
              </a:rPr>
              <a:t>9,822</a:t>
            </a:r>
            <a:endParaRPr lang="en-US" sz="850" dirty="0"/>
          </a:p>
        </p:txBody>
      </p:sp>
      <p:sp>
        <p:nvSpPr>
          <p:cNvPr id="19" name="Shape 17"/>
          <p:cNvSpPr/>
          <p:nvPr/>
        </p:nvSpPr>
        <p:spPr>
          <a:xfrm>
            <a:off x="1427711" y="2811231"/>
            <a:ext cx="486295" cy="2538009"/>
          </a:xfrm>
          <a:prstGeom prst="rect">
            <a:avLst/>
          </a:prstGeom>
          <a:solidFill>
            <a:srgbClr val="2E86AB"/>
          </a:solidFill>
          <a:ln w="12700">
            <a:solidFill>
              <a:srgbClr val="2E86AB"/>
            </a:solidFill>
            <a:prstDash val="solid"/>
          </a:ln>
        </p:spPr>
        <p:txBody>
          <a:bodyPr/>
          <a:lstStyle/>
          <a:p>
            <a:endParaRPr lang="en-US"/>
          </a:p>
        </p:txBody>
      </p:sp>
      <p:sp>
        <p:nvSpPr>
          <p:cNvPr id="20" name="Text 18"/>
          <p:cNvSpPr/>
          <p:nvPr/>
        </p:nvSpPr>
        <p:spPr>
          <a:xfrm>
            <a:off x="1336271" y="5394960"/>
            <a:ext cx="669175" cy="27432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2016</a:t>
            </a:r>
            <a:endParaRPr lang="en-US" sz="900" dirty="0"/>
          </a:p>
        </p:txBody>
      </p:sp>
      <p:sp>
        <p:nvSpPr>
          <p:cNvPr id="21" name="Text 19"/>
          <p:cNvSpPr/>
          <p:nvPr/>
        </p:nvSpPr>
        <p:spPr>
          <a:xfrm>
            <a:off x="1290551" y="2536911"/>
            <a:ext cx="760615" cy="256032"/>
          </a:xfrm>
          <a:prstGeom prst="rect">
            <a:avLst/>
          </a:prstGeom>
          <a:noFill/>
          <a:ln/>
        </p:spPr>
        <p:txBody>
          <a:bodyPr wrap="square" rtlCol="0" anchor="ctr"/>
          <a:lstStyle/>
          <a:p>
            <a:pPr marL="0" indent="0" algn="ctr">
              <a:buNone/>
            </a:pPr>
            <a:r>
              <a:rPr lang="en-US" sz="850" dirty="0">
                <a:solidFill>
                  <a:srgbClr val="1A2E3B"/>
                </a:solidFill>
                <a:latin typeface="Calibri" pitchFamily="34" charset="0"/>
                <a:ea typeface="Calibri" pitchFamily="34" charset="-122"/>
                <a:cs typeface="Calibri" pitchFamily="34" charset="-120"/>
              </a:rPr>
              <a:t>10,084</a:t>
            </a:r>
            <a:endParaRPr lang="en-US" sz="850" dirty="0"/>
          </a:p>
        </p:txBody>
      </p:sp>
      <p:sp>
        <p:nvSpPr>
          <p:cNvPr id="22" name="Shape 20"/>
          <p:cNvSpPr/>
          <p:nvPr/>
        </p:nvSpPr>
        <p:spPr>
          <a:xfrm>
            <a:off x="2175856" y="2514143"/>
            <a:ext cx="486295" cy="2835097"/>
          </a:xfrm>
          <a:prstGeom prst="rect">
            <a:avLst/>
          </a:prstGeom>
          <a:solidFill>
            <a:srgbClr val="2E86AB"/>
          </a:solidFill>
          <a:ln w="12700">
            <a:solidFill>
              <a:srgbClr val="2E86AB"/>
            </a:solidFill>
            <a:prstDash val="solid"/>
          </a:ln>
        </p:spPr>
        <p:txBody>
          <a:bodyPr/>
          <a:lstStyle/>
          <a:p>
            <a:endParaRPr lang="en-US"/>
          </a:p>
        </p:txBody>
      </p:sp>
      <p:sp>
        <p:nvSpPr>
          <p:cNvPr id="23" name="Text 21"/>
          <p:cNvSpPr/>
          <p:nvPr/>
        </p:nvSpPr>
        <p:spPr>
          <a:xfrm>
            <a:off x="2084416" y="5394960"/>
            <a:ext cx="669175" cy="27432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2017</a:t>
            </a:r>
            <a:endParaRPr lang="en-US" sz="900" dirty="0"/>
          </a:p>
        </p:txBody>
      </p:sp>
      <p:sp>
        <p:nvSpPr>
          <p:cNvPr id="24" name="Text 22"/>
          <p:cNvSpPr/>
          <p:nvPr/>
        </p:nvSpPr>
        <p:spPr>
          <a:xfrm>
            <a:off x="2038696" y="2239823"/>
            <a:ext cx="760615" cy="256032"/>
          </a:xfrm>
          <a:prstGeom prst="rect">
            <a:avLst/>
          </a:prstGeom>
          <a:noFill/>
          <a:ln/>
        </p:spPr>
        <p:txBody>
          <a:bodyPr wrap="square" rtlCol="0" anchor="ctr"/>
          <a:lstStyle/>
          <a:p>
            <a:pPr marL="0" indent="0" algn="ctr">
              <a:buNone/>
            </a:pPr>
            <a:r>
              <a:rPr lang="en-US" sz="850" dirty="0">
                <a:solidFill>
                  <a:srgbClr val="1A2E3B"/>
                </a:solidFill>
                <a:latin typeface="Calibri" pitchFamily="34" charset="0"/>
                <a:ea typeface="Calibri" pitchFamily="34" charset="-122"/>
                <a:cs typeface="Calibri" pitchFamily="34" charset="-120"/>
              </a:rPr>
              <a:t>10,445</a:t>
            </a:r>
            <a:endParaRPr lang="en-US" sz="850" dirty="0"/>
          </a:p>
        </p:txBody>
      </p:sp>
      <p:sp>
        <p:nvSpPr>
          <p:cNvPr id="25" name="Shape 23"/>
          <p:cNvSpPr/>
          <p:nvPr/>
        </p:nvSpPr>
        <p:spPr>
          <a:xfrm>
            <a:off x="2924002" y="1929018"/>
            <a:ext cx="486295" cy="3420222"/>
          </a:xfrm>
          <a:prstGeom prst="rect">
            <a:avLst/>
          </a:prstGeom>
          <a:solidFill>
            <a:srgbClr val="E09F3E"/>
          </a:solidFill>
          <a:ln w="12700">
            <a:solidFill>
              <a:srgbClr val="E09F3E"/>
            </a:solidFill>
            <a:prstDash val="solid"/>
          </a:ln>
        </p:spPr>
        <p:txBody>
          <a:bodyPr/>
          <a:lstStyle/>
          <a:p>
            <a:endParaRPr lang="en-US"/>
          </a:p>
        </p:txBody>
      </p:sp>
      <p:sp>
        <p:nvSpPr>
          <p:cNvPr id="26" name="Text 24"/>
          <p:cNvSpPr/>
          <p:nvPr/>
        </p:nvSpPr>
        <p:spPr>
          <a:xfrm>
            <a:off x="2832562" y="5394960"/>
            <a:ext cx="669175" cy="27432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2018</a:t>
            </a:r>
            <a:endParaRPr lang="en-US" sz="900" dirty="0"/>
          </a:p>
        </p:txBody>
      </p:sp>
      <p:sp>
        <p:nvSpPr>
          <p:cNvPr id="27" name="Text 25"/>
          <p:cNvSpPr/>
          <p:nvPr/>
        </p:nvSpPr>
        <p:spPr>
          <a:xfrm>
            <a:off x="2786842" y="1654698"/>
            <a:ext cx="760615" cy="256032"/>
          </a:xfrm>
          <a:prstGeom prst="rect">
            <a:avLst/>
          </a:prstGeom>
          <a:noFill/>
          <a:ln/>
        </p:spPr>
        <p:txBody>
          <a:bodyPr wrap="square" rtlCol="0" anchor="ctr"/>
          <a:lstStyle/>
          <a:p>
            <a:pPr marL="0" indent="0" algn="ctr">
              <a:buNone/>
            </a:pPr>
            <a:r>
              <a:rPr lang="en-US" sz="850" dirty="0">
                <a:solidFill>
                  <a:srgbClr val="1A2E3B"/>
                </a:solidFill>
                <a:latin typeface="Calibri" pitchFamily="34" charset="0"/>
                <a:ea typeface="Calibri" pitchFamily="34" charset="-122"/>
                <a:cs typeface="Calibri" pitchFamily="34" charset="-120"/>
              </a:rPr>
              <a:t>11,156</a:t>
            </a:r>
            <a:endParaRPr lang="en-US" sz="850" dirty="0"/>
          </a:p>
        </p:txBody>
      </p:sp>
      <p:sp>
        <p:nvSpPr>
          <p:cNvPr id="28" name="Shape 26"/>
          <p:cNvSpPr/>
          <p:nvPr/>
        </p:nvSpPr>
        <p:spPr>
          <a:xfrm>
            <a:off x="3672147" y="1998970"/>
            <a:ext cx="486295" cy="3350270"/>
          </a:xfrm>
          <a:prstGeom prst="rect">
            <a:avLst/>
          </a:prstGeom>
          <a:solidFill>
            <a:srgbClr val="2E86AB"/>
          </a:solidFill>
          <a:ln w="12700">
            <a:solidFill>
              <a:srgbClr val="2E86AB"/>
            </a:solidFill>
            <a:prstDash val="solid"/>
          </a:ln>
        </p:spPr>
        <p:txBody>
          <a:bodyPr/>
          <a:lstStyle/>
          <a:p>
            <a:endParaRPr lang="en-US"/>
          </a:p>
        </p:txBody>
      </p:sp>
      <p:sp>
        <p:nvSpPr>
          <p:cNvPr id="29" name="Text 27"/>
          <p:cNvSpPr/>
          <p:nvPr/>
        </p:nvSpPr>
        <p:spPr>
          <a:xfrm>
            <a:off x="3580707" y="5394960"/>
            <a:ext cx="669175" cy="27432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2019</a:t>
            </a:r>
            <a:endParaRPr lang="en-US" sz="900" dirty="0"/>
          </a:p>
        </p:txBody>
      </p:sp>
      <p:sp>
        <p:nvSpPr>
          <p:cNvPr id="30" name="Text 28"/>
          <p:cNvSpPr/>
          <p:nvPr/>
        </p:nvSpPr>
        <p:spPr>
          <a:xfrm>
            <a:off x="3534987" y="1724650"/>
            <a:ext cx="760615" cy="256032"/>
          </a:xfrm>
          <a:prstGeom prst="rect">
            <a:avLst/>
          </a:prstGeom>
          <a:noFill/>
          <a:ln/>
        </p:spPr>
        <p:txBody>
          <a:bodyPr wrap="square" rtlCol="0" anchor="ctr"/>
          <a:lstStyle/>
          <a:p>
            <a:pPr marL="0" indent="0" algn="ctr">
              <a:buNone/>
            </a:pPr>
            <a:r>
              <a:rPr lang="en-US" sz="850" dirty="0">
                <a:solidFill>
                  <a:srgbClr val="1A2E3B"/>
                </a:solidFill>
                <a:latin typeface="Calibri" pitchFamily="34" charset="0"/>
                <a:ea typeface="Calibri" pitchFamily="34" charset="-122"/>
                <a:cs typeface="Calibri" pitchFamily="34" charset="-120"/>
              </a:rPr>
              <a:t>11,071</a:t>
            </a:r>
            <a:endParaRPr lang="en-US" sz="850" dirty="0"/>
          </a:p>
        </p:txBody>
      </p:sp>
      <p:sp>
        <p:nvSpPr>
          <p:cNvPr id="31" name="Shape 29"/>
          <p:cNvSpPr/>
          <p:nvPr/>
        </p:nvSpPr>
        <p:spPr>
          <a:xfrm>
            <a:off x="4420293" y="3773272"/>
            <a:ext cx="486295" cy="1575968"/>
          </a:xfrm>
          <a:prstGeom prst="rect">
            <a:avLst/>
          </a:prstGeom>
          <a:solidFill>
            <a:srgbClr val="B03A2E"/>
          </a:solidFill>
          <a:ln w="12700">
            <a:solidFill>
              <a:srgbClr val="B03A2E"/>
            </a:solidFill>
            <a:prstDash val="solid"/>
          </a:ln>
        </p:spPr>
        <p:txBody>
          <a:bodyPr/>
          <a:lstStyle/>
          <a:p>
            <a:endParaRPr lang="en-US"/>
          </a:p>
        </p:txBody>
      </p:sp>
      <p:sp>
        <p:nvSpPr>
          <p:cNvPr id="32" name="Text 30"/>
          <p:cNvSpPr/>
          <p:nvPr/>
        </p:nvSpPr>
        <p:spPr>
          <a:xfrm>
            <a:off x="4328853" y="5394960"/>
            <a:ext cx="669175" cy="27432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2020</a:t>
            </a:r>
            <a:endParaRPr lang="en-US" sz="900" dirty="0"/>
          </a:p>
        </p:txBody>
      </p:sp>
      <p:sp>
        <p:nvSpPr>
          <p:cNvPr id="33" name="Text 31"/>
          <p:cNvSpPr/>
          <p:nvPr/>
        </p:nvSpPr>
        <p:spPr>
          <a:xfrm>
            <a:off x="4283133" y="3498952"/>
            <a:ext cx="760615" cy="256032"/>
          </a:xfrm>
          <a:prstGeom prst="rect">
            <a:avLst/>
          </a:prstGeom>
          <a:noFill/>
          <a:ln/>
        </p:spPr>
        <p:txBody>
          <a:bodyPr wrap="square" rtlCol="0" anchor="ctr"/>
          <a:lstStyle/>
          <a:p>
            <a:pPr marL="0" indent="0" algn="ctr">
              <a:buNone/>
            </a:pPr>
            <a:r>
              <a:rPr lang="en-US" sz="850" dirty="0">
                <a:solidFill>
                  <a:srgbClr val="1A2E3B"/>
                </a:solidFill>
                <a:latin typeface="Calibri" pitchFamily="34" charset="0"/>
                <a:ea typeface="Calibri" pitchFamily="34" charset="-122"/>
                <a:cs typeface="Calibri" pitchFamily="34" charset="-120"/>
              </a:rPr>
              <a:t>8,915</a:t>
            </a:r>
            <a:endParaRPr lang="en-US" sz="850" dirty="0"/>
          </a:p>
        </p:txBody>
      </p:sp>
      <p:sp>
        <p:nvSpPr>
          <p:cNvPr id="34" name="Shape 32"/>
          <p:cNvSpPr/>
          <p:nvPr/>
        </p:nvSpPr>
        <p:spPr>
          <a:xfrm>
            <a:off x="5168438" y="3947739"/>
            <a:ext cx="486295" cy="1401501"/>
          </a:xfrm>
          <a:prstGeom prst="rect">
            <a:avLst/>
          </a:prstGeom>
          <a:solidFill>
            <a:srgbClr val="B03A2E"/>
          </a:solidFill>
          <a:ln w="12700">
            <a:solidFill>
              <a:srgbClr val="B03A2E"/>
            </a:solidFill>
            <a:prstDash val="solid"/>
          </a:ln>
        </p:spPr>
        <p:txBody>
          <a:bodyPr/>
          <a:lstStyle/>
          <a:p>
            <a:endParaRPr lang="en-US"/>
          </a:p>
        </p:txBody>
      </p:sp>
      <p:sp>
        <p:nvSpPr>
          <p:cNvPr id="35" name="Text 33"/>
          <p:cNvSpPr/>
          <p:nvPr/>
        </p:nvSpPr>
        <p:spPr>
          <a:xfrm>
            <a:off x="5076998" y="5394960"/>
            <a:ext cx="669175" cy="27432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2021</a:t>
            </a:r>
            <a:endParaRPr lang="en-US" sz="900" dirty="0"/>
          </a:p>
        </p:txBody>
      </p:sp>
      <p:sp>
        <p:nvSpPr>
          <p:cNvPr id="36" name="Text 34"/>
          <p:cNvSpPr/>
          <p:nvPr/>
        </p:nvSpPr>
        <p:spPr>
          <a:xfrm>
            <a:off x="5031278" y="3673419"/>
            <a:ext cx="760615" cy="256032"/>
          </a:xfrm>
          <a:prstGeom prst="rect">
            <a:avLst/>
          </a:prstGeom>
          <a:noFill/>
          <a:ln/>
        </p:spPr>
        <p:txBody>
          <a:bodyPr wrap="square" rtlCol="0" anchor="ctr"/>
          <a:lstStyle/>
          <a:p>
            <a:pPr marL="0" indent="0" algn="ctr">
              <a:buNone/>
            </a:pPr>
            <a:r>
              <a:rPr lang="en-US" sz="850" dirty="0">
                <a:solidFill>
                  <a:srgbClr val="1A2E3B"/>
                </a:solidFill>
                <a:latin typeface="Calibri" pitchFamily="34" charset="0"/>
                <a:ea typeface="Calibri" pitchFamily="34" charset="-122"/>
                <a:cs typeface="Calibri" pitchFamily="34" charset="-120"/>
              </a:rPr>
              <a:t>8,703</a:t>
            </a:r>
            <a:endParaRPr lang="en-US" sz="850" dirty="0"/>
          </a:p>
        </p:txBody>
      </p:sp>
      <p:sp>
        <p:nvSpPr>
          <p:cNvPr id="37" name="Shape 35"/>
          <p:cNvSpPr/>
          <p:nvPr/>
        </p:nvSpPr>
        <p:spPr>
          <a:xfrm>
            <a:off x="5916584" y="3612794"/>
            <a:ext cx="486295" cy="1736446"/>
          </a:xfrm>
          <a:prstGeom prst="rect">
            <a:avLst/>
          </a:prstGeom>
          <a:solidFill>
            <a:srgbClr val="2E86AB"/>
          </a:solidFill>
          <a:ln w="12700">
            <a:solidFill>
              <a:srgbClr val="2E86AB"/>
            </a:solidFill>
            <a:prstDash val="solid"/>
          </a:ln>
        </p:spPr>
        <p:txBody>
          <a:bodyPr/>
          <a:lstStyle/>
          <a:p>
            <a:endParaRPr lang="en-US"/>
          </a:p>
        </p:txBody>
      </p:sp>
      <p:sp>
        <p:nvSpPr>
          <p:cNvPr id="38" name="Text 36"/>
          <p:cNvSpPr/>
          <p:nvPr/>
        </p:nvSpPr>
        <p:spPr>
          <a:xfrm>
            <a:off x="5825144" y="5394960"/>
            <a:ext cx="669175" cy="27432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2022</a:t>
            </a:r>
            <a:endParaRPr lang="en-US" sz="900" dirty="0"/>
          </a:p>
        </p:txBody>
      </p:sp>
      <p:sp>
        <p:nvSpPr>
          <p:cNvPr id="39" name="Text 37"/>
          <p:cNvSpPr/>
          <p:nvPr/>
        </p:nvSpPr>
        <p:spPr>
          <a:xfrm>
            <a:off x="5779424" y="3338474"/>
            <a:ext cx="760615" cy="256032"/>
          </a:xfrm>
          <a:prstGeom prst="rect">
            <a:avLst/>
          </a:prstGeom>
          <a:noFill/>
          <a:ln/>
        </p:spPr>
        <p:txBody>
          <a:bodyPr wrap="square" rtlCol="0" anchor="ctr"/>
          <a:lstStyle/>
          <a:p>
            <a:pPr marL="0" indent="0" algn="ctr">
              <a:buNone/>
            </a:pPr>
            <a:r>
              <a:rPr lang="en-US" sz="850" dirty="0">
                <a:solidFill>
                  <a:srgbClr val="1A2E3B"/>
                </a:solidFill>
                <a:latin typeface="Calibri" pitchFamily="34" charset="0"/>
                <a:ea typeface="Calibri" pitchFamily="34" charset="-122"/>
                <a:cs typeface="Calibri" pitchFamily="34" charset="-120"/>
              </a:rPr>
              <a:t>9,110</a:t>
            </a:r>
            <a:endParaRPr lang="en-US" sz="850" dirty="0"/>
          </a:p>
        </p:txBody>
      </p:sp>
      <p:sp>
        <p:nvSpPr>
          <p:cNvPr id="40" name="Shape 38"/>
          <p:cNvSpPr/>
          <p:nvPr/>
        </p:nvSpPr>
        <p:spPr>
          <a:xfrm>
            <a:off x="6664729" y="3750229"/>
            <a:ext cx="486295" cy="1599011"/>
          </a:xfrm>
          <a:prstGeom prst="rect">
            <a:avLst/>
          </a:prstGeom>
          <a:solidFill>
            <a:srgbClr val="2E86AB"/>
          </a:solidFill>
          <a:ln w="12700">
            <a:solidFill>
              <a:srgbClr val="2E86AB"/>
            </a:solidFill>
            <a:prstDash val="solid"/>
          </a:ln>
        </p:spPr>
        <p:txBody>
          <a:bodyPr/>
          <a:lstStyle/>
          <a:p>
            <a:endParaRPr lang="en-US"/>
          </a:p>
        </p:txBody>
      </p:sp>
      <p:sp>
        <p:nvSpPr>
          <p:cNvPr id="41" name="Text 39"/>
          <p:cNvSpPr/>
          <p:nvPr/>
        </p:nvSpPr>
        <p:spPr>
          <a:xfrm>
            <a:off x="6573289" y="5394960"/>
            <a:ext cx="669175" cy="27432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2023</a:t>
            </a:r>
            <a:endParaRPr lang="en-US" sz="900" dirty="0"/>
          </a:p>
        </p:txBody>
      </p:sp>
      <p:sp>
        <p:nvSpPr>
          <p:cNvPr id="42" name="Text 40"/>
          <p:cNvSpPr/>
          <p:nvPr/>
        </p:nvSpPr>
        <p:spPr>
          <a:xfrm>
            <a:off x="6527569" y="3475909"/>
            <a:ext cx="760615" cy="256032"/>
          </a:xfrm>
          <a:prstGeom prst="rect">
            <a:avLst/>
          </a:prstGeom>
          <a:noFill/>
          <a:ln/>
        </p:spPr>
        <p:txBody>
          <a:bodyPr wrap="square" rtlCol="0" anchor="ctr"/>
          <a:lstStyle/>
          <a:p>
            <a:pPr marL="0" indent="0" algn="ctr">
              <a:buNone/>
            </a:pPr>
            <a:r>
              <a:rPr lang="en-US" sz="850" dirty="0">
                <a:solidFill>
                  <a:srgbClr val="1A2E3B"/>
                </a:solidFill>
                <a:latin typeface="Calibri" pitchFamily="34" charset="0"/>
                <a:ea typeface="Calibri" pitchFamily="34" charset="-122"/>
                <a:cs typeface="Calibri" pitchFamily="34" charset="-120"/>
              </a:rPr>
              <a:t>8,943</a:t>
            </a:r>
            <a:endParaRPr lang="en-US" sz="850" dirty="0"/>
          </a:p>
        </p:txBody>
      </p:sp>
      <p:sp>
        <p:nvSpPr>
          <p:cNvPr id="43" name="Shape 41"/>
          <p:cNvSpPr/>
          <p:nvPr/>
        </p:nvSpPr>
        <p:spPr>
          <a:xfrm>
            <a:off x="7412875" y="3675339"/>
            <a:ext cx="486295" cy="1673901"/>
          </a:xfrm>
          <a:prstGeom prst="rect">
            <a:avLst/>
          </a:prstGeom>
          <a:solidFill>
            <a:srgbClr val="2E86AB"/>
          </a:solidFill>
          <a:ln w="12700">
            <a:solidFill>
              <a:srgbClr val="2E86AB"/>
            </a:solidFill>
            <a:prstDash val="solid"/>
          </a:ln>
        </p:spPr>
        <p:txBody>
          <a:bodyPr/>
          <a:lstStyle/>
          <a:p>
            <a:endParaRPr lang="en-US"/>
          </a:p>
        </p:txBody>
      </p:sp>
      <p:sp>
        <p:nvSpPr>
          <p:cNvPr id="44" name="Text 42"/>
          <p:cNvSpPr/>
          <p:nvPr/>
        </p:nvSpPr>
        <p:spPr>
          <a:xfrm>
            <a:off x="7321435" y="5394960"/>
            <a:ext cx="669175" cy="27432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2024</a:t>
            </a:r>
            <a:endParaRPr lang="en-US" sz="900" dirty="0"/>
          </a:p>
        </p:txBody>
      </p:sp>
      <p:sp>
        <p:nvSpPr>
          <p:cNvPr id="45" name="Text 43"/>
          <p:cNvSpPr/>
          <p:nvPr/>
        </p:nvSpPr>
        <p:spPr>
          <a:xfrm>
            <a:off x="7275715" y="3401019"/>
            <a:ext cx="760615" cy="256032"/>
          </a:xfrm>
          <a:prstGeom prst="rect">
            <a:avLst/>
          </a:prstGeom>
          <a:noFill/>
          <a:ln/>
        </p:spPr>
        <p:txBody>
          <a:bodyPr wrap="square" rtlCol="0" anchor="ctr"/>
          <a:lstStyle/>
          <a:p>
            <a:pPr marL="0" indent="0" algn="ctr">
              <a:buNone/>
            </a:pPr>
            <a:r>
              <a:rPr lang="en-US" sz="850" dirty="0">
                <a:solidFill>
                  <a:srgbClr val="1A2E3B"/>
                </a:solidFill>
                <a:latin typeface="Calibri" pitchFamily="34" charset="0"/>
                <a:ea typeface="Calibri" pitchFamily="34" charset="-122"/>
                <a:cs typeface="Calibri" pitchFamily="34" charset="-120"/>
              </a:rPr>
              <a:t>9,034</a:t>
            </a:r>
            <a:endParaRPr lang="en-US" sz="850" dirty="0"/>
          </a:p>
        </p:txBody>
      </p:sp>
      <p:sp>
        <p:nvSpPr>
          <p:cNvPr id="46" name="Shape 44"/>
          <p:cNvSpPr/>
          <p:nvPr/>
        </p:nvSpPr>
        <p:spPr>
          <a:xfrm>
            <a:off x="8161020" y="4498299"/>
            <a:ext cx="486295" cy="850941"/>
          </a:xfrm>
          <a:prstGeom prst="rect">
            <a:avLst/>
          </a:prstGeom>
          <a:solidFill>
            <a:srgbClr val="2E86AB"/>
          </a:solidFill>
          <a:ln w="12700">
            <a:solidFill>
              <a:srgbClr val="2E86AB"/>
            </a:solidFill>
            <a:prstDash val="solid"/>
          </a:ln>
        </p:spPr>
        <p:txBody>
          <a:bodyPr/>
          <a:lstStyle/>
          <a:p>
            <a:endParaRPr lang="en-US"/>
          </a:p>
        </p:txBody>
      </p:sp>
      <p:sp>
        <p:nvSpPr>
          <p:cNvPr id="47" name="Text 45"/>
          <p:cNvSpPr/>
          <p:nvPr/>
        </p:nvSpPr>
        <p:spPr>
          <a:xfrm>
            <a:off x="8069580" y="5394960"/>
            <a:ext cx="669175" cy="27432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2025*</a:t>
            </a:r>
            <a:endParaRPr lang="en-US" sz="900" dirty="0"/>
          </a:p>
        </p:txBody>
      </p:sp>
      <p:sp>
        <p:nvSpPr>
          <p:cNvPr id="48" name="Text 46"/>
          <p:cNvSpPr/>
          <p:nvPr/>
        </p:nvSpPr>
        <p:spPr>
          <a:xfrm>
            <a:off x="8023860" y="4223979"/>
            <a:ext cx="760615" cy="256032"/>
          </a:xfrm>
          <a:prstGeom prst="rect">
            <a:avLst/>
          </a:prstGeom>
          <a:noFill/>
          <a:ln/>
        </p:spPr>
        <p:txBody>
          <a:bodyPr wrap="square" rtlCol="0" anchor="ctr"/>
          <a:lstStyle/>
          <a:p>
            <a:pPr marL="0" indent="0" algn="ctr">
              <a:buNone/>
            </a:pPr>
            <a:r>
              <a:rPr lang="en-US" sz="850" dirty="0">
                <a:solidFill>
                  <a:srgbClr val="1A2E3B"/>
                </a:solidFill>
                <a:latin typeface="Calibri" pitchFamily="34" charset="0"/>
                <a:ea typeface="Calibri" pitchFamily="34" charset="-122"/>
                <a:cs typeface="Calibri" pitchFamily="34" charset="-120"/>
              </a:rPr>
              <a:t>8,034</a:t>
            </a:r>
            <a:endParaRPr lang="en-US" sz="850" dirty="0"/>
          </a:p>
        </p:txBody>
      </p:sp>
      <p:sp>
        <p:nvSpPr>
          <p:cNvPr id="49" name="Shape 47"/>
          <p:cNvSpPr/>
          <p:nvPr/>
        </p:nvSpPr>
        <p:spPr>
          <a:xfrm>
            <a:off x="548640" y="5760720"/>
            <a:ext cx="182880" cy="182880"/>
          </a:xfrm>
          <a:prstGeom prst="rect">
            <a:avLst/>
          </a:prstGeom>
          <a:solidFill>
            <a:srgbClr val="2E86AB"/>
          </a:solidFill>
          <a:ln w="12700">
            <a:solidFill>
              <a:srgbClr val="2E86AB"/>
            </a:solidFill>
            <a:prstDash val="solid"/>
          </a:ln>
        </p:spPr>
        <p:txBody>
          <a:bodyPr/>
          <a:lstStyle/>
          <a:p>
            <a:endParaRPr lang="en-US"/>
          </a:p>
        </p:txBody>
      </p:sp>
      <p:sp>
        <p:nvSpPr>
          <p:cNvPr id="50" name="Text 48"/>
          <p:cNvSpPr/>
          <p:nvPr/>
        </p:nvSpPr>
        <p:spPr>
          <a:xfrm>
            <a:off x="804672" y="5742432"/>
            <a:ext cx="1371600" cy="219456"/>
          </a:xfrm>
          <a:prstGeom prst="rect">
            <a:avLst/>
          </a:prstGeom>
          <a:noFill/>
          <a:ln/>
        </p:spPr>
        <p:txBody>
          <a:bodyPr wrap="square" rtlCol="0" anchor="ctr"/>
          <a:lstStyle/>
          <a:p>
            <a:pPr marL="0" indent="0">
              <a:buNone/>
            </a:pPr>
            <a:r>
              <a:rPr lang="en-US" sz="1000" dirty="0">
                <a:solidFill>
                  <a:srgbClr val="1A2E3B"/>
                </a:solidFill>
                <a:latin typeface="Calibri" pitchFamily="34" charset="0"/>
                <a:ea typeface="Calibri" pitchFamily="34" charset="-122"/>
                <a:cs typeface="Calibri" pitchFamily="34" charset="-120"/>
              </a:rPr>
              <a:t>Normal Years</a:t>
            </a:r>
            <a:endParaRPr lang="en-US" sz="1000" dirty="0"/>
          </a:p>
        </p:txBody>
      </p:sp>
      <p:sp>
        <p:nvSpPr>
          <p:cNvPr id="51" name="Shape 49"/>
          <p:cNvSpPr/>
          <p:nvPr/>
        </p:nvSpPr>
        <p:spPr>
          <a:xfrm>
            <a:off x="2377440" y="5760720"/>
            <a:ext cx="182880" cy="182880"/>
          </a:xfrm>
          <a:prstGeom prst="rect">
            <a:avLst/>
          </a:prstGeom>
          <a:solidFill>
            <a:srgbClr val="E09F3E"/>
          </a:solidFill>
          <a:ln w="12700">
            <a:solidFill>
              <a:srgbClr val="E09F3E"/>
            </a:solidFill>
            <a:prstDash val="solid"/>
          </a:ln>
        </p:spPr>
        <p:txBody>
          <a:bodyPr/>
          <a:lstStyle/>
          <a:p>
            <a:endParaRPr lang="en-US"/>
          </a:p>
        </p:txBody>
      </p:sp>
      <p:sp>
        <p:nvSpPr>
          <p:cNvPr id="52" name="Text 50"/>
          <p:cNvSpPr/>
          <p:nvPr/>
        </p:nvSpPr>
        <p:spPr>
          <a:xfrm>
            <a:off x="2633472" y="5742432"/>
            <a:ext cx="1645920" cy="219456"/>
          </a:xfrm>
          <a:prstGeom prst="rect">
            <a:avLst/>
          </a:prstGeom>
          <a:noFill/>
          <a:ln/>
        </p:spPr>
        <p:txBody>
          <a:bodyPr wrap="square" rtlCol="0" anchor="ctr"/>
          <a:lstStyle/>
          <a:p>
            <a:pPr marL="0" indent="0">
              <a:buNone/>
            </a:pPr>
            <a:r>
              <a:rPr lang="en-US" sz="1000" dirty="0">
                <a:solidFill>
                  <a:srgbClr val="1A2E3B"/>
                </a:solidFill>
                <a:latin typeface="Calibri" pitchFamily="34" charset="0"/>
                <a:ea typeface="Calibri" pitchFamily="34" charset="-122"/>
                <a:cs typeface="Calibri" pitchFamily="34" charset="-120"/>
              </a:rPr>
              <a:t>Peak Year (2018)</a:t>
            </a:r>
            <a:endParaRPr lang="en-US" sz="1000" dirty="0"/>
          </a:p>
        </p:txBody>
      </p:sp>
      <p:sp>
        <p:nvSpPr>
          <p:cNvPr id="53" name="Shape 51"/>
          <p:cNvSpPr/>
          <p:nvPr/>
        </p:nvSpPr>
        <p:spPr>
          <a:xfrm>
            <a:off x="4389120" y="5760720"/>
            <a:ext cx="182880" cy="182880"/>
          </a:xfrm>
          <a:prstGeom prst="rect">
            <a:avLst/>
          </a:prstGeom>
          <a:solidFill>
            <a:srgbClr val="B03A2E"/>
          </a:solidFill>
          <a:ln w="12700">
            <a:solidFill>
              <a:srgbClr val="B03A2E"/>
            </a:solidFill>
            <a:prstDash val="solid"/>
          </a:ln>
        </p:spPr>
        <p:txBody>
          <a:bodyPr/>
          <a:lstStyle/>
          <a:p>
            <a:endParaRPr lang="en-US"/>
          </a:p>
        </p:txBody>
      </p:sp>
      <p:sp>
        <p:nvSpPr>
          <p:cNvPr id="54" name="Text 52"/>
          <p:cNvSpPr/>
          <p:nvPr/>
        </p:nvSpPr>
        <p:spPr>
          <a:xfrm>
            <a:off x="4645152" y="5742432"/>
            <a:ext cx="2286000" cy="219456"/>
          </a:xfrm>
          <a:prstGeom prst="rect">
            <a:avLst/>
          </a:prstGeom>
          <a:noFill/>
          <a:ln/>
        </p:spPr>
        <p:txBody>
          <a:bodyPr wrap="square" rtlCol="0" anchor="ctr"/>
          <a:lstStyle/>
          <a:p>
            <a:pPr marL="0" indent="0">
              <a:buNone/>
            </a:pPr>
            <a:r>
              <a:rPr lang="en-US" sz="1000" dirty="0">
                <a:solidFill>
                  <a:srgbClr val="1A2E3B"/>
                </a:solidFill>
                <a:latin typeface="Calibri" pitchFamily="34" charset="0"/>
                <a:ea typeface="Calibri" pitchFamily="34" charset="-122"/>
                <a:cs typeface="Calibri" pitchFamily="34" charset="-120"/>
              </a:rPr>
              <a:t>COVID Impact (2020-2021)</a:t>
            </a:r>
            <a:endParaRPr lang="en-US" sz="1000" dirty="0"/>
          </a:p>
        </p:txBody>
      </p:sp>
      <p:sp>
        <p:nvSpPr>
          <p:cNvPr id="55" name="Text 53"/>
          <p:cNvSpPr/>
          <p:nvPr/>
        </p:nvSpPr>
        <p:spPr>
          <a:xfrm>
            <a:off x="7406640" y="5742432"/>
            <a:ext cx="1828800" cy="219456"/>
          </a:xfrm>
          <a:prstGeom prst="rect">
            <a:avLst/>
          </a:prstGeom>
          <a:noFill/>
          <a:ln/>
        </p:spPr>
        <p:txBody>
          <a:bodyPr wrap="square" rtlCol="0" anchor="ctr"/>
          <a:lstStyle/>
          <a:p>
            <a:pPr marL="0" indent="0">
              <a:buNone/>
            </a:pPr>
            <a:r>
              <a:rPr lang="en-US" sz="1000" dirty="0">
                <a:solidFill>
                  <a:srgbClr val="5A7A8E"/>
                </a:solidFill>
                <a:latin typeface="Calibri" pitchFamily="34" charset="0"/>
                <a:ea typeface="Calibri" pitchFamily="34" charset="-122"/>
                <a:cs typeface="Calibri" pitchFamily="34" charset="-120"/>
              </a:rPr>
              <a:t>* 2025 = Jan–Oct only</a:t>
            </a:r>
            <a:endParaRPr lang="en-US" sz="1000" dirty="0"/>
          </a:p>
        </p:txBody>
      </p:sp>
      <p:sp>
        <p:nvSpPr>
          <p:cNvPr id="56" name="Shape 54"/>
          <p:cNvSpPr/>
          <p:nvPr/>
        </p:nvSpPr>
        <p:spPr>
          <a:xfrm>
            <a:off x="9144000" y="1234440"/>
            <a:ext cx="2560320" cy="1417320"/>
          </a:xfrm>
          <a:prstGeom prst="rect">
            <a:avLst/>
          </a:prstGeom>
          <a:solidFill>
            <a:srgbClr val="F7F9FB"/>
          </a:solidFill>
          <a:ln w="12700">
            <a:solidFill>
              <a:srgbClr val="D6E8F5"/>
            </a:solidFill>
            <a:prstDash val="solid"/>
          </a:ln>
        </p:spPr>
        <p:txBody>
          <a:bodyPr/>
          <a:lstStyle/>
          <a:p>
            <a:endParaRPr lang="en-US"/>
          </a:p>
        </p:txBody>
      </p:sp>
      <p:sp>
        <p:nvSpPr>
          <p:cNvPr id="57" name="Text 55"/>
          <p:cNvSpPr/>
          <p:nvPr/>
        </p:nvSpPr>
        <p:spPr>
          <a:xfrm>
            <a:off x="9235440" y="1325880"/>
            <a:ext cx="2377440" cy="594360"/>
          </a:xfrm>
          <a:prstGeom prst="rect">
            <a:avLst/>
          </a:prstGeom>
          <a:noFill/>
          <a:ln/>
        </p:spPr>
        <p:txBody>
          <a:bodyPr wrap="square" rtlCol="0" anchor="ctr"/>
          <a:lstStyle/>
          <a:p>
            <a:pPr marL="0" indent="0" algn="ctr">
              <a:buNone/>
            </a:pPr>
            <a:r>
              <a:rPr lang="en-US" sz="2800" b="1" dirty="0">
                <a:solidFill>
                  <a:srgbClr val="E09F3E"/>
                </a:solidFill>
                <a:latin typeface="Calibri" pitchFamily="34" charset="0"/>
                <a:ea typeface="Calibri" pitchFamily="34" charset="-122"/>
                <a:cs typeface="Calibri" pitchFamily="34" charset="-120"/>
              </a:rPr>
              <a:t>+14%</a:t>
            </a:r>
            <a:endParaRPr lang="en-US" sz="2800" dirty="0"/>
          </a:p>
        </p:txBody>
      </p:sp>
      <p:sp>
        <p:nvSpPr>
          <p:cNvPr id="58" name="Text 56"/>
          <p:cNvSpPr/>
          <p:nvPr/>
        </p:nvSpPr>
        <p:spPr>
          <a:xfrm>
            <a:off x="9235440" y="1892808"/>
            <a:ext cx="2377440" cy="411480"/>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Growth</a:t>
            </a:r>
            <a:endParaRPr lang="en-US" sz="1200" dirty="0"/>
          </a:p>
          <a:p>
            <a:pPr marL="0" indent="0" algn="ctr">
              <a:buNone/>
            </a:pPr>
            <a:r>
              <a:rPr lang="en-US" sz="1200" b="1" dirty="0">
                <a:solidFill>
                  <a:srgbClr val="0D1B2A"/>
                </a:solidFill>
                <a:latin typeface="Calibri" pitchFamily="34" charset="0"/>
                <a:ea typeface="Calibri" pitchFamily="34" charset="-122"/>
                <a:cs typeface="Calibri" pitchFamily="34" charset="-120"/>
              </a:rPr>
              <a:t>2015–2018</a:t>
            </a:r>
            <a:endParaRPr lang="en-US" sz="1200" dirty="0"/>
          </a:p>
        </p:txBody>
      </p:sp>
      <p:sp>
        <p:nvSpPr>
          <p:cNvPr id="59" name="Text 57"/>
          <p:cNvSpPr/>
          <p:nvPr/>
        </p:nvSpPr>
        <p:spPr>
          <a:xfrm>
            <a:off x="9235440" y="2286000"/>
            <a:ext cx="2377440" cy="320040"/>
          </a:xfrm>
          <a:prstGeom prst="rect">
            <a:avLst/>
          </a:prstGeom>
          <a:noFill/>
          <a:ln/>
        </p:spPr>
        <p:txBody>
          <a:bodyPr wrap="square" rtlCol="0" anchor="ctr"/>
          <a:lstStyle/>
          <a:p>
            <a:pPr marL="0" indent="0" algn="ctr">
              <a:buNone/>
            </a:pPr>
            <a:r>
              <a:rPr lang="en-US" sz="1000" dirty="0">
                <a:solidFill>
                  <a:srgbClr val="5A7A8E"/>
                </a:solidFill>
                <a:latin typeface="Calibri" pitchFamily="34" charset="0"/>
                <a:ea typeface="Calibri" pitchFamily="34" charset="-122"/>
                <a:cs typeface="Calibri" pitchFamily="34" charset="-120"/>
              </a:rPr>
              <a:t>Rising trend before peak</a:t>
            </a:r>
            <a:endParaRPr lang="en-US" sz="1000" dirty="0"/>
          </a:p>
        </p:txBody>
      </p:sp>
      <p:sp>
        <p:nvSpPr>
          <p:cNvPr id="60" name="Shape 58"/>
          <p:cNvSpPr/>
          <p:nvPr/>
        </p:nvSpPr>
        <p:spPr>
          <a:xfrm>
            <a:off x="9144000" y="2834640"/>
            <a:ext cx="2560320" cy="1417320"/>
          </a:xfrm>
          <a:prstGeom prst="rect">
            <a:avLst/>
          </a:prstGeom>
          <a:solidFill>
            <a:srgbClr val="F7F9FB"/>
          </a:solidFill>
          <a:ln w="12700">
            <a:solidFill>
              <a:srgbClr val="D6E8F5"/>
            </a:solidFill>
            <a:prstDash val="solid"/>
          </a:ln>
        </p:spPr>
        <p:txBody>
          <a:bodyPr/>
          <a:lstStyle/>
          <a:p>
            <a:endParaRPr lang="en-US"/>
          </a:p>
        </p:txBody>
      </p:sp>
      <p:sp>
        <p:nvSpPr>
          <p:cNvPr id="61" name="Text 59"/>
          <p:cNvSpPr/>
          <p:nvPr/>
        </p:nvSpPr>
        <p:spPr>
          <a:xfrm>
            <a:off x="9235440" y="2926080"/>
            <a:ext cx="2377440" cy="594360"/>
          </a:xfrm>
          <a:prstGeom prst="rect">
            <a:avLst/>
          </a:prstGeom>
          <a:noFill/>
          <a:ln/>
        </p:spPr>
        <p:txBody>
          <a:bodyPr wrap="square" rtlCol="0" anchor="ctr"/>
          <a:lstStyle/>
          <a:p>
            <a:pPr marL="0" indent="0" algn="ctr">
              <a:buNone/>
            </a:pPr>
            <a:r>
              <a:rPr lang="en-US" sz="2800" b="1" dirty="0">
                <a:solidFill>
                  <a:srgbClr val="B03A2E"/>
                </a:solidFill>
                <a:latin typeface="Calibri" pitchFamily="34" charset="0"/>
                <a:ea typeface="Calibri" pitchFamily="34" charset="-122"/>
                <a:cs typeface="Calibri" pitchFamily="34" charset="-120"/>
              </a:rPr>
              <a:t>-20%</a:t>
            </a:r>
            <a:endParaRPr lang="en-US" sz="2800" dirty="0"/>
          </a:p>
        </p:txBody>
      </p:sp>
      <p:sp>
        <p:nvSpPr>
          <p:cNvPr id="62" name="Text 60"/>
          <p:cNvSpPr/>
          <p:nvPr/>
        </p:nvSpPr>
        <p:spPr>
          <a:xfrm>
            <a:off x="9235440" y="3493008"/>
            <a:ext cx="2377440" cy="411480"/>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Decline</a:t>
            </a:r>
            <a:endParaRPr lang="en-US" sz="1200" dirty="0"/>
          </a:p>
          <a:p>
            <a:pPr marL="0" indent="0" algn="ctr">
              <a:buNone/>
            </a:pPr>
            <a:r>
              <a:rPr lang="en-US" sz="1200" b="1" dirty="0">
                <a:solidFill>
                  <a:srgbClr val="0D1B2A"/>
                </a:solidFill>
                <a:latin typeface="Calibri" pitchFamily="34" charset="0"/>
                <a:ea typeface="Calibri" pitchFamily="34" charset="-122"/>
                <a:cs typeface="Calibri" pitchFamily="34" charset="-120"/>
              </a:rPr>
              <a:t>2018–2021</a:t>
            </a:r>
            <a:endParaRPr lang="en-US" sz="1200" dirty="0"/>
          </a:p>
        </p:txBody>
      </p:sp>
      <p:sp>
        <p:nvSpPr>
          <p:cNvPr id="63" name="Text 61"/>
          <p:cNvSpPr/>
          <p:nvPr/>
        </p:nvSpPr>
        <p:spPr>
          <a:xfrm>
            <a:off x="9235440" y="3886200"/>
            <a:ext cx="2377440" cy="320040"/>
          </a:xfrm>
          <a:prstGeom prst="rect">
            <a:avLst/>
          </a:prstGeom>
          <a:noFill/>
          <a:ln/>
        </p:spPr>
        <p:txBody>
          <a:bodyPr wrap="square" rtlCol="0" anchor="ctr"/>
          <a:lstStyle/>
          <a:p>
            <a:pPr marL="0" indent="0" algn="ctr">
              <a:buNone/>
            </a:pPr>
            <a:r>
              <a:rPr lang="en-US" sz="1000" dirty="0">
                <a:solidFill>
                  <a:srgbClr val="5A7A8E"/>
                </a:solidFill>
                <a:latin typeface="Calibri" pitchFamily="34" charset="0"/>
                <a:ea typeface="Calibri" pitchFamily="34" charset="-122"/>
                <a:cs typeface="Calibri" pitchFamily="34" charset="-120"/>
              </a:rPr>
              <a:t>COVID-19 impact</a:t>
            </a:r>
            <a:endParaRPr lang="en-US" sz="1000" dirty="0"/>
          </a:p>
        </p:txBody>
      </p:sp>
      <p:sp>
        <p:nvSpPr>
          <p:cNvPr id="64" name="Shape 62"/>
          <p:cNvSpPr/>
          <p:nvPr/>
        </p:nvSpPr>
        <p:spPr>
          <a:xfrm>
            <a:off x="9144000" y="4434840"/>
            <a:ext cx="2560320" cy="1417320"/>
          </a:xfrm>
          <a:prstGeom prst="rect">
            <a:avLst/>
          </a:prstGeom>
          <a:solidFill>
            <a:srgbClr val="F7F9FB"/>
          </a:solidFill>
          <a:ln w="12700">
            <a:solidFill>
              <a:srgbClr val="D6E8F5"/>
            </a:solidFill>
            <a:prstDash val="solid"/>
          </a:ln>
        </p:spPr>
        <p:txBody>
          <a:bodyPr/>
          <a:lstStyle/>
          <a:p>
            <a:endParaRPr lang="en-US"/>
          </a:p>
        </p:txBody>
      </p:sp>
      <p:sp>
        <p:nvSpPr>
          <p:cNvPr id="65" name="Text 63"/>
          <p:cNvSpPr/>
          <p:nvPr/>
        </p:nvSpPr>
        <p:spPr>
          <a:xfrm>
            <a:off x="9235440" y="4526280"/>
            <a:ext cx="2377440" cy="594360"/>
          </a:xfrm>
          <a:prstGeom prst="rect">
            <a:avLst/>
          </a:prstGeom>
          <a:noFill/>
          <a:ln/>
        </p:spPr>
        <p:txBody>
          <a:bodyPr wrap="square" rtlCol="0" anchor="ctr"/>
          <a:lstStyle/>
          <a:p>
            <a:pPr marL="0" indent="0" algn="ctr">
              <a:buNone/>
            </a:pPr>
            <a:r>
              <a:rPr lang="en-US" sz="2800" b="1" dirty="0">
                <a:solidFill>
                  <a:srgbClr val="2E86AB"/>
                </a:solidFill>
                <a:latin typeface="Calibri" pitchFamily="34" charset="0"/>
                <a:ea typeface="Calibri" pitchFamily="34" charset="-122"/>
                <a:cs typeface="Calibri" pitchFamily="34" charset="-120"/>
              </a:rPr>
              <a:t>≈800</a:t>
            </a:r>
            <a:endParaRPr lang="en-US" sz="2800" dirty="0"/>
          </a:p>
        </p:txBody>
      </p:sp>
      <p:sp>
        <p:nvSpPr>
          <p:cNvPr id="66" name="Text 64"/>
          <p:cNvSpPr/>
          <p:nvPr/>
        </p:nvSpPr>
        <p:spPr>
          <a:xfrm>
            <a:off x="9235440" y="5093208"/>
            <a:ext cx="2377440" cy="411480"/>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Monthly</a:t>
            </a:r>
            <a:endParaRPr lang="en-US" sz="1200" dirty="0"/>
          </a:p>
          <a:p>
            <a:pPr marL="0" indent="0" algn="ctr">
              <a:buNone/>
            </a:pPr>
            <a:r>
              <a:rPr lang="en-US" sz="1200" b="1" dirty="0">
                <a:solidFill>
                  <a:srgbClr val="0D1B2A"/>
                </a:solidFill>
                <a:latin typeface="Calibri" pitchFamily="34" charset="0"/>
                <a:ea typeface="Calibri" pitchFamily="34" charset="-122"/>
                <a:cs typeface="Calibri" pitchFamily="34" charset="-120"/>
              </a:rPr>
              <a:t>Forecast</a:t>
            </a:r>
            <a:endParaRPr lang="en-US" sz="1200" dirty="0"/>
          </a:p>
        </p:txBody>
      </p:sp>
      <p:sp>
        <p:nvSpPr>
          <p:cNvPr id="67" name="Text 65"/>
          <p:cNvSpPr/>
          <p:nvPr/>
        </p:nvSpPr>
        <p:spPr>
          <a:xfrm>
            <a:off x="9235440" y="5486400"/>
            <a:ext cx="2377440" cy="320040"/>
          </a:xfrm>
          <a:prstGeom prst="rect">
            <a:avLst/>
          </a:prstGeom>
          <a:noFill/>
          <a:ln/>
        </p:spPr>
        <p:txBody>
          <a:bodyPr wrap="square" rtlCol="0" anchor="ctr"/>
          <a:lstStyle/>
          <a:p>
            <a:pPr marL="0" indent="0" algn="ctr">
              <a:buNone/>
            </a:pPr>
            <a:r>
              <a:rPr lang="en-US" sz="1000" dirty="0">
                <a:solidFill>
                  <a:srgbClr val="5A7A8E"/>
                </a:solidFill>
                <a:latin typeface="Calibri" pitchFamily="34" charset="0"/>
                <a:ea typeface="Calibri" pitchFamily="34" charset="-122"/>
                <a:cs typeface="Calibri" pitchFamily="34" charset="-120"/>
              </a:rPr>
              <a:t>Stable through 2027</a:t>
            </a:r>
            <a:endParaRPr lang="en-US" sz="1000" dirty="0"/>
          </a:p>
        </p:txBody>
      </p:sp>
      <p:sp>
        <p:nvSpPr>
          <p:cNvPr id="68" name="Text 66"/>
          <p:cNvSpPr/>
          <p:nvPr/>
        </p:nvSpPr>
        <p:spPr>
          <a:xfrm>
            <a:off x="0" y="6492240"/>
            <a:ext cx="12192000" cy="32004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OSHA Severe Injury Report Analysis  |  Mary Becker  |  Data Analytics Capstone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0D1B2A"/>
          </a:solidFill>
          <a:ln/>
        </p:spPr>
        <p:txBody>
          <a:bodyPr/>
          <a:lstStyle/>
          <a:p>
            <a:endParaRPr lang="en-US"/>
          </a:p>
        </p:txBody>
      </p:sp>
      <p:sp>
        <p:nvSpPr>
          <p:cNvPr id="3" name="Text 1"/>
          <p:cNvSpPr/>
          <p:nvPr/>
        </p:nvSpPr>
        <p:spPr>
          <a:xfrm>
            <a:off x="365760" y="73152"/>
            <a:ext cx="91440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Tableau Dashboards</a:t>
            </a:r>
            <a:endParaRPr lang="en-US" sz="2800" dirty="0"/>
          </a:p>
        </p:txBody>
      </p:sp>
      <p:sp>
        <p:nvSpPr>
          <p:cNvPr id="4" name="Text 2"/>
          <p:cNvSpPr/>
          <p:nvPr/>
        </p:nvSpPr>
        <p:spPr>
          <a:xfrm>
            <a:off x="365760" y="594360"/>
            <a:ext cx="9144000" cy="347472"/>
          </a:xfrm>
          <a:prstGeom prst="rect">
            <a:avLst/>
          </a:prstGeom>
          <a:noFill/>
          <a:ln/>
        </p:spPr>
        <p:txBody>
          <a:bodyPr wrap="square" rtlCol="0" anchor="t"/>
          <a:lstStyle/>
          <a:p>
            <a:pPr marL="0" indent="0">
              <a:buNone/>
            </a:pPr>
            <a:r>
              <a:rPr lang="en-US" sz="1300" dirty="0">
                <a:solidFill>
                  <a:srgbClr val="D6E8F5"/>
                </a:solidFill>
                <a:latin typeface="Calibri" pitchFamily="34" charset="0"/>
                <a:ea typeface="Calibri" pitchFamily="34" charset="-122"/>
                <a:cs typeface="Calibri" pitchFamily="34" charset="-120"/>
              </a:rPr>
              <a:t>Three interactive dashboards built in Tableau Public</a:t>
            </a:r>
            <a:endParaRPr lang="en-US" sz="1300" dirty="0"/>
          </a:p>
        </p:txBody>
      </p:sp>
      <p:sp>
        <p:nvSpPr>
          <p:cNvPr id="5" name="Shape 3"/>
          <p:cNvSpPr/>
          <p:nvPr/>
        </p:nvSpPr>
        <p:spPr>
          <a:xfrm>
            <a:off x="365760" y="4572000"/>
            <a:ext cx="11430000" cy="1509240"/>
          </a:xfrm>
          <a:prstGeom prst="rect">
            <a:avLst/>
          </a:prstGeom>
          <a:solidFill>
            <a:srgbClr val="F7F9FB"/>
          </a:solidFill>
          <a:ln w="12700">
            <a:solidFill>
              <a:srgbClr val="D6E8F5"/>
            </a:solidFill>
            <a:prstDash val="solid"/>
          </a:ln>
        </p:spPr>
        <p:txBody>
          <a:bodyPr/>
          <a:lstStyle/>
          <a:p>
            <a:endParaRPr lang="en-US"/>
          </a:p>
        </p:txBody>
      </p:sp>
      <p:sp>
        <p:nvSpPr>
          <p:cNvPr id="6" name="Shape 4"/>
          <p:cNvSpPr/>
          <p:nvPr/>
        </p:nvSpPr>
        <p:spPr>
          <a:xfrm>
            <a:off x="365760" y="4572000"/>
            <a:ext cx="1097280" cy="1509240"/>
          </a:xfrm>
          <a:prstGeom prst="rect">
            <a:avLst/>
          </a:prstGeom>
          <a:solidFill>
            <a:srgbClr val="0D1B2A"/>
          </a:solidFill>
          <a:ln w="12700">
            <a:solidFill>
              <a:srgbClr val="0D1B2A"/>
            </a:solidFill>
            <a:prstDash val="solid"/>
          </a:ln>
        </p:spPr>
        <p:txBody>
          <a:bodyPr/>
          <a:lstStyle/>
          <a:p>
            <a:endParaRPr lang="en-US"/>
          </a:p>
        </p:txBody>
      </p:sp>
      <p:sp>
        <p:nvSpPr>
          <p:cNvPr id="7" name="Text 5"/>
          <p:cNvSpPr/>
          <p:nvPr/>
        </p:nvSpPr>
        <p:spPr>
          <a:xfrm>
            <a:off x="365760" y="4572000"/>
            <a:ext cx="1097280" cy="15092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8" name="Text 6"/>
          <p:cNvSpPr/>
          <p:nvPr/>
        </p:nvSpPr>
        <p:spPr>
          <a:xfrm>
            <a:off x="1600200" y="4681728"/>
            <a:ext cx="9966960" cy="34747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Dashboard 3 - Time Analysis</a:t>
            </a:r>
            <a:endParaRPr lang="en-US" sz="1300" dirty="0"/>
          </a:p>
        </p:txBody>
      </p:sp>
      <p:sp>
        <p:nvSpPr>
          <p:cNvPr id="9" name="Text 7"/>
          <p:cNvSpPr/>
          <p:nvPr/>
        </p:nvSpPr>
        <p:spPr>
          <a:xfrm>
            <a:off x="1600200" y="5029200"/>
            <a:ext cx="7772400" cy="274320"/>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 Monthly Reports Over Time </a:t>
            </a:r>
            <a:r>
              <a:rPr lang="en-US" sz="1050">
                <a:solidFill>
                  <a:srgbClr val="1A2E3B"/>
                </a:solidFill>
                <a:latin typeface="Calibri" pitchFamily="34" charset="0"/>
                <a:ea typeface="Calibri" pitchFamily="34" charset="-122"/>
                <a:cs typeface="Calibri" pitchFamily="34" charset="-120"/>
              </a:rPr>
              <a:t>-</a:t>
            </a:r>
            <a:r>
              <a:rPr lang="en-US" sz="1050" dirty="0">
                <a:solidFill>
                  <a:srgbClr val="1A2E3B"/>
                </a:solidFill>
                <a:latin typeface="Calibri" pitchFamily="34" charset="0"/>
                <a:ea typeface="Calibri" pitchFamily="34" charset="-122"/>
                <a:cs typeface="Calibri" pitchFamily="34" charset="-120"/>
              </a:rPr>
              <a:t> line chart with COVID-19 reference line and trend line</a:t>
            </a:r>
            <a:endParaRPr lang="en-US" sz="1050" dirty="0"/>
          </a:p>
        </p:txBody>
      </p:sp>
      <p:sp>
        <p:nvSpPr>
          <p:cNvPr id="10" name="Text 8"/>
          <p:cNvSpPr/>
          <p:nvPr/>
        </p:nvSpPr>
        <p:spPr>
          <a:xfrm>
            <a:off x="1600200" y="5303520"/>
            <a:ext cx="7772400" cy="274320"/>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 Forecasted Reports </a:t>
            </a:r>
            <a:r>
              <a:rPr lang="en-US" sz="1050">
                <a:solidFill>
                  <a:srgbClr val="1A2E3B"/>
                </a:solidFill>
                <a:latin typeface="Calibri" pitchFamily="34" charset="0"/>
                <a:ea typeface="Calibri" pitchFamily="34" charset="-122"/>
                <a:cs typeface="Calibri" pitchFamily="34" charset="-120"/>
              </a:rPr>
              <a:t>-</a:t>
            </a:r>
            <a:r>
              <a:rPr lang="en-US" sz="1050" dirty="0">
                <a:solidFill>
                  <a:srgbClr val="1A2E3B"/>
                </a:solidFill>
                <a:latin typeface="Calibri" pitchFamily="34" charset="0"/>
                <a:ea typeface="Calibri" pitchFamily="34" charset="-122"/>
                <a:cs typeface="Calibri" pitchFamily="34" charset="-120"/>
              </a:rPr>
              <a:t> exponential smoothing projecting through 2027</a:t>
            </a:r>
            <a:endParaRPr lang="en-US" sz="1050" dirty="0"/>
          </a:p>
        </p:txBody>
      </p:sp>
      <p:sp>
        <p:nvSpPr>
          <p:cNvPr id="11" name="Text 9"/>
          <p:cNvSpPr/>
          <p:nvPr/>
        </p:nvSpPr>
        <p:spPr>
          <a:xfrm>
            <a:off x="1600200" y="5577840"/>
            <a:ext cx="7772400" cy="274320"/>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 Reports by Day of Week </a:t>
            </a:r>
            <a:r>
              <a:rPr lang="en-US" sz="1050">
                <a:solidFill>
                  <a:srgbClr val="1A2E3B"/>
                </a:solidFill>
                <a:latin typeface="Calibri" pitchFamily="34" charset="0"/>
                <a:ea typeface="Calibri" pitchFamily="34" charset="-122"/>
                <a:cs typeface="Calibri" pitchFamily="34" charset="-120"/>
              </a:rPr>
              <a:t>-</a:t>
            </a:r>
            <a:r>
              <a:rPr lang="en-US" sz="1050" dirty="0">
                <a:solidFill>
                  <a:srgbClr val="1A2E3B"/>
                </a:solidFill>
                <a:latin typeface="Calibri" pitchFamily="34" charset="0"/>
                <a:ea typeface="Calibri" pitchFamily="34" charset="-122"/>
                <a:cs typeface="Calibri" pitchFamily="34" charset="-120"/>
              </a:rPr>
              <a:t> bar chart with weekday vs weekend contrast</a:t>
            </a:r>
            <a:endParaRPr lang="en-US" sz="1050" dirty="0"/>
          </a:p>
        </p:txBody>
      </p:sp>
      <p:sp>
        <p:nvSpPr>
          <p:cNvPr id="12" name="Shape 10"/>
          <p:cNvSpPr/>
          <p:nvPr/>
        </p:nvSpPr>
        <p:spPr>
          <a:xfrm>
            <a:off x="9464040" y="4956048"/>
            <a:ext cx="2194560" cy="896112"/>
          </a:xfrm>
          <a:prstGeom prst="rect">
            <a:avLst/>
          </a:prstGeom>
          <a:solidFill>
            <a:srgbClr val="0D1B2A"/>
          </a:solidFill>
          <a:ln w="12700">
            <a:solidFill>
              <a:srgbClr val="0D1B2A"/>
            </a:solidFill>
            <a:prstDash val="solid"/>
          </a:ln>
        </p:spPr>
        <p:txBody>
          <a:bodyPr/>
          <a:lstStyle/>
          <a:p>
            <a:endParaRPr lang="en-US"/>
          </a:p>
        </p:txBody>
      </p:sp>
      <p:sp>
        <p:nvSpPr>
          <p:cNvPr id="13" name="Text 11"/>
          <p:cNvSpPr/>
          <p:nvPr/>
        </p:nvSpPr>
        <p:spPr>
          <a:xfrm>
            <a:off x="9464040" y="4956048"/>
            <a:ext cx="2194560" cy="89611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 Interactive</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Year Filter</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Enabled</a:t>
            </a:r>
            <a:endParaRPr lang="en-US" sz="1000" dirty="0"/>
          </a:p>
        </p:txBody>
      </p:sp>
      <p:sp>
        <p:nvSpPr>
          <p:cNvPr id="14" name="Shape 12"/>
          <p:cNvSpPr/>
          <p:nvPr/>
        </p:nvSpPr>
        <p:spPr>
          <a:xfrm>
            <a:off x="365760" y="2880360"/>
            <a:ext cx="11430000" cy="1509240"/>
          </a:xfrm>
          <a:prstGeom prst="rect">
            <a:avLst/>
          </a:prstGeom>
          <a:solidFill>
            <a:srgbClr val="F7F9FB"/>
          </a:solidFill>
          <a:ln w="12700">
            <a:solidFill>
              <a:srgbClr val="D6E8F5"/>
            </a:solidFill>
            <a:prstDash val="solid"/>
          </a:ln>
        </p:spPr>
        <p:txBody>
          <a:bodyPr/>
          <a:lstStyle/>
          <a:p>
            <a:endParaRPr lang="en-US"/>
          </a:p>
        </p:txBody>
      </p:sp>
      <p:sp>
        <p:nvSpPr>
          <p:cNvPr id="15" name="Shape 13"/>
          <p:cNvSpPr/>
          <p:nvPr/>
        </p:nvSpPr>
        <p:spPr>
          <a:xfrm>
            <a:off x="365760" y="2880360"/>
            <a:ext cx="1097280" cy="1509240"/>
          </a:xfrm>
          <a:prstGeom prst="rect">
            <a:avLst/>
          </a:prstGeom>
          <a:solidFill>
            <a:srgbClr val="1B4F72"/>
          </a:solidFill>
          <a:ln w="12700">
            <a:solidFill>
              <a:srgbClr val="1B4F72"/>
            </a:solidFill>
            <a:prstDash val="solid"/>
          </a:ln>
        </p:spPr>
        <p:txBody>
          <a:bodyPr/>
          <a:lstStyle/>
          <a:p>
            <a:endParaRPr lang="en-US"/>
          </a:p>
        </p:txBody>
      </p:sp>
      <p:sp>
        <p:nvSpPr>
          <p:cNvPr id="16" name="Text 14"/>
          <p:cNvSpPr/>
          <p:nvPr/>
        </p:nvSpPr>
        <p:spPr>
          <a:xfrm>
            <a:off x="365760" y="2880360"/>
            <a:ext cx="1097280" cy="15092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7" name="Text 15"/>
          <p:cNvSpPr/>
          <p:nvPr/>
        </p:nvSpPr>
        <p:spPr>
          <a:xfrm>
            <a:off x="1600200" y="2990088"/>
            <a:ext cx="9966960" cy="34747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Dashboard 2 - Industry Analysis</a:t>
            </a:r>
            <a:endParaRPr lang="en-US" sz="1300" dirty="0"/>
          </a:p>
        </p:txBody>
      </p:sp>
      <p:sp>
        <p:nvSpPr>
          <p:cNvPr id="18" name="Text 16"/>
          <p:cNvSpPr/>
          <p:nvPr/>
        </p:nvSpPr>
        <p:spPr>
          <a:xfrm>
            <a:off x="1600200" y="3337560"/>
            <a:ext cx="7772400" cy="274320"/>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 OSHA Severe Injury Outcomes by State </a:t>
            </a:r>
            <a:r>
              <a:rPr lang="en-US" sz="1050">
                <a:solidFill>
                  <a:srgbClr val="1A2E3B"/>
                </a:solidFill>
                <a:latin typeface="Calibri" pitchFamily="34" charset="0"/>
                <a:ea typeface="Calibri" pitchFamily="34" charset="-122"/>
                <a:cs typeface="Calibri" pitchFamily="34" charset="-120"/>
              </a:rPr>
              <a:t>-</a:t>
            </a:r>
            <a:r>
              <a:rPr lang="en-US" sz="1050" dirty="0">
                <a:solidFill>
                  <a:srgbClr val="1A2E3B"/>
                </a:solidFill>
                <a:latin typeface="Calibri" pitchFamily="34" charset="0"/>
                <a:ea typeface="Calibri" pitchFamily="34" charset="-122"/>
                <a:cs typeface="Calibri" pitchFamily="34" charset="-120"/>
              </a:rPr>
              <a:t> horizontal bar chart with 4 outcome measures</a:t>
            </a:r>
            <a:endParaRPr lang="en-US" sz="1050" dirty="0"/>
          </a:p>
        </p:txBody>
      </p:sp>
      <p:sp>
        <p:nvSpPr>
          <p:cNvPr id="19" name="Text 17"/>
          <p:cNvSpPr/>
          <p:nvPr/>
        </p:nvSpPr>
        <p:spPr>
          <a:xfrm>
            <a:off x="1600200" y="3611880"/>
            <a:ext cx="7772400" cy="274320"/>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 Severe Injury Outcomes by Direct Parent Title </a:t>
            </a:r>
            <a:r>
              <a:rPr lang="en-US" sz="1050">
                <a:solidFill>
                  <a:srgbClr val="1A2E3B"/>
                </a:solidFill>
                <a:latin typeface="Calibri" pitchFamily="34" charset="0"/>
                <a:ea typeface="Calibri" pitchFamily="34" charset="-122"/>
                <a:cs typeface="Calibri" pitchFamily="34" charset="-120"/>
              </a:rPr>
              <a:t>-</a:t>
            </a:r>
            <a:r>
              <a:rPr lang="en-US" sz="1050" dirty="0">
                <a:solidFill>
                  <a:srgbClr val="1A2E3B"/>
                </a:solidFill>
                <a:latin typeface="Calibri" pitchFamily="34" charset="0"/>
                <a:ea typeface="Calibri" pitchFamily="34" charset="-122"/>
                <a:cs typeface="Calibri" pitchFamily="34" charset="-120"/>
              </a:rPr>
              <a:t> broad industry breakdown</a:t>
            </a:r>
            <a:endParaRPr lang="en-US" sz="1050" dirty="0"/>
          </a:p>
        </p:txBody>
      </p:sp>
      <p:sp>
        <p:nvSpPr>
          <p:cNvPr id="20" name="Text 18"/>
          <p:cNvSpPr/>
          <p:nvPr/>
        </p:nvSpPr>
        <p:spPr>
          <a:xfrm>
            <a:off x="1600200" y="3886200"/>
            <a:ext cx="7772400" cy="274320"/>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 Severe Injury Report by Broad Category </a:t>
            </a:r>
            <a:r>
              <a:rPr lang="en-US" sz="1050">
                <a:solidFill>
                  <a:srgbClr val="1A2E3B"/>
                </a:solidFill>
                <a:latin typeface="Calibri" pitchFamily="34" charset="0"/>
                <a:ea typeface="Calibri" pitchFamily="34" charset="-122"/>
                <a:cs typeface="Calibri" pitchFamily="34" charset="-120"/>
              </a:rPr>
              <a:t>-</a:t>
            </a:r>
            <a:r>
              <a:rPr lang="en-US" sz="1050" dirty="0">
                <a:solidFill>
                  <a:srgbClr val="1A2E3B"/>
                </a:solidFill>
                <a:latin typeface="Calibri" pitchFamily="34" charset="0"/>
                <a:ea typeface="Calibri" pitchFamily="34" charset="-122"/>
                <a:cs typeface="Calibri" pitchFamily="34" charset="-120"/>
              </a:rPr>
              <a:t> packed bubble chart colored by industry</a:t>
            </a:r>
            <a:endParaRPr lang="en-US" sz="1050" dirty="0"/>
          </a:p>
        </p:txBody>
      </p:sp>
      <p:sp>
        <p:nvSpPr>
          <p:cNvPr id="21" name="Shape 19"/>
          <p:cNvSpPr/>
          <p:nvPr/>
        </p:nvSpPr>
        <p:spPr>
          <a:xfrm>
            <a:off x="9464040" y="3264408"/>
            <a:ext cx="2194560" cy="896112"/>
          </a:xfrm>
          <a:prstGeom prst="rect">
            <a:avLst/>
          </a:prstGeom>
          <a:solidFill>
            <a:srgbClr val="1B4F72"/>
          </a:solidFill>
          <a:ln w="12700">
            <a:solidFill>
              <a:srgbClr val="1B4F72"/>
            </a:solidFill>
            <a:prstDash val="solid"/>
          </a:ln>
        </p:spPr>
        <p:txBody>
          <a:bodyPr/>
          <a:lstStyle/>
          <a:p>
            <a:endParaRPr lang="en-US"/>
          </a:p>
        </p:txBody>
      </p:sp>
      <p:sp>
        <p:nvSpPr>
          <p:cNvPr id="22" name="Text 20"/>
          <p:cNvSpPr/>
          <p:nvPr/>
        </p:nvSpPr>
        <p:spPr>
          <a:xfrm>
            <a:off x="9464040" y="3264408"/>
            <a:ext cx="2194560" cy="89611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 Interactive</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Year Filter</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Enabled</a:t>
            </a:r>
            <a:endParaRPr lang="en-US" sz="1000" dirty="0"/>
          </a:p>
        </p:txBody>
      </p:sp>
      <p:sp>
        <p:nvSpPr>
          <p:cNvPr id="23" name="Shape 21"/>
          <p:cNvSpPr/>
          <p:nvPr/>
        </p:nvSpPr>
        <p:spPr>
          <a:xfrm>
            <a:off x="365760" y="1188720"/>
            <a:ext cx="11430000" cy="1509240"/>
          </a:xfrm>
          <a:prstGeom prst="rect">
            <a:avLst/>
          </a:prstGeom>
          <a:solidFill>
            <a:srgbClr val="F7F9FB"/>
          </a:solidFill>
          <a:ln w="12700">
            <a:solidFill>
              <a:srgbClr val="D6E8F5"/>
            </a:solidFill>
            <a:prstDash val="solid"/>
          </a:ln>
        </p:spPr>
        <p:txBody>
          <a:bodyPr/>
          <a:lstStyle/>
          <a:p>
            <a:endParaRPr lang="en-US"/>
          </a:p>
        </p:txBody>
      </p:sp>
      <p:sp>
        <p:nvSpPr>
          <p:cNvPr id="24" name="Shape 22"/>
          <p:cNvSpPr/>
          <p:nvPr/>
        </p:nvSpPr>
        <p:spPr>
          <a:xfrm>
            <a:off x="365760" y="1188720"/>
            <a:ext cx="1097280" cy="1509240"/>
          </a:xfrm>
          <a:prstGeom prst="rect">
            <a:avLst/>
          </a:prstGeom>
          <a:solidFill>
            <a:srgbClr val="2E86AB"/>
          </a:solidFill>
          <a:ln w="12700">
            <a:solidFill>
              <a:srgbClr val="2E86AB"/>
            </a:solidFill>
            <a:prstDash val="solid"/>
          </a:ln>
        </p:spPr>
        <p:txBody>
          <a:bodyPr/>
          <a:lstStyle/>
          <a:p>
            <a:endParaRPr lang="en-US"/>
          </a:p>
        </p:txBody>
      </p:sp>
      <p:sp>
        <p:nvSpPr>
          <p:cNvPr id="25" name="Text 23"/>
          <p:cNvSpPr/>
          <p:nvPr/>
        </p:nvSpPr>
        <p:spPr>
          <a:xfrm>
            <a:off x="365760" y="1188720"/>
            <a:ext cx="1097280" cy="15092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6" name="Text 24"/>
          <p:cNvSpPr/>
          <p:nvPr/>
        </p:nvSpPr>
        <p:spPr>
          <a:xfrm>
            <a:off x="1600200" y="1298448"/>
            <a:ext cx="9966960" cy="34747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Dashboard 1 - Injury Overview</a:t>
            </a:r>
            <a:endParaRPr lang="en-US" sz="1300" dirty="0"/>
          </a:p>
        </p:txBody>
      </p:sp>
      <p:sp>
        <p:nvSpPr>
          <p:cNvPr id="27" name="Text 25"/>
          <p:cNvSpPr/>
          <p:nvPr/>
        </p:nvSpPr>
        <p:spPr>
          <a:xfrm>
            <a:off x="1600200" y="1645920"/>
            <a:ext cx="7772400" cy="274320"/>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 Total Reports KPI card - 105,318 bold at top</a:t>
            </a:r>
            <a:endParaRPr lang="en-US" sz="1050" dirty="0"/>
          </a:p>
        </p:txBody>
      </p:sp>
      <p:sp>
        <p:nvSpPr>
          <p:cNvPr id="28" name="Text 26"/>
          <p:cNvSpPr/>
          <p:nvPr/>
        </p:nvSpPr>
        <p:spPr>
          <a:xfrm>
            <a:off x="1600200" y="1920240"/>
            <a:ext cx="7772400" cy="274320"/>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 Three pie charts - Hospitalized, Amputation, Loss of Eye Yes vs No</a:t>
            </a:r>
            <a:endParaRPr lang="en-US" sz="1050" dirty="0"/>
          </a:p>
        </p:txBody>
      </p:sp>
      <p:sp>
        <p:nvSpPr>
          <p:cNvPr id="29" name="Text 27"/>
          <p:cNvSpPr/>
          <p:nvPr/>
        </p:nvSpPr>
        <p:spPr>
          <a:xfrm>
            <a:off x="1600200" y="2194560"/>
            <a:ext cx="7772400" cy="274320"/>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 Top 20 Injuries by Nature Title + Top 20 by Body Part - horizontal bars</a:t>
            </a:r>
            <a:endParaRPr lang="en-US" sz="1050" dirty="0"/>
          </a:p>
        </p:txBody>
      </p:sp>
      <p:sp>
        <p:nvSpPr>
          <p:cNvPr id="30" name="Shape 28"/>
          <p:cNvSpPr/>
          <p:nvPr/>
        </p:nvSpPr>
        <p:spPr>
          <a:xfrm>
            <a:off x="9464040" y="1572768"/>
            <a:ext cx="2194560" cy="896112"/>
          </a:xfrm>
          <a:prstGeom prst="rect">
            <a:avLst/>
          </a:prstGeom>
          <a:solidFill>
            <a:srgbClr val="2E86AB"/>
          </a:solidFill>
          <a:ln w="12700">
            <a:solidFill>
              <a:srgbClr val="2E86AB"/>
            </a:solidFill>
            <a:prstDash val="solid"/>
          </a:ln>
        </p:spPr>
        <p:txBody>
          <a:bodyPr/>
          <a:lstStyle/>
          <a:p>
            <a:endParaRPr lang="en-US"/>
          </a:p>
        </p:txBody>
      </p:sp>
      <p:sp>
        <p:nvSpPr>
          <p:cNvPr id="31" name="Text 29"/>
          <p:cNvSpPr/>
          <p:nvPr/>
        </p:nvSpPr>
        <p:spPr>
          <a:xfrm>
            <a:off x="9464040" y="1572768"/>
            <a:ext cx="2194560" cy="89611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 Interactive</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Year Filter</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Enabled</a:t>
            </a:r>
            <a:endParaRPr lang="en-US" sz="1000" dirty="0"/>
          </a:p>
        </p:txBody>
      </p:sp>
      <p:sp>
        <p:nvSpPr>
          <p:cNvPr id="32" name="Text 30"/>
          <p:cNvSpPr/>
          <p:nvPr/>
        </p:nvSpPr>
        <p:spPr>
          <a:xfrm>
            <a:off x="365760" y="6126480"/>
            <a:ext cx="11430000" cy="274320"/>
          </a:xfrm>
          <a:prstGeom prst="rect">
            <a:avLst/>
          </a:prstGeom>
          <a:noFill/>
          <a:ln/>
        </p:spPr>
        <p:txBody>
          <a:bodyPr wrap="square" rtlCol="0" anchor="ctr"/>
          <a:lstStyle/>
          <a:p>
            <a:pPr marL="0" indent="0" algn="ctr">
              <a:buNone/>
            </a:pPr>
            <a:r>
              <a:rPr lang="en-US" sz="1000" dirty="0">
                <a:solidFill>
                  <a:srgbClr val="5A7A8E"/>
                </a:solidFill>
                <a:latin typeface="Calibri" pitchFamily="34" charset="0"/>
                <a:ea typeface="Calibri" pitchFamily="34" charset="-122"/>
                <a:cs typeface="Calibri" pitchFamily="34" charset="-120"/>
              </a:rPr>
              <a:t>Note: Live Tableau dashboards will be demonstrated during the presentation</a:t>
            </a:r>
            <a:endParaRPr lang="en-US" sz="1000" dirty="0"/>
          </a:p>
        </p:txBody>
      </p:sp>
      <p:sp>
        <p:nvSpPr>
          <p:cNvPr id="33" name="Text 31"/>
          <p:cNvSpPr/>
          <p:nvPr/>
        </p:nvSpPr>
        <p:spPr>
          <a:xfrm>
            <a:off x="0" y="6492240"/>
            <a:ext cx="12192000" cy="32004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OSHA Severe Injury Report Analysis  |  Mary Becker  |  Data Analytics Capstone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0D1B2A"/>
          </a:solidFill>
          <a:ln/>
        </p:spPr>
        <p:txBody>
          <a:bodyPr/>
          <a:lstStyle/>
          <a:p>
            <a:endParaRPr lang="en-US"/>
          </a:p>
        </p:txBody>
      </p:sp>
      <p:sp>
        <p:nvSpPr>
          <p:cNvPr id="3" name="Text 1"/>
          <p:cNvSpPr/>
          <p:nvPr/>
        </p:nvSpPr>
        <p:spPr>
          <a:xfrm>
            <a:off x="365760" y="73152"/>
            <a:ext cx="91440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Forecasting</a:t>
            </a:r>
            <a:endParaRPr lang="en-US" sz="2800" dirty="0"/>
          </a:p>
        </p:txBody>
      </p:sp>
      <p:sp>
        <p:nvSpPr>
          <p:cNvPr id="4" name="Text 2"/>
          <p:cNvSpPr/>
          <p:nvPr/>
        </p:nvSpPr>
        <p:spPr>
          <a:xfrm>
            <a:off x="365760" y="594360"/>
            <a:ext cx="9144000" cy="347472"/>
          </a:xfrm>
          <a:prstGeom prst="rect">
            <a:avLst/>
          </a:prstGeom>
          <a:noFill/>
          <a:ln/>
        </p:spPr>
        <p:txBody>
          <a:bodyPr wrap="square" rtlCol="0" anchor="t"/>
          <a:lstStyle/>
          <a:p>
            <a:pPr marL="0" indent="0">
              <a:buNone/>
            </a:pPr>
            <a:r>
              <a:rPr lang="en-US" sz="1300" dirty="0">
                <a:solidFill>
                  <a:srgbClr val="D6E8F5"/>
                </a:solidFill>
                <a:latin typeface="Calibri" pitchFamily="34" charset="0"/>
                <a:ea typeface="Calibri" pitchFamily="34" charset="-122"/>
                <a:cs typeface="Calibri" pitchFamily="34" charset="-120"/>
              </a:rPr>
              <a:t>Projected severe workplace injury trends through 2027</a:t>
            </a:r>
            <a:endParaRPr lang="en-US" sz="1300" dirty="0"/>
          </a:p>
        </p:txBody>
      </p:sp>
      <p:sp>
        <p:nvSpPr>
          <p:cNvPr id="5" name="Text 3"/>
          <p:cNvSpPr/>
          <p:nvPr/>
        </p:nvSpPr>
        <p:spPr>
          <a:xfrm>
            <a:off x="365760" y="1188720"/>
            <a:ext cx="11430000" cy="365760"/>
          </a:xfrm>
          <a:prstGeom prst="rect">
            <a:avLst/>
          </a:prstGeom>
          <a:noFill/>
          <a:ln/>
        </p:spPr>
        <p:txBody>
          <a:bodyPr wrap="square" rtlCol="0" anchor="ctr"/>
          <a:lstStyle/>
          <a:p>
            <a:pPr marL="0" indent="0">
              <a:buNone/>
            </a:pPr>
            <a:r>
              <a:rPr lang="en-US" sz="1600" b="1" dirty="0">
                <a:solidFill>
                  <a:srgbClr val="0D1B2A"/>
                </a:solidFill>
                <a:latin typeface="Calibri" pitchFamily="34" charset="0"/>
                <a:ea typeface="Calibri" pitchFamily="34" charset="-122"/>
                <a:cs typeface="Calibri" pitchFamily="34" charset="-120"/>
              </a:rPr>
              <a:t>Two Forecasting Methods</a:t>
            </a:r>
            <a:endParaRPr lang="en-US" sz="1600" dirty="0"/>
          </a:p>
        </p:txBody>
      </p:sp>
      <p:sp>
        <p:nvSpPr>
          <p:cNvPr id="6" name="Shape 4"/>
          <p:cNvSpPr/>
          <p:nvPr/>
        </p:nvSpPr>
        <p:spPr>
          <a:xfrm>
            <a:off x="365760" y="1691640"/>
            <a:ext cx="5486400" cy="4846320"/>
          </a:xfrm>
          <a:prstGeom prst="rect">
            <a:avLst/>
          </a:prstGeom>
          <a:solidFill>
            <a:srgbClr val="F7F9FB"/>
          </a:solidFill>
          <a:ln w="12700">
            <a:solidFill>
              <a:srgbClr val="D6E8F5"/>
            </a:solidFill>
            <a:prstDash val="solid"/>
          </a:ln>
        </p:spPr>
        <p:txBody>
          <a:bodyPr/>
          <a:lstStyle/>
          <a:p>
            <a:endParaRPr lang="en-US"/>
          </a:p>
        </p:txBody>
      </p:sp>
      <p:sp>
        <p:nvSpPr>
          <p:cNvPr id="7" name="Shape 5"/>
          <p:cNvSpPr/>
          <p:nvPr/>
        </p:nvSpPr>
        <p:spPr>
          <a:xfrm>
            <a:off x="365760" y="1691640"/>
            <a:ext cx="5486400" cy="502920"/>
          </a:xfrm>
          <a:prstGeom prst="rect">
            <a:avLst/>
          </a:prstGeom>
          <a:solidFill>
            <a:srgbClr val="2E86AB"/>
          </a:solidFill>
          <a:ln w="12700">
            <a:solidFill>
              <a:srgbClr val="2E86AB"/>
            </a:solidFill>
            <a:prstDash val="solid"/>
          </a:ln>
        </p:spPr>
        <p:txBody>
          <a:bodyPr/>
          <a:lstStyle/>
          <a:p>
            <a:endParaRPr lang="en-US"/>
          </a:p>
        </p:txBody>
      </p:sp>
      <p:sp>
        <p:nvSpPr>
          <p:cNvPr id="8" name="Text 6"/>
          <p:cNvSpPr/>
          <p:nvPr/>
        </p:nvSpPr>
        <p:spPr>
          <a:xfrm>
            <a:off x="502920" y="1691640"/>
            <a:ext cx="5212080"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Python </a:t>
            </a:r>
            <a:r>
              <a:rPr lang="en-US" sz="1300" b="1">
                <a:solidFill>
                  <a:srgbClr val="FFFFFF"/>
                </a:solidFill>
                <a:latin typeface="Calibri" pitchFamily="34" charset="0"/>
                <a:ea typeface="Calibri" pitchFamily="34" charset="-122"/>
                <a:cs typeface="Calibri" pitchFamily="34" charset="-120"/>
              </a:rPr>
              <a:t>-</a:t>
            </a:r>
            <a:r>
              <a:rPr lang="en-US" sz="1300" b="1" dirty="0">
                <a:solidFill>
                  <a:srgbClr val="FFFFFF"/>
                </a:solidFill>
                <a:latin typeface="Calibri" pitchFamily="34" charset="0"/>
                <a:ea typeface="Calibri" pitchFamily="34" charset="-122"/>
                <a:cs typeface="Calibri" pitchFamily="34" charset="-120"/>
              </a:rPr>
              <a:t> Linear Trend</a:t>
            </a:r>
            <a:endParaRPr lang="en-US" sz="1300" dirty="0"/>
          </a:p>
        </p:txBody>
      </p:sp>
      <p:sp>
        <p:nvSpPr>
          <p:cNvPr id="9" name="Text 7"/>
          <p:cNvSpPr/>
          <p:nvPr/>
        </p:nvSpPr>
        <p:spPr>
          <a:xfrm>
            <a:off x="548640" y="2286000"/>
            <a:ext cx="5120640" cy="274320"/>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Methodology:</a:t>
            </a:r>
            <a:endParaRPr lang="en-US" sz="1100" dirty="0"/>
          </a:p>
        </p:txBody>
      </p:sp>
      <p:sp>
        <p:nvSpPr>
          <p:cNvPr id="10" name="Text 8"/>
          <p:cNvSpPr/>
          <p:nvPr/>
        </p:nvSpPr>
        <p:spPr>
          <a:xfrm>
            <a:off x="548640" y="2578608"/>
            <a:ext cx="5120640" cy="777240"/>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Used numpy polyfit to calculate a linear regression line across monthly incident counts from 2015 to 2025, then projected the trend forward 6 months.</a:t>
            </a:r>
            <a:endParaRPr lang="en-US" sz="1050" dirty="0"/>
          </a:p>
        </p:txBody>
      </p:sp>
      <p:sp>
        <p:nvSpPr>
          <p:cNvPr id="11" name="Text 9"/>
          <p:cNvSpPr/>
          <p:nvPr/>
        </p:nvSpPr>
        <p:spPr>
          <a:xfrm>
            <a:off x="548640" y="3429000"/>
            <a:ext cx="5120640" cy="274320"/>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Projected Results:</a:t>
            </a:r>
            <a:endParaRPr lang="en-US" sz="1100" dirty="0"/>
          </a:p>
        </p:txBody>
      </p:sp>
      <p:sp>
        <p:nvSpPr>
          <p:cNvPr id="12" name="Text 10"/>
          <p:cNvSpPr/>
          <p:nvPr/>
        </p:nvSpPr>
        <p:spPr>
          <a:xfrm>
            <a:off x="548640" y="3730752"/>
            <a:ext cx="5120640" cy="301752"/>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 November 2025: ~740 incidents</a:t>
            </a:r>
            <a:endParaRPr lang="en-US" sz="1050" dirty="0"/>
          </a:p>
        </p:txBody>
      </p:sp>
      <p:sp>
        <p:nvSpPr>
          <p:cNvPr id="13" name="Text 11"/>
          <p:cNvSpPr/>
          <p:nvPr/>
        </p:nvSpPr>
        <p:spPr>
          <a:xfrm>
            <a:off x="548640" y="4050792"/>
            <a:ext cx="5120640" cy="301752"/>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 December 2025: ~739 incidents</a:t>
            </a:r>
            <a:endParaRPr lang="en-US" sz="1050" dirty="0"/>
          </a:p>
        </p:txBody>
      </p:sp>
      <p:sp>
        <p:nvSpPr>
          <p:cNvPr id="14" name="Text 12"/>
          <p:cNvSpPr/>
          <p:nvPr/>
        </p:nvSpPr>
        <p:spPr>
          <a:xfrm>
            <a:off x="548640" y="4370832"/>
            <a:ext cx="5120640" cy="301752"/>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 January 2026: ~738 incidents</a:t>
            </a:r>
            <a:endParaRPr lang="en-US" sz="1050" dirty="0"/>
          </a:p>
        </p:txBody>
      </p:sp>
      <p:sp>
        <p:nvSpPr>
          <p:cNvPr id="15" name="Text 13"/>
          <p:cNvSpPr/>
          <p:nvPr/>
        </p:nvSpPr>
        <p:spPr>
          <a:xfrm>
            <a:off x="548640" y="4690872"/>
            <a:ext cx="5120640" cy="301752"/>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 Trend: Gradual downward slope</a:t>
            </a:r>
            <a:endParaRPr lang="en-US" sz="1050" dirty="0"/>
          </a:p>
        </p:txBody>
      </p:sp>
      <p:sp>
        <p:nvSpPr>
          <p:cNvPr id="16" name="Shape 14"/>
          <p:cNvSpPr/>
          <p:nvPr/>
        </p:nvSpPr>
        <p:spPr>
          <a:xfrm>
            <a:off x="548640" y="5806440"/>
            <a:ext cx="5120640" cy="530352"/>
          </a:xfrm>
          <a:prstGeom prst="rect">
            <a:avLst/>
          </a:prstGeom>
          <a:solidFill>
            <a:srgbClr val="2E86AB"/>
          </a:solidFill>
          <a:ln w="12700">
            <a:solidFill>
              <a:srgbClr val="2E86AB"/>
            </a:solidFill>
            <a:prstDash val="solid"/>
          </a:ln>
        </p:spPr>
        <p:txBody>
          <a:bodyPr/>
          <a:lstStyle/>
          <a:p>
            <a:endParaRPr lang="en-US"/>
          </a:p>
        </p:txBody>
      </p:sp>
      <p:sp>
        <p:nvSpPr>
          <p:cNvPr id="17" name="Text 15"/>
          <p:cNvSpPr/>
          <p:nvPr/>
        </p:nvSpPr>
        <p:spPr>
          <a:xfrm>
            <a:off x="640080" y="5806440"/>
            <a:ext cx="4937760" cy="53035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Simple, transparent, uses only pandas and numpy as covered in class</a:t>
            </a:r>
            <a:endParaRPr lang="en-US" sz="1000" dirty="0"/>
          </a:p>
        </p:txBody>
      </p:sp>
      <p:sp>
        <p:nvSpPr>
          <p:cNvPr id="18" name="Shape 16"/>
          <p:cNvSpPr/>
          <p:nvPr/>
        </p:nvSpPr>
        <p:spPr>
          <a:xfrm>
            <a:off x="6217920" y="1691640"/>
            <a:ext cx="5486400" cy="4846320"/>
          </a:xfrm>
          <a:prstGeom prst="rect">
            <a:avLst/>
          </a:prstGeom>
          <a:solidFill>
            <a:srgbClr val="F7F9FB"/>
          </a:solidFill>
          <a:ln w="12700">
            <a:solidFill>
              <a:srgbClr val="D6E8F5"/>
            </a:solidFill>
            <a:prstDash val="solid"/>
          </a:ln>
        </p:spPr>
        <p:txBody>
          <a:bodyPr/>
          <a:lstStyle/>
          <a:p>
            <a:endParaRPr lang="en-US"/>
          </a:p>
        </p:txBody>
      </p:sp>
      <p:sp>
        <p:nvSpPr>
          <p:cNvPr id="19" name="Shape 17"/>
          <p:cNvSpPr/>
          <p:nvPr/>
        </p:nvSpPr>
        <p:spPr>
          <a:xfrm>
            <a:off x="6217920" y="1691640"/>
            <a:ext cx="5486400" cy="502920"/>
          </a:xfrm>
          <a:prstGeom prst="rect">
            <a:avLst/>
          </a:prstGeom>
          <a:solidFill>
            <a:srgbClr val="E09F3E"/>
          </a:solidFill>
          <a:ln w="12700">
            <a:solidFill>
              <a:srgbClr val="E09F3E"/>
            </a:solidFill>
            <a:prstDash val="solid"/>
          </a:ln>
        </p:spPr>
        <p:txBody>
          <a:bodyPr/>
          <a:lstStyle/>
          <a:p>
            <a:endParaRPr lang="en-US"/>
          </a:p>
        </p:txBody>
      </p:sp>
      <p:sp>
        <p:nvSpPr>
          <p:cNvPr id="20" name="Text 18"/>
          <p:cNvSpPr/>
          <p:nvPr/>
        </p:nvSpPr>
        <p:spPr>
          <a:xfrm>
            <a:off x="6355080" y="1691640"/>
            <a:ext cx="5212080"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Tableau </a:t>
            </a:r>
            <a:r>
              <a:rPr lang="en-US" sz="1300" b="1">
                <a:solidFill>
                  <a:srgbClr val="FFFFFF"/>
                </a:solidFill>
                <a:latin typeface="Calibri" pitchFamily="34" charset="0"/>
                <a:ea typeface="Calibri" pitchFamily="34" charset="-122"/>
                <a:cs typeface="Calibri" pitchFamily="34" charset="-120"/>
              </a:rPr>
              <a:t>-</a:t>
            </a:r>
            <a:r>
              <a:rPr lang="en-US" sz="1300" b="1" dirty="0">
                <a:solidFill>
                  <a:srgbClr val="FFFFFF"/>
                </a:solidFill>
                <a:latin typeface="Calibri" pitchFamily="34" charset="0"/>
                <a:ea typeface="Calibri" pitchFamily="34" charset="-122"/>
                <a:cs typeface="Calibri" pitchFamily="34" charset="-120"/>
              </a:rPr>
              <a:t> Exponential Smoothing</a:t>
            </a:r>
            <a:endParaRPr lang="en-US" sz="1300" dirty="0"/>
          </a:p>
        </p:txBody>
      </p:sp>
      <p:sp>
        <p:nvSpPr>
          <p:cNvPr id="21" name="Text 19"/>
          <p:cNvSpPr/>
          <p:nvPr/>
        </p:nvSpPr>
        <p:spPr>
          <a:xfrm>
            <a:off x="6400800" y="2286000"/>
            <a:ext cx="5120640" cy="274320"/>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Methodology:</a:t>
            </a:r>
            <a:endParaRPr lang="en-US" sz="1100" dirty="0"/>
          </a:p>
        </p:txBody>
      </p:sp>
      <p:sp>
        <p:nvSpPr>
          <p:cNvPr id="22" name="Text 20"/>
          <p:cNvSpPr/>
          <p:nvPr/>
        </p:nvSpPr>
        <p:spPr>
          <a:xfrm>
            <a:off x="6400800" y="2578608"/>
            <a:ext cx="5120640" cy="777240"/>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Used Tableau's built-in forecasting engine which applies exponential smoothing and accounts for seasonality and trend patterns automatically.</a:t>
            </a:r>
            <a:endParaRPr lang="en-US" sz="1050" dirty="0"/>
          </a:p>
        </p:txBody>
      </p:sp>
      <p:sp>
        <p:nvSpPr>
          <p:cNvPr id="23" name="Text 21"/>
          <p:cNvSpPr/>
          <p:nvPr/>
        </p:nvSpPr>
        <p:spPr>
          <a:xfrm>
            <a:off x="6400800" y="3429000"/>
            <a:ext cx="5120640" cy="274320"/>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Projected Results:</a:t>
            </a:r>
            <a:endParaRPr lang="en-US" sz="1100" dirty="0"/>
          </a:p>
        </p:txBody>
      </p:sp>
      <p:sp>
        <p:nvSpPr>
          <p:cNvPr id="24" name="Text 22"/>
          <p:cNvSpPr/>
          <p:nvPr/>
        </p:nvSpPr>
        <p:spPr>
          <a:xfrm>
            <a:off x="6400800" y="3730752"/>
            <a:ext cx="5120640" cy="301752"/>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 Forecast extends through April 2027</a:t>
            </a:r>
            <a:endParaRPr lang="en-US" sz="1050" dirty="0"/>
          </a:p>
        </p:txBody>
      </p:sp>
      <p:sp>
        <p:nvSpPr>
          <p:cNvPr id="25" name="Text 23"/>
          <p:cNvSpPr/>
          <p:nvPr/>
        </p:nvSpPr>
        <p:spPr>
          <a:xfrm>
            <a:off x="6400800" y="4050792"/>
            <a:ext cx="5120640" cy="301752"/>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 Monthly range: 700–800 incidents</a:t>
            </a:r>
            <a:endParaRPr lang="en-US" sz="1050" dirty="0"/>
          </a:p>
        </p:txBody>
      </p:sp>
      <p:sp>
        <p:nvSpPr>
          <p:cNvPr id="26" name="Text 24"/>
          <p:cNvSpPr/>
          <p:nvPr/>
        </p:nvSpPr>
        <p:spPr>
          <a:xfrm>
            <a:off x="6400800" y="4370832"/>
            <a:ext cx="5120640" cy="301752"/>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 Confidence interval widens over time</a:t>
            </a:r>
            <a:endParaRPr lang="en-US" sz="1050" dirty="0"/>
          </a:p>
        </p:txBody>
      </p:sp>
      <p:sp>
        <p:nvSpPr>
          <p:cNvPr id="27" name="Text 25"/>
          <p:cNvSpPr/>
          <p:nvPr/>
        </p:nvSpPr>
        <p:spPr>
          <a:xfrm>
            <a:off x="6400800" y="4690872"/>
            <a:ext cx="5120640" cy="301752"/>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 No return to pre-COVID levels projected</a:t>
            </a:r>
            <a:endParaRPr lang="en-US" sz="1050" dirty="0"/>
          </a:p>
        </p:txBody>
      </p:sp>
      <p:sp>
        <p:nvSpPr>
          <p:cNvPr id="28" name="Shape 26"/>
          <p:cNvSpPr/>
          <p:nvPr/>
        </p:nvSpPr>
        <p:spPr>
          <a:xfrm>
            <a:off x="6400800" y="5806440"/>
            <a:ext cx="5120640" cy="530352"/>
          </a:xfrm>
          <a:prstGeom prst="rect">
            <a:avLst/>
          </a:prstGeom>
          <a:solidFill>
            <a:srgbClr val="E09F3E"/>
          </a:solidFill>
          <a:ln w="12700">
            <a:solidFill>
              <a:srgbClr val="E09F3E"/>
            </a:solidFill>
            <a:prstDash val="solid"/>
          </a:ln>
        </p:spPr>
        <p:txBody>
          <a:bodyPr/>
          <a:lstStyle/>
          <a:p>
            <a:endParaRPr lang="en-US"/>
          </a:p>
        </p:txBody>
      </p:sp>
      <p:sp>
        <p:nvSpPr>
          <p:cNvPr id="29" name="Text 27"/>
          <p:cNvSpPr/>
          <p:nvPr/>
        </p:nvSpPr>
        <p:spPr>
          <a:xfrm>
            <a:off x="6492240" y="5806440"/>
            <a:ext cx="4937760" cy="53035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More sophisticated model with confidence intervals shown visually</a:t>
            </a:r>
            <a:endParaRPr lang="en-US" sz="1000" dirty="0"/>
          </a:p>
        </p:txBody>
      </p:sp>
      <p:sp>
        <p:nvSpPr>
          <p:cNvPr id="30" name="Text 28"/>
          <p:cNvSpPr/>
          <p:nvPr/>
        </p:nvSpPr>
        <p:spPr>
          <a:xfrm>
            <a:off x="0" y="6492240"/>
            <a:ext cx="12192000" cy="32004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OSHA Severe Injury Report Analysis  |  Mary Becker  |  Data Analytics Capstone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0D1B2A"/>
          </a:solidFill>
          <a:ln/>
        </p:spPr>
        <p:txBody>
          <a:bodyPr/>
          <a:lstStyle/>
          <a:p>
            <a:endParaRPr lang="en-US"/>
          </a:p>
        </p:txBody>
      </p:sp>
      <p:sp>
        <p:nvSpPr>
          <p:cNvPr id="3" name="Text 1"/>
          <p:cNvSpPr/>
          <p:nvPr/>
        </p:nvSpPr>
        <p:spPr>
          <a:xfrm>
            <a:off x="365760" y="73152"/>
            <a:ext cx="91440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Recommendations</a:t>
            </a:r>
            <a:endParaRPr lang="en-US" sz="2800" dirty="0"/>
          </a:p>
        </p:txBody>
      </p:sp>
      <p:sp>
        <p:nvSpPr>
          <p:cNvPr id="4" name="Text 2"/>
          <p:cNvSpPr/>
          <p:nvPr/>
        </p:nvSpPr>
        <p:spPr>
          <a:xfrm>
            <a:off x="365760" y="594360"/>
            <a:ext cx="9144000" cy="347472"/>
          </a:xfrm>
          <a:prstGeom prst="rect">
            <a:avLst/>
          </a:prstGeom>
          <a:noFill/>
          <a:ln/>
        </p:spPr>
        <p:txBody>
          <a:bodyPr wrap="square" rtlCol="0" anchor="t"/>
          <a:lstStyle/>
          <a:p>
            <a:pPr marL="0" indent="0">
              <a:buNone/>
            </a:pPr>
            <a:r>
              <a:rPr lang="en-US" sz="1300" dirty="0">
                <a:solidFill>
                  <a:srgbClr val="D6E8F5"/>
                </a:solidFill>
                <a:latin typeface="Calibri" pitchFamily="34" charset="0"/>
                <a:ea typeface="Calibri" pitchFamily="34" charset="-122"/>
                <a:cs typeface="Calibri" pitchFamily="34" charset="-120"/>
              </a:rPr>
              <a:t>Actionable insights for safety professionals and HR leaders</a:t>
            </a:r>
            <a:endParaRPr lang="en-US" sz="1300" dirty="0"/>
          </a:p>
        </p:txBody>
      </p:sp>
      <p:sp>
        <p:nvSpPr>
          <p:cNvPr id="5" name="Shape 3"/>
          <p:cNvSpPr/>
          <p:nvPr/>
        </p:nvSpPr>
        <p:spPr>
          <a:xfrm>
            <a:off x="365760" y="1188720"/>
            <a:ext cx="5486400" cy="1600200"/>
          </a:xfrm>
          <a:prstGeom prst="rect">
            <a:avLst/>
          </a:prstGeom>
          <a:solidFill>
            <a:srgbClr val="F7F9FB"/>
          </a:solidFill>
          <a:ln w="12700">
            <a:solidFill>
              <a:srgbClr val="D6E8F5"/>
            </a:solidFill>
            <a:prstDash val="solid"/>
          </a:ln>
        </p:spPr>
        <p:txBody>
          <a:bodyPr/>
          <a:lstStyle/>
          <a:p>
            <a:endParaRPr lang="en-US"/>
          </a:p>
        </p:txBody>
      </p:sp>
      <p:sp>
        <p:nvSpPr>
          <p:cNvPr id="6" name="Shape 4"/>
          <p:cNvSpPr/>
          <p:nvPr/>
        </p:nvSpPr>
        <p:spPr>
          <a:xfrm>
            <a:off x="365760" y="1188720"/>
            <a:ext cx="640080" cy="1600200"/>
          </a:xfrm>
          <a:prstGeom prst="rect">
            <a:avLst/>
          </a:prstGeom>
          <a:solidFill>
            <a:srgbClr val="B03A2E"/>
          </a:solidFill>
          <a:ln w="12700">
            <a:solidFill>
              <a:srgbClr val="B03A2E"/>
            </a:solidFill>
            <a:prstDash val="solid"/>
          </a:ln>
        </p:spPr>
        <p:txBody>
          <a:bodyPr/>
          <a:lstStyle/>
          <a:p>
            <a:endParaRPr lang="en-US"/>
          </a:p>
        </p:txBody>
      </p:sp>
      <p:sp>
        <p:nvSpPr>
          <p:cNvPr id="7" name="Text 5"/>
          <p:cNvSpPr/>
          <p:nvPr/>
        </p:nvSpPr>
        <p:spPr>
          <a:xfrm>
            <a:off x="365760" y="1188720"/>
            <a:ext cx="640080" cy="1600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8" name="Text 6"/>
          <p:cNvSpPr/>
          <p:nvPr/>
        </p:nvSpPr>
        <p:spPr>
          <a:xfrm>
            <a:off x="1097280" y="1280160"/>
            <a:ext cx="4663440" cy="384048"/>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Root Cause Analysis in High-Risk Industries</a:t>
            </a:r>
            <a:endParaRPr lang="en-US" sz="1200" dirty="0"/>
          </a:p>
        </p:txBody>
      </p:sp>
      <p:sp>
        <p:nvSpPr>
          <p:cNvPr id="9" name="Text 7"/>
          <p:cNvSpPr/>
          <p:nvPr/>
        </p:nvSpPr>
        <p:spPr>
          <a:xfrm>
            <a:off x="1097280" y="1664208"/>
            <a:ext cx="4663440" cy="804672"/>
          </a:xfrm>
          <a:prstGeom prst="rect">
            <a:avLst/>
          </a:prstGeom>
          <a:noFill/>
          <a:ln/>
        </p:spPr>
        <p:txBody>
          <a:bodyPr wrap="square" rtlCol="0" anchor="ctr"/>
          <a:lstStyle/>
          <a:p>
            <a:pPr marL="0" indent="0">
              <a:buNone/>
            </a:pPr>
            <a:r>
              <a:rPr lang="en-US" sz="1000" dirty="0">
                <a:solidFill>
                  <a:srgbClr val="1A2E3B"/>
                </a:solidFill>
                <a:latin typeface="Calibri" pitchFamily="34" charset="0"/>
                <a:ea typeface="Calibri" pitchFamily="34" charset="-122"/>
                <a:cs typeface="Calibri" pitchFamily="34" charset="-120"/>
              </a:rPr>
              <a:t>Construction, General Medical &amp; Surgical, Electrical Contractors, and Manufacturing should conduct targeted root cause analyses to identify specific conditions driving elevated injury rates.</a:t>
            </a:r>
            <a:endParaRPr lang="en-US" sz="1000" dirty="0"/>
          </a:p>
        </p:txBody>
      </p:sp>
      <p:sp>
        <p:nvSpPr>
          <p:cNvPr id="10" name="Shape 8"/>
          <p:cNvSpPr/>
          <p:nvPr/>
        </p:nvSpPr>
        <p:spPr>
          <a:xfrm>
            <a:off x="1097280" y="2487168"/>
            <a:ext cx="1645920" cy="228600"/>
          </a:xfrm>
          <a:prstGeom prst="roundRect">
            <a:avLst>
              <a:gd name="adj" fmla="val 20000"/>
            </a:avLst>
          </a:prstGeom>
          <a:solidFill>
            <a:srgbClr val="B03A2E"/>
          </a:solidFill>
          <a:ln w="12700">
            <a:solidFill>
              <a:srgbClr val="B03A2E"/>
            </a:solidFill>
            <a:prstDash val="solid"/>
          </a:ln>
        </p:spPr>
        <p:txBody>
          <a:bodyPr/>
          <a:lstStyle/>
          <a:p>
            <a:endParaRPr lang="en-US"/>
          </a:p>
        </p:txBody>
      </p:sp>
      <p:sp>
        <p:nvSpPr>
          <p:cNvPr id="11" name="Text 9"/>
          <p:cNvSpPr/>
          <p:nvPr/>
        </p:nvSpPr>
        <p:spPr>
          <a:xfrm>
            <a:off x="1097280" y="2487168"/>
            <a:ext cx="1645920" cy="2286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Safety Professionals</a:t>
            </a:r>
            <a:endParaRPr lang="en-US" sz="900" dirty="0"/>
          </a:p>
        </p:txBody>
      </p:sp>
      <p:sp>
        <p:nvSpPr>
          <p:cNvPr id="12" name="Shape 10"/>
          <p:cNvSpPr/>
          <p:nvPr/>
        </p:nvSpPr>
        <p:spPr>
          <a:xfrm>
            <a:off x="365760" y="2999232"/>
            <a:ext cx="5486400" cy="1600200"/>
          </a:xfrm>
          <a:prstGeom prst="rect">
            <a:avLst/>
          </a:prstGeom>
          <a:solidFill>
            <a:srgbClr val="F7F9FB"/>
          </a:solidFill>
          <a:ln w="12700">
            <a:solidFill>
              <a:srgbClr val="D6E8F5"/>
            </a:solidFill>
            <a:prstDash val="solid"/>
          </a:ln>
        </p:spPr>
        <p:txBody>
          <a:bodyPr/>
          <a:lstStyle/>
          <a:p>
            <a:endParaRPr lang="en-US"/>
          </a:p>
        </p:txBody>
      </p:sp>
      <p:sp>
        <p:nvSpPr>
          <p:cNvPr id="13" name="Shape 11"/>
          <p:cNvSpPr/>
          <p:nvPr/>
        </p:nvSpPr>
        <p:spPr>
          <a:xfrm>
            <a:off x="365760" y="2999232"/>
            <a:ext cx="640080" cy="1600200"/>
          </a:xfrm>
          <a:prstGeom prst="rect">
            <a:avLst/>
          </a:prstGeom>
          <a:solidFill>
            <a:srgbClr val="E09F3E"/>
          </a:solidFill>
          <a:ln w="12700">
            <a:solidFill>
              <a:srgbClr val="E09F3E"/>
            </a:solidFill>
            <a:prstDash val="solid"/>
          </a:ln>
        </p:spPr>
        <p:txBody>
          <a:bodyPr/>
          <a:lstStyle/>
          <a:p>
            <a:endParaRPr lang="en-US"/>
          </a:p>
        </p:txBody>
      </p:sp>
      <p:sp>
        <p:nvSpPr>
          <p:cNvPr id="14" name="Text 12"/>
          <p:cNvSpPr/>
          <p:nvPr/>
        </p:nvSpPr>
        <p:spPr>
          <a:xfrm>
            <a:off x="365760" y="2999232"/>
            <a:ext cx="640080" cy="1600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5" name="Text 13"/>
          <p:cNvSpPr/>
          <p:nvPr/>
        </p:nvSpPr>
        <p:spPr>
          <a:xfrm>
            <a:off x="1097280" y="3090672"/>
            <a:ext cx="4663440" cy="384048"/>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Targeted Safety Training Programs</a:t>
            </a:r>
            <a:endParaRPr lang="en-US" sz="1200" dirty="0"/>
          </a:p>
        </p:txBody>
      </p:sp>
      <p:sp>
        <p:nvSpPr>
          <p:cNvPr id="16" name="Text 14"/>
          <p:cNvSpPr/>
          <p:nvPr/>
        </p:nvSpPr>
        <p:spPr>
          <a:xfrm>
            <a:off x="1097280" y="3474720"/>
            <a:ext cx="4663440" cy="804672"/>
          </a:xfrm>
          <a:prstGeom prst="rect">
            <a:avLst/>
          </a:prstGeom>
          <a:noFill/>
          <a:ln/>
        </p:spPr>
        <p:txBody>
          <a:bodyPr wrap="square" rtlCol="0" anchor="ctr"/>
          <a:lstStyle/>
          <a:p>
            <a:pPr marL="0" indent="0">
              <a:buNone/>
            </a:pPr>
            <a:r>
              <a:rPr lang="en-US" sz="1000" dirty="0">
                <a:solidFill>
                  <a:srgbClr val="1A2E3B"/>
                </a:solidFill>
                <a:latin typeface="Calibri" pitchFamily="34" charset="0"/>
                <a:ea typeface="Calibri" pitchFamily="34" charset="-122"/>
                <a:cs typeface="Calibri" pitchFamily="34" charset="-120"/>
              </a:rPr>
              <a:t>Organizations in top 20 industries should develop training specific to their most common injury types </a:t>
            </a:r>
            <a:r>
              <a:rPr lang="en-US" sz="1000">
                <a:solidFill>
                  <a:srgbClr val="1A2E3B"/>
                </a:solidFill>
                <a:latin typeface="Calibri" pitchFamily="34" charset="0"/>
                <a:ea typeface="Calibri" pitchFamily="34" charset="-122"/>
                <a:cs typeface="Calibri" pitchFamily="34" charset="-120"/>
              </a:rPr>
              <a:t>-</a:t>
            </a:r>
            <a:r>
              <a:rPr lang="en-US" sz="1000" dirty="0">
                <a:solidFill>
                  <a:srgbClr val="1A2E3B"/>
                </a:solidFill>
                <a:latin typeface="Calibri" pitchFamily="34" charset="0"/>
                <a:ea typeface="Calibri" pitchFamily="34" charset="-122"/>
                <a:cs typeface="Calibri" pitchFamily="34" charset="-120"/>
              </a:rPr>
              <a:t> fracture &amp; fall protection for construction, machine guarding &amp; amputation prevention for manufacturing.</a:t>
            </a:r>
            <a:endParaRPr lang="en-US" sz="1000" dirty="0"/>
          </a:p>
        </p:txBody>
      </p:sp>
      <p:sp>
        <p:nvSpPr>
          <p:cNvPr id="17" name="Shape 15"/>
          <p:cNvSpPr/>
          <p:nvPr/>
        </p:nvSpPr>
        <p:spPr>
          <a:xfrm>
            <a:off x="1097280" y="4297680"/>
            <a:ext cx="1645920" cy="228600"/>
          </a:xfrm>
          <a:prstGeom prst="roundRect">
            <a:avLst>
              <a:gd name="adj" fmla="val 20000"/>
            </a:avLst>
          </a:prstGeom>
          <a:solidFill>
            <a:srgbClr val="E09F3E"/>
          </a:solidFill>
          <a:ln w="12700">
            <a:solidFill>
              <a:srgbClr val="E09F3E"/>
            </a:solidFill>
            <a:prstDash val="solid"/>
          </a:ln>
        </p:spPr>
        <p:txBody>
          <a:bodyPr/>
          <a:lstStyle/>
          <a:p>
            <a:endParaRPr lang="en-US"/>
          </a:p>
        </p:txBody>
      </p:sp>
      <p:sp>
        <p:nvSpPr>
          <p:cNvPr id="18" name="Text 16"/>
          <p:cNvSpPr/>
          <p:nvPr/>
        </p:nvSpPr>
        <p:spPr>
          <a:xfrm>
            <a:off x="1097280" y="4297680"/>
            <a:ext cx="1645920" cy="2286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HR Leaders + Safety</a:t>
            </a:r>
            <a:endParaRPr lang="en-US" sz="900" dirty="0"/>
          </a:p>
        </p:txBody>
      </p:sp>
      <p:sp>
        <p:nvSpPr>
          <p:cNvPr id="19" name="Shape 17"/>
          <p:cNvSpPr/>
          <p:nvPr/>
        </p:nvSpPr>
        <p:spPr>
          <a:xfrm>
            <a:off x="365760" y="4809744"/>
            <a:ext cx="5486400" cy="1600200"/>
          </a:xfrm>
          <a:prstGeom prst="rect">
            <a:avLst/>
          </a:prstGeom>
          <a:solidFill>
            <a:srgbClr val="F7F9FB"/>
          </a:solidFill>
          <a:ln w="12700">
            <a:solidFill>
              <a:srgbClr val="D6E8F5"/>
            </a:solidFill>
            <a:prstDash val="solid"/>
          </a:ln>
        </p:spPr>
        <p:txBody>
          <a:bodyPr/>
          <a:lstStyle/>
          <a:p>
            <a:endParaRPr lang="en-US"/>
          </a:p>
        </p:txBody>
      </p:sp>
      <p:sp>
        <p:nvSpPr>
          <p:cNvPr id="20" name="Shape 18"/>
          <p:cNvSpPr/>
          <p:nvPr/>
        </p:nvSpPr>
        <p:spPr>
          <a:xfrm>
            <a:off x="365760" y="4809744"/>
            <a:ext cx="640080" cy="1600200"/>
          </a:xfrm>
          <a:prstGeom prst="rect">
            <a:avLst/>
          </a:prstGeom>
          <a:solidFill>
            <a:srgbClr val="2E86AB"/>
          </a:solidFill>
          <a:ln w="12700">
            <a:solidFill>
              <a:srgbClr val="2E86AB"/>
            </a:solidFill>
            <a:prstDash val="solid"/>
          </a:ln>
        </p:spPr>
        <p:txBody>
          <a:bodyPr/>
          <a:lstStyle/>
          <a:p>
            <a:endParaRPr lang="en-US"/>
          </a:p>
        </p:txBody>
      </p:sp>
      <p:sp>
        <p:nvSpPr>
          <p:cNvPr id="21" name="Text 19"/>
          <p:cNvSpPr/>
          <p:nvPr/>
        </p:nvSpPr>
        <p:spPr>
          <a:xfrm>
            <a:off x="365760" y="4809744"/>
            <a:ext cx="640080" cy="1600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22" name="Text 20"/>
          <p:cNvSpPr/>
          <p:nvPr/>
        </p:nvSpPr>
        <p:spPr>
          <a:xfrm>
            <a:off x="1097280" y="4901184"/>
            <a:ext cx="4663440" cy="384048"/>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Mid-Week Safety Focus</a:t>
            </a:r>
            <a:endParaRPr lang="en-US" sz="1200" dirty="0"/>
          </a:p>
        </p:txBody>
      </p:sp>
      <p:sp>
        <p:nvSpPr>
          <p:cNvPr id="23" name="Text 21"/>
          <p:cNvSpPr/>
          <p:nvPr/>
        </p:nvSpPr>
        <p:spPr>
          <a:xfrm>
            <a:off x="1097280" y="5285232"/>
            <a:ext cx="4663440" cy="804672"/>
          </a:xfrm>
          <a:prstGeom prst="rect">
            <a:avLst/>
          </a:prstGeom>
          <a:noFill/>
          <a:ln/>
        </p:spPr>
        <p:txBody>
          <a:bodyPr wrap="square" rtlCol="0" anchor="ctr"/>
          <a:lstStyle/>
          <a:p>
            <a:pPr marL="0" indent="0">
              <a:buNone/>
            </a:pPr>
            <a:r>
              <a:rPr lang="en-US" sz="1000" dirty="0">
                <a:solidFill>
                  <a:srgbClr val="1A2E3B"/>
                </a:solidFill>
                <a:latin typeface="Calibri" pitchFamily="34" charset="0"/>
                <a:ea typeface="Calibri" pitchFamily="34" charset="-122"/>
                <a:cs typeface="Calibri" pitchFamily="34" charset="-120"/>
              </a:rPr>
              <a:t>Tuesday, Wednesday, and Thursday consistently show the highest injury counts. Schedule additional safety checks, toolbox talks, and supervisor observations during these peak activity days.</a:t>
            </a:r>
            <a:endParaRPr lang="en-US" sz="1000" dirty="0"/>
          </a:p>
        </p:txBody>
      </p:sp>
      <p:sp>
        <p:nvSpPr>
          <p:cNvPr id="24" name="Shape 22"/>
          <p:cNvSpPr/>
          <p:nvPr/>
        </p:nvSpPr>
        <p:spPr>
          <a:xfrm>
            <a:off x="1097280" y="6108192"/>
            <a:ext cx="1645920" cy="228600"/>
          </a:xfrm>
          <a:prstGeom prst="roundRect">
            <a:avLst>
              <a:gd name="adj" fmla="val 20000"/>
            </a:avLst>
          </a:prstGeom>
          <a:solidFill>
            <a:srgbClr val="2E86AB"/>
          </a:solidFill>
          <a:ln w="12700">
            <a:solidFill>
              <a:srgbClr val="2E86AB"/>
            </a:solidFill>
            <a:prstDash val="solid"/>
          </a:ln>
        </p:spPr>
        <p:txBody>
          <a:bodyPr/>
          <a:lstStyle/>
          <a:p>
            <a:endParaRPr lang="en-US"/>
          </a:p>
        </p:txBody>
      </p:sp>
      <p:sp>
        <p:nvSpPr>
          <p:cNvPr id="25" name="Text 23"/>
          <p:cNvSpPr/>
          <p:nvPr/>
        </p:nvSpPr>
        <p:spPr>
          <a:xfrm>
            <a:off x="1097280" y="6108192"/>
            <a:ext cx="1645920" cy="2286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Safety Professionals</a:t>
            </a:r>
            <a:endParaRPr lang="en-US" sz="900" dirty="0"/>
          </a:p>
        </p:txBody>
      </p:sp>
      <p:sp>
        <p:nvSpPr>
          <p:cNvPr id="26" name="Shape 24"/>
          <p:cNvSpPr/>
          <p:nvPr/>
        </p:nvSpPr>
        <p:spPr>
          <a:xfrm>
            <a:off x="6263640" y="1188720"/>
            <a:ext cx="5486400" cy="1600200"/>
          </a:xfrm>
          <a:prstGeom prst="rect">
            <a:avLst/>
          </a:prstGeom>
          <a:solidFill>
            <a:srgbClr val="F7F9FB"/>
          </a:solidFill>
          <a:ln w="12700">
            <a:solidFill>
              <a:srgbClr val="D6E8F5"/>
            </a:solidFill>
            <a:prstDash val="solid"/>
          </a:ln>
        </p:spPr>
        <p:txBody>
          <a:bodyPr/>
          <a:lstStyle/>
          <a:p>
            <a:endParaRPr lang="en-US"/>
          </a:p>
        </p:txBody>
      </p:sp>
      <p:sp>
        <p:nvSpPr>
          <p:cNvPr id="27" name="Shape 25"/>
          <p:cNvSpPr/>
          <p:nvPr/>
        </p:nvSpPr>
        <p:spPr>
          <a:xfrm>
            <a:off x="6263640" y="1188720"/>
            <a:ext cx="640080" cy="1600200"/>
          </a:xfrm>
          <a:prstGeom prst="rect">
            <a:avLst/>
          </a:prstGeom>
          <a:solidFill>
            <a:srgbClr val="1B4F72"/>
          </a:solidFill>
          <a:ln w="12700">
            <a:solidFill>
              <a:srgbClr val="1B4F72"/>
            </a:solidFill>
            <a:prstDash val="solid"/>
          </a:ln>
        </p:spPr>
        <p:txBody>
          <a:bodyPr/>
          <a:lstStyle/>
          <a:p>
            <a:endParaRPr lang="en-US"/>
          </a:p>
        </p:txBody>
      </p:sp>
      <p:sp>
        <p:nvSpPr>
          <p:cNvPr id="28" name="Text 26"/>
          <p:cNvSpPr/>
          <p:nvPr/>
        </p:nvSpPr>
        <p:spPr>
          <a:xfrm>
            <a:off x="6263640" y="1188720"/>
            <a:ext cx="640080" cy="1600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9" name="Text 27"/>
          <p:cNvSpPr/>
          <p:nvPr/>
        </p:nvSpPr>
        <p:spPr>
          <a:xfrm>
            <a:off x="6995160" y="1280160"/>
            <a:ext cx="4663440" cy="384048"/>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Sustain Post-COVID Safety Gains</a:t>
            </a:r>
            <a:endParaRPr lang="en-US" sz="1200" dirty="0"/>
          </a:p>
        </p:txBody>
      </p:sp>
      <p:sp>
        <p:nvSpPr>
          <p:cNvPr id="30" name="Text 28"/>
          <p:cNvSpPr/>
          <p:nvPr/>
        </p:nvSpPr>
        <p:spPr>
          <a:xfrm>
            <a:off x="6995160" y="1664208"/>
            <a:ext cx="4663440" cy="804672"/>
          </a:xfrm>
          <a:prstGeom prst="rect">
            <a:avLst/>
          </a:prstGeom>
          <a:noFill/>
          <a:ln/>
        </p:spPr>
        <p:txBody>
          <a:bodyPr wrap="square" rtlCol="0" anchor="ctr"/>
          <a:lstStyle/>
          <a:p>
            <a:pPr marL="0" indent="0">
              <a:buNone/>
            </a:pPr>
            <a:r>
              <a:rPr lang="en-US" sz="1000" dirty="0">
                <a:solidFill>
                  <a:srgbClr val="1A2E3B"/>
                </a:solidFill>
                <a:latin typeface="Calibri" pitchFamily="34" charset="0"/>
                <a:ea typeface="Calibri" pitchFamily="34" charset="-122"/>
                <a:cs typeface="Calibri" pitchFamily="34" charset="-120"/>
              </a:rPr>
              <a:t>Injuries have not returned to pre-pandemic levels </a:t>
            </a:r>
            <a:r>
              <a:rPr lang="en-US" sz="1000">
                <a:solidFill>
                  <a:srgbClr val="1A2E3B"/>
                </a:solidFill>
                <a:latin typeface="Calibri" pitchFamily="34" charset="0"/>
                <a:ea typeface="Calibri" pitchFamily="34" charset="-122"/>
                <a:cs typeface="Calibri" pitchFamily="34" charset="-120"/>
              </a:rPr>
              <a:t>-</a:t>
            </a:r>
            <a:r>
              <a:rPr lang="en-US" sz="1000" dirty="0">
                <a:solidFill>
                  <a:srgbClr val="1A2E3B"/>
                </a:solidFill>
                <a:latin typeface="Calibri" pitchFamily="34" charset="0"/>
                <a:ea typeface="Calibri" pitchFamily="34" charset="-122"/>
                <a:cs typeface="Calibri" pitchFamily="34" charset="-120"/>
              </a:rPr>
              <a:t> suggesting that some post-COVID changes had a positive safety impact. Identify and preserve changes such as reduced workforce density or enhanced PPE protocols.</a:t>
            </a:r>
            <a:endParaRPr lang="en-US" sz="1000" dirty="0"/>
          </a:p>
        </p:txBody>
      </p:sp>
      <p:sp>
        <p:nvSpPr>
          <p:cNvPr id="31" name="Shape 29"/>
          <p:cNvSpPr/>
          <p:nvPr/>
        </p:nvSpPr>
        <p:spPr>
          <a:xfrm>
            <a:off x="6995160" y="2487168"/>
            <a:ext cx="1645920" cy="228600"/>
          </a:xfrm>
          <a:prstGeom prst="roundRect">
            <a:avLst>
              <a:gd name="adj" fmla="val 20000"/>
            </a:avLst>
          </a:prstGeom>
          <a:solidFill>
            <a:srgbClr val="1B4F72"/>
          </a:solidFill>
          <a:ln w="12700">
            <a:solidFill>
              <a:srgbClr val="1B4F72"/>
            </a:solidFill>
            <a:prstDash val="solid"/>
          </a:ln>
        </p:spPr>
        <p:txBody>
          <a:bodyPr/>
          <a:lstStyle/>
          <a:p>
            <a:endParaRPr lang="en-US"/>
          </a:p>
        </p:txBody>
      </p:sp>
      <p:sp>
        <p:nvSpPr>
          <p:cNvPr id="32" name="Text 30"/>
          <p:cNvSpPr/>
          <p:nvPr/>
        </p:nvSpPr>
        <p:spPr>
          <a:xfrm>
            <a:off x="6995160" y="2487168"/>
            <a:ext cx="1645920" cy="2286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HR Leaders</a:t>
            </a:r>
            <a:endParaRPr lang="en-US" sz="900" dirty="0"/>
          </a:p>
        </p:txBody>
      </p:sp>
      <p:sp>
        <p:nvSpPr>
          <p:cNvPr id="33" name="Shape 31"/>
          <p:cNvSpPr/>
          <p:nvPr/>
        </p:nvSpPr>
        <p:spPr>
          <a:xfrm>
            <a:off x="6263640" y="2999232"/>
            <a:ext cx="5486400" cy="1600200"/>
          </a:xfrm>
          <a:prstGeom prst="rect">
            <a:avLst/>
          </a:prstGeom>
          <a:solidFill>
            <a:srgbClr val="F7F9FB"/>
          </a:solidFill>
          <a:ln w="12700">
            <a:solidFill>
              <a:srgbClr val="D6E8F5"/>
            </a:solidFill>
            <a:prstDash val="solid"/>
          </a:ln>
        </p:spPr>
        <p:txBody>
          <a:bodyPr/>
          <a:lstStyle/>
          <a:p>
            <a:endParaRPr lang="en-US"/>
          </a:p>
        </p:txBody>
      </p:sp>
      <p:sp>
        <p:nvSpPr>
          <p:cNvPr id="34" name="Shape 32"/>
          <p:cNvSpPr/>
          <p:nvPr/>
        </p:nvSpPr>
        <p:spPr>
          <a:xfrm>
            <a:off x="6263640" y="2999232"/>
            <a:ext cx="640080" cy="1600200"/>
          </a:xfrm>
          <a:prstGeom prst="rect">
            <a:avLst/>
          </a:prstGeom>
          <a:solidFill>
            <a:srgbClr val="0D1B2A"/>
          </a:solidFill>
          <a:ln w="12700">
            <a:solidFill>
              <a:srgbClr val="0D1B2A"/>
            </a:solidFill>
            <a:prstDash val="solid"/>
          </a:ln>
        </p:spPr>
        <p:txBody>
          <a:bodyPr/>
          <a:lstStyle/>
          <a:p>
            <a:endParaRPr lang="en-US"/>
          </a:p>
        </p:txBody>
      </p:sp>
      <p:sp>
        <p:nvSpPr>
          <p:cNvPr id="35" name="Text 33"/>
          <p:cNvSpPr/>
          <p:nvPr/>
        </p:nvSpPr>
        <p:spPr>
          <a:xfrm>
            <a:off x="6263640" y="2999232"/>
            <a:ext cx="640080" cy="1600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05</a:t>
            </a:r>
            <a:endParaRPr lang="en-US" sz="1800" dirty="0"/>
          </a:p>
        </p:txBody>
      </p:sp>
      <p:sp>
        <p:nvSpPr>
          <p:cNvPr id="36" name="Text 34"/>
          <p:cNvSpPr/>
          <p:nvPr/>
        </p:nvSpPr>
        <p:spPr>
          <a:xfrm>
            <a:off x="6995160" y="3090672"/>
            <a:ext cx="4663440" cy="384048"/>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State-Level Intervention Focus</a:t>
            </a:r>
            <a:endParaRPr lang="en-US" sz="1200" dirty="0"/>
          </a:p>
        </p:txBody>
      </p:sp>
      <p:sp>
        <p:nvSpPr>
          <p:cNvPr id="37" name="Text 35"/>
          <p:cNvSpPr/>
          <p:nvPr/>
        </p:nvSpPr>
        <p:spPr>
          <a:xfrm>
            <a:off x="6995160" y="3474720"/>
            <a:ext cx="4663440" cy="804672"/>
          </a:xfrm>
          <a:prstGeom prst="rect">
            <a:avLst/>
          </a:prstGeom>
          <a:noFill/>
          <a:ln/>
        </p:spPr>
        <p:txBody>
          <a:bodyPr wrap="square" rtlCol="0" anchor="ctr"/>
          <a:lstStyle/>
          <a:p>
            <a:pPr marL="0" indent="0">
              <a:buNone/>
            </a:pPr>
            <a:r>
              <a:rPr lang="en-US" sz="1000" dirty="0">
                <a:solidFill>
                  <a:srgbClr val="1A2E3B"/>
                </a:solidFill>
                <a:latin typeface="Calibri" pitchFamily="34" charset="0"/>
                <a:ea typeface="Calibri" pitchFamily="34" charset="-122"/>
                <a:cs typeface="Calibri" pitchFamily="34" charset="-120"/>
              </a:rPr>
              <a:t>Texas, Florida, Pennsylvania, and Ohio consistently rank among the highest injury states and should be prioritized for targeted OSHA outreach, industry partnerships, and state-level safety initiatives.</a:t>
            </a:r>
            <a:endParaRPr lang="en-US" sz="1000" dirty="0"/>
          </a:p>
        </p:txBody>
      </p:sp>
      <p:sp>
        <p:nvSpPr>
          <p:cNvPr id="38" name="Shape 36"/>
          <p:cNvSpPr/>
          <p:nvPr/>
        </p:nvSpPr>
        <p:spPr>
          <a:xfrm>
            <a:off x="6995160" y="4297680"/>
            <a:ext cx="1645920" cy="228600"/>
          </a:xfrm>
          <a:prstGeom prst="roundRect">
            <a:avLst>
              <a:gd name="adj" fmla="val 20000"/>
            </a:avLst>
          </a:prstGeom>
          <a:solidFill>
            <a:srgbClr val="0D1B2A"/>
          </a:solidFill>
          <a:ln w="12700">
            <a:solidFill>
              <a:srgbClr val="0D1B2A"/>
            </a:solidFill>
            <a:prstDash val="solid"/>
          </a:ln>
        </p:spPr>
        <p:txBody>
          <a:bodyPr/>
          <a:lstStyle/>
          <a:p>
            <a:endParaRPr lang="en-US"/>
          </a:p>
        </p:txBody>
      </p:sp>
      <p:sp>
        <p:nvSpPr>
          <p:cNvPr id="39" name="Text 37"/>
          <p:cNvSpPr/>
          <p:nvPr/>
        </p:nvSpPr>
        <p:spPr>
          <a:xfrm>
            <a:off x="6995160" y="4297680"/>
            <a:ext cx="1645920" cy="2286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Safety Professionals</a:t>
            </a:r>
            <a:endParaRPr lang="en-US" sz="900" dirty="0"/>
          </a:p>
        </p:txBody>
      </p:sp>
      <p:sp>
        <p:nvSpPr>
          <p:cNvPr id="40" name="Text 38"/>
          <p:cNvSpPr/>
          <p:nvPr/>
        </p:nvSpPr>
        <p:spPr>
          <a:xfrm>
            <a:off x="0" y="6492240"/>
            <a:ext cx="12192000" cy="32004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OSHA Severe Injury Report Analysis  |  Mary Becker  |  Data Analytics Capstone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0D1B2A"/>
          </a:solidFill>
          <a:ln/>
        </p:spPr>
        <p:txBody>
          <a:bodyPr/>
          <a:lstStyle/>
          <a:p>
            <a:endParaRPr lang="en-US"/>
          </a:p>
        </p:txBody>
      </p:sp>
      <p:sp>
        <p:nvSpPr>
          <p:cNvPr id="3" name="Text 1"/>
          <p:cNvSpPr/>
          <p:nvPr/>
        </p:nvSpPr>
        <p:spPr>
          <a:xfrm>
            <a:off x="365760" y="73152"/>
            <a:ext cx="91440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Limitations &amp; Assumptions</a:t>
            </a:r>
            <a:endParaRPr lang="en-US" sz="2800" dirty="0"/>
          </a:p>
        </p:txBody>
      </p:sp>
      <p:sp>
        <p:nvSpPr>
          <p:cNvPr id="4" name="Text 2"/>
          <p:cNvSpPr/>
          <p:nvPr/>
        </p:nvSpPr>
        <p:spPr>
          <a:xfrm>
            <a:off x="365760" y="594360"/>
            <a:ext cx="9144000" cy="347472"/>
          </a:xfrm>
          <a:prstGeom prst="rect">
            <a:avLst/>
          </a:prstGeom>
          <a:noFill/>
          <a:ln/>
        </p:spPr>
        <p:txBody>
          <a:bodyPr wrap="square" rtlCol="0" anchor="t"/>
          <a:lstStyle/>
          <a:p>
            <a:pPr marL="0" indent="0">
              <a:buNone/>
            </a:pPr>
            <a:r>
              <a:rPr lang="en-US" sz="1300" dirty="0">
                <a:solidFill>
                  <a:srgbClr val="D6E8F5"/>
                </a:solidFill>
                <a:latin typeface="Calibri" pitchFamily="34" charset="0"/>
                <a:ea typeface="Calibri" pitchFamily="34" charset="-122"/>
                <a:cs typeface="Calibri" pitchFamily="34" charset="-120"/>
              </a:rPr>
              <a:t>What to keep in mind when interpreting this analysis</a:t>
            </a:r>
            <a:endParaRPr lang="en-US" sz="1300" dirty="0"/>
          </a:p>
        </p:txBody>
      </p:sp>
      <p:sp>
        <p:nvSpPr>
          <p:cNvPr id="5" name="Shape 3"/>
          <p:cNvSpPr/>
          <p:nvPr/>
        </p:nvSpPr>
        <p:spPr>
          <a:xfrm>
            <a:off x="365760" y="1188720"/>
            <a:ext cx="5486400" cy="1600200"/>
          </a:xfrm>
          <a:prstGeom prst="rect">
            <a:avLst/>
          </a:prstGeom>
          <a:solidFill>
            <a:srgbClr val="F7F9FB"/>
          </a:solidFill>
          <a:ln w="12700">
            <a:solidFill>
              <a:srgbClr val="D6E8F5"/>
            </a:solidFill>
            <a:prstDash val="solid"/>
          </a:ln>
        </p:spPr>
        <p:txBody>
          <a:bodyPr/>
          <a:lstStyle/>
          <a:p>
            <a:endParaRPr lang="en-US"/>
          </a:p>
        </p:txBody>
      </p:sp>
      <p:sp>
        <p:nvSpPr>
          <p:cNvPr id="6" name="Text 4"/>
          <p:cNvSpPr/>
          <p:nvPr/>
        </p:nvSpPr>
        <p:spPr>
          <a:xfrm>
            <a:off x="502920" y="1325880"/>
            <a:ext cx="548640" cy="5486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7" name="Text 5"/>
          <p:cNvSpPr/>
          <p:nvPr/>
        </p:nvSpPr>
        <p:spPr>
          <a:xfrm>
            <a:off x="1143000" y="1325880"/>
            <a:ext cx="4572000" cy="347472"/>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Employer-Submitted Data</a:t>
            </a:r>
            <a:endParaRPr lang="en-US" sz="1200" dirty="0"/>
          </a:p>
        </p:txBody>
      </p:sp>
      <p:sp>
        <p:nvSpPr>
          <p:cNvPr id="8" name="Text 6"/>
          <p:cNvSpPr/>
          <p:nvPr/>
        </p:nvSpPr>
        <p:spPr>
          <a:xfrm>
            <a:off x="1143000" y="1691640"/>
            <a:ext cx="4572000" cy="960120"/>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The dataset relies on employer-submitted reports. Underreporting is possible </a:t>
            </a:r>
            <a:r>
              <a:rPr lang="en-US" sz="1050">
                <a:solidFill>
                  <a:srgbClr val="1A2E3B"/>
                </a:solidFill>
                <a:latin typeface="Calibri" pitchFamily="34" charset="0"/>
                <a:ea typeface="Calibri" pitchFamily="34" charset="-122"/>
                <a:cs typeface="Calibri" pitchFamily="34" charset="-120"/>
              </a:rPr>
              <a:t>-</a:t>
            </a:r>
            <a:r>
              <a:rPr lang="en-US" sz="1050" dirty="0">
                <a:solidFill>
                  <a:srgbClr val="1A2E3B"/>
                </a:solidFill>
                <a:latin typeface="Calibri" pitchFamily="34" charset="0"/>
                <a:ea typeface="Calibri" pitchFamily="34" charset="-122"/>
                <a:cs typeface="Calibri" pitchFamily="34" charset="-120"/>
              </a:rPr>
              <a:t> employers may not always report every qualifying incident, and reporting practices vary by industry, company size, and jurisdiction.</a:t>
            </a:r>
            <a:endParaRPr lang="en-US" sz="1050" dirty="0"/>
          </a:p>
        </p:txBody>
      </p:sp>
      <p:sp>
        <p:nvSpPr>
          <p:cNvPr id="9" name="Shape 7"/>
          <p:cNvSpPr/>
          <p:nvPr/>
        </p:nvSpPr>
        <p:spPr>
          <a:xfrm>
            <a:off x="365760" y="2971800"/>
            <a:ext cx="5486400" cy="1600200"/>
          </a:xfrm>
          <a:prstGeom prst="rect">
            <a:avLst/>
          </a:prstGeom>
          <a:solidFill>
            <a:srgbClr val="F7F9FB"/>
          </a:solidFill>
          <a:ln w="12700">
            <a:solidFill>
              <a:srgbClr val="D6E8F5"/>
            </a:solidFill>
            <a:prstDash val="solid"/>
          </a:ln>
        </p:spPr>
        <p:txBody>
          <a:bodyPr/>
          <a:lstStyle/>
          <a:p>
            <a:endParaRPr lang="en-US"/>
          </a:p>
        </p:txBody>
      </p:sp>
      <p:sp>
        <p:nvSpPr>
          <p:cNvPr id="10" name="Text 8"/>
          <p:cNvSpPr/>
          <p:nvPr/>
        </p:nvSpPr>
        <p:spPr>
          <a:xfrm>
            <a:off x="502920" y="3108960"/>
            <a:ext cx="548640" cy="5486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1" name="Text 9"/>
          <p:cNvSpPr/>
          <p:nvPr/>
        </p:nvSpPr>
        <p:spPr>
          <a:xfrm>
            <a:off x="1143000" y="3108960"/>
            <a:ext cx="4572000" cy="347472"/>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Employer Name Inconsistency</a:t>
            </a:r>
            <a:endParaRPr lang="en-US" sz="1200" dirty="0"/>
          </a:p>
        </p:txBody>
      </p:sp>
      <p:sp>
        <p:nvSpPr>
          <p:cNvPr id="12" name="Text 10"/>
          <p:cNvSpPr/>
          <p:nvPr/>
        </p:nvSpPr>
        <p:spPr>
          <a:xfrm>
            <a:off x="1143000" y="3474720"/>
            <a:ext cx="4572000" cy="960120"/>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Employer name standardization was limited by the inconsistency of manually entered names. While common variations were standardized using CASE statements, many variations likely remain across 67,507 unique entries.</a:t>
            </a:r>
            <a:endParaRPr lang="en-US" sz="1050" dirty="0"/>
          </a:p>
        </p:txBody>
      </p:sp>
      <p:sp>
        <p:nvSpPr>
          <p:cNvPr id="13" name="Shape 11"/>
          <p:cNvSpPr/>
          <p:nvPr/>
        </p:nvSpPr>
        <p:spPr>
          <a:xfrm>
            <a:off x="365760" y="4754880"/>
            <a:ext cx="5486400" cy="1600200"/>
          </a:xfrm>
          <a:prstGeom prst="rect">
            <a:avLst/>
          </a:prstGeom>
          <a:solidFill>
            <a:srgbClr val="F7F9FB"/>
          </a:solidFill>
          <a:ln w="12700">
            <a:solidFill>
              <a:srgbClr val="D6E8F5"/>
            </a:solidFill>
            <a:prstDash val="solid"/>
          </a:ln>
        </p:spPr>
        <p:txBody>
          <a:bodyPr/>
          <a:lstStyle/>
          <a:p>
            <a:endParaRPr lang="en-US"/>
          </a:p>
        </p:txBody>
      </p:sp>
      <p:sp>
        <p:nvSpPr>
          <p:cNvPr id="14" name="Text 12"/>
          <p:cNvSpPr/>
          <p:nvPr/>
        </p:nvSpPr>
        <p:spPr>
          <a:xfrm>
            <a:off x="502920" y="4892040"/>
            <a:ext cx="548640" cy="5486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5" name="Text 13"/>
          <p:cNvSpPr/>
          <p:nvPr/>
        </p:nvSpPr>
        <p:spPr>
          <a:xfrm>
            <a:off x="1143000" y="4892040"/>
            <a:ext cx="4572000" cy="347472"/>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NAICS Matching Gaps</a:t>
            </a:r>
            <a:endParaRPr lang="en-US" sz="1200" dirty="0"/>
          </a:p>
        </p:txBody>
      </p:sp>
      <p:sp>
        <p:nvSpPr>
          <p:cNvPr id="16" name="Text 14"/>
          <p:cNvSpPr/>
          <p:nvPr/>
        </p:nvSpPr>
        <p:spPr>
          <a:xfrm>
            <a:off x="1143000" y="5257800"/>
            <a:ext cx="4572000" cy="960120"/>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2.52% of records (2,655) could not be matched to an industry name even after the hierarchical lookup. These may slightly underrepresent certain industries in the industry-level analysis.</a:t>
            </a:r>
            <a:endParaRPr lang="en-US" sz="1050" dirty="0"/>
          </a:p>
        </p:txBody>
      </p:sp>
      <p:sp>
        <p:nvSpPr>
          <p:cNvPr id="17" name="Shape 15"/>
          <p:cNvSpPr/>
          <p:nvPr/>
        </p:nvSpPr>
        <p:spPr>
          <a:xfrm>
            <a:off x="6263640" y="1188720"/>
            <a:ext cx="5486400" cy="1600200"/>
          </a:xfrm>
          <a:prstGeom prst="rect">
            <a:avLst/>
          </a:prstGeom>
          <a:solidFill>
            <a:srgbClr val="F7F9FB"/>
          </a:solidFill>
          <a:ln w="12700">
            <a:solidFill>
              <a:srgbClr val="D6E8F5"/>
            </a:solidFill>
            <a:prstDash val="solid"/>
          </a:ln>
        </p:spPr>
        <p:txBody>
          <a:bodyPr/>
          <a:lstStyle/>
          <a:p>
            <a:endParaRPr lang="en-US"/>
          </a:p>
        </p:txBody>
      </p:sp>
      <p:sp>
        <p:nvSpPr>
          <p:cNvPr id="18" name="Text 16"/>
          <p:cNvSpPr/>
          <p:nvPr/>
        </p:nvSpPr>
        <p:spPr>
          <a:xfrm>
            <a:off x="6400800" y="1325880"/>
            <a:ext cx="548640" cy="5486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9" name="Text 17"/>
          <p:cNvSpPr/>
          <p:nvPr/>
        </p:nvSpPr>
        <p:spPr>
          <a:xfrm>
            <a:off x="7040880" y="1325880"/>
            <a:ext cx="4572000" cy="347472"/>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Partial 2025 Data</a:t>
            </a:r>
            <a:endParaRPr lang="en-US" sz="1200" dirty="0"/>
          </a:p>
        </p:txBody>
      </p:sp>
      <p:sp>
        <p:nvSpPr>
          <p:cNvPr id="20" name="Text 18"/>
          <p:cNvSpPr/>
          <p:nvPr/>
        </p:nvSpPr>
        <p:spPr>
          <a:xfrm>
            <a:off x="7040880" y="1691640"/>
            <a:ext cx="4572000" cy="960120"/>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The 2025 data only covers January through October and is not directly comparable to prior full year totals. All 2025 figures should be interpreted with this in mind.</a:t>
            </a:r>
            <a:endParaRPr lang="en-US" sz="1050" dirty="0"/>
          </a:p>
        </p:txBody>
      </p:sp>
      <p:sp>
        <p:nvSpPr>
          <p:cNvPr id="21" name="Shape 19"/>
          <p:cNvSpPr/>
          <p:nvPr/>
        </p:nvSpPr>
        <p:spPr>
          <a:xfrm>
            <a:off x="6263640" y="2971800"/>
            <a:ext cx="5486400" cy="1600200"/>
          </a:xfrm>
          <a:prstGeom prst="rect">
            <a:avLst/>
          </a:prstGeom>
          <a:solidFill>
            <a:srgbClr val="F7F9FB"/>
          </a:solidFill>
          <a:ln w="12700">
            <a:solidFill>
              <a:srgbClr val="D6E8F5"/>
            </a:solidFill>
            <a:prstDash val="solid"/>
          </a:ln>
        </p:spPr>
        <p:txBody>
          <a:bodyPr/>
          <a:lstStyle/>
          <a:p>
            <a:endParaRPr lang="en-US"/>
          </a:p>
        </p:txBody>
      </p:sp>
      <p:sp>
        <p:nvSpPr>
          <p:cNvPr id="22" name="Text 20"/>
          <p:cNvSpPr/>
          <p:nvPr/>
        </p:nvSpPr>
        <p:spPr>
          <a:xfrm>
            <a:off x="6400800" y="3108960"/>
            <a:ext cx="548640" cy="5486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3" name="Text 21"/>
          <p:cNvSpPr/>
          <p:nvPr/>
        </p:nvSpPr>
        <p:spPr>
          <a:xfrm>
            <a:off x="7040880" y="3108960"/>
            <a:ext cx="4572000" cy="347472"/>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COVID-19 Assumption</a:t>
            </a:r>
            <a:endParaRPr lang="en-US" sz="1200" dirty="0"/>
          </a:p>
        </p:txBody>
      </p:sp>
      <p:sp>
        <p:nvSpPr>
          <p:cNvPr id="24" name="Text 22"/>
          <p:cNvSpPr/>
          <p:nvPr/>
        </p:nvSpPr>
        <p:spPr>
          <a:xfrm>
            <a:off x="7040880" y="3474720"/>
            <a:ext cx="4572000" cy="960120"/>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It is assumed that COVID-19 was the primary driver of the 2020 decline. However, reporting behavior may also have changed during that period </a:t>
            </a:r>
            <a:r>
              <a:rPr lang="en-US" sz="1050">
                <a:solidFill>
                  <a:srgbClr val="1A2E3B"/>
                </a:solidFill>
                <a:latin typeface="Calibri" pitchFamily="34" charset="0"/>
                <a:ea typeface="Calibri" pitchFamily="34" charset="-122"/>
                <a:cs typeface="Calibri" pitchFamily="34" charset="-120"/>
              </a:rPr>
              <a:t>-</a:t>
            </a:r>
            <a:r>
              <a:rPr lang="en-US" sz="1050" dirty="0">
                <a:solidFill>
                  <a:srgbClr val="1A2E3B"/>
                </a:solidFill>
                <a:latin typeface="Calibri" pitchFamily="34" charset="0"/>
                <a:ea typeface="Calibri" pitchFamily="34" charset="-122"/>
                <a:cs typeface="Calibri" pitchFamily="34" charset="-120"/>
              </a:rPr>
              <a:t> both factors likely contributed.</a:t>
            </a:r>
            <a:endParaRPr lang="en-US" sz="1050" dirty="0"/>
          </a:p>
        </p:txBody>
      </p:sp>
      <p:sp>
        <p:nvSpPr>
          <p:cNvPr id="25" name="Shape 23"/>
          <p:cNvSpPr/>
          <p:nvPr/>
        </p:nvSpPr>
        <p:spPr>
          <a:xfrm>
            <a:off x="6263640" y="4754880"/>
            <a:ext cx="5486400" cy="1600200"/>
          </a:xfrm>
          <a:prstGeom prst="rect">
            <a:avLst/>
          </a:prstGeom>
          <a:solidFill>
            <a:srgbClr val="F7F9FB"/>
          </a:solidFill>
          <a:ln w="12700">
            <a:solidFill>
              <a:srgbClr val="D6E8F5"/>
            </a:solidFill>
            <a:prstDash val="solid"/>
          </a:ln>
        </p:spPr>
        <p:txBody>
          <a:bodyPr/>
          <a:lstStyle/>
          <a:p>
            <a:endParaRPr lang="en-US"/>
          </a:p>
        </p:txBody>
      </p:sp>
      <p:sp>
        <p:nvSpPr>
          <p:cNvPr id="26" name="Text 24"/>
          <p:cNvSpPr/>
          <p:nvPr/>
        </p:nvSpPr>
        <p:spPr>
          <a:xfrm>
            <a:off x="6400800" y="4892040"/>
            <a:ext cx="548640" cy="5486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7" name="Text 25"/>
          <p:cNvSpPr/>
          <p:nvPr/>
        </p:nvSpPr>
        <p:spPr>
          <a:xfrm>
            <a:off x="7040880" y="4892040"/>
            <a:ext cx="4572000" cy="347472"/>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Correlation vs. Causation</a:t>
            </a:r>
            <a:endParaRPr lang="en-US" sz="1200" dirty="0"/>
          </a:p>
        </p:txBody>
      </p:sp>
      <p:sp>
        <p:nvSpPr>
          <p:cNvPr id="28" name="Text 26"/>
          <p:cNvSpPr/>
          <p:nvPr/>
        </p:nvSpPr>
        <p:spPr>
          <a:xfrm>
            <a:off x="7040880" y="5257800"/>
            <a:ext cx="4572000" cy="960120"/>
          </a:xfrm>
          <a:prstGeom prst="rect">
            <a:avLst/>
          </a:prstGeom>
          <a:noFill/>
          <a:ln/>
        </p:spPr>
        <p:txBody>
          <a:bodyPr wrap="square" rtlCol="0" anchor="ctr"/>
          <a:lstStyle/>
          <a:p>
            <a:pPr marL="0" indent="0">
              <a:buNone/>
            </a:pPr>
            <a:r>
              <a:rPr lang="en-US" sz="1050" dirty="0">
                <a:solidFill>
                  <a:srgbClr val="1A2E3B"/>
                </a:solidFill>
                <a:latin typeface="Calibri" pitchFamily="34" charset="0"/>
                <a:ea typeface="Calibri" pitchFamily="34" charset="-122"/>
                <a:cs typeface="Calibri" pitchFamily="34" charset="-120"/>
              </a:rPr>
              <a:t>The correlation and trend analyses identify patterns but do not establish causation. Additional research would be needed to confirm the underlying reasons for observed trends.</a:t>
            </a:r>
            <a:endParaRPr lang="en-US" sz="1050" dirty="0"/>
          </a:p>
        </p:txBody>
      </p:sp>
      <p:sp>
        <p:nvSpPr>
          <p:cNvPr id="29" name="Text 27"/>
          <p:cNvSpPr/>
          <p:nvPr/>
        </p:nvSpPr>
        <p:spPr>
          <a:xfrm>
            <a:off x="0" y="6492240"/>
            <a:ext cx="12192000" cy="320040"/>
          </a:xfrm>
          <a:prstGeom prst="rect">
            <a:avLst/>
          </a:prstGeom>
          <a:noFill/>
          <a:ln/>
        </p:spPr>
        <p:txBody>
          <a:bodyPr wrap="square" rtlCol="0" anchor="ctr"/>
          <a:lstStyle/>
          <a:p>
            <a:pPr marL="0" indent="0" algn="ctr">
              <a:buNone/>
            </a:pPr>
            <a:r>
              <a:rPr lang="en-US" sz="900" dirty="0">
                <a:solidFill>
                  <a:srgbClr val="5A7A8E"/>
                </a:solidFill>
                <a:latin typeface="Calibri" pitchFamily="34" charset="0"/>
                <a:ea typeface="Calibri" pitchFamily="34" charset="-122"/>
                <a:cs typeface="Calibri" pitchFamily="34" charset="-120"/>
              </a:rPr>
              <a:t>OSHA Severe Injury Report Analysis  |  Mary Becker  |  Data Analytics Capstone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rot="900000">
            <a:off x="-457200" y="5029200"/>
            <a:ext cx="1280160" cy="2286000"/>
          </a:xfrm>
          <a:prstGeom prst="rect">
            <a:avLst/>
          </a:prstGeom>
          <a:solidFill>
            <a:srgbClr val="1B4F72">
              <a:alpha val="25000"/>
            </a:srgbClr>
          </a:solidFill>
          <a:ln w="12700">
            <a:solidFill>
              <a:srgbClr val="1B4F72">
                <a:alpha val="25000"/>
              </a:srgbClr>
            </a:solidFill>
            <a:prstDash val="solid"/>
          </a:ln>
        </p:spPr>
        <p:txBody>
          <a:bodyPr/>
          <a:lstStyle/>
          <a:p>
            <a:endParaRPr lang="en-US"/>
          </a:p>
        </p:txBody>
      </p:sp>
      <p:sp>
        <p:nvSpPr>
          <p:cNvPr id="3" name="Shape 1"/>
          <p:cNvSpPr/>
          <p:nvPr/>
        </p:nvSpPr>
        <p:spPr>
          <a:xfrm rot="900000">
            <a:off x="1280160" y="5029200"/>
            <a:ext cx="1280160" cy="2286000"/>
          </a:xfrm>
          <a:prstGeom prst="rect">
            <a:avLst/>
          </a:prstGeom>
          <a:solidFill>
            <a:srgbClr val="1B4F72">
              <a:alpha val="25000"/>
            </a:srgbClr>
          </a:solidFill>
          <a:ln w="12700">
            <a:solidFill>
              <a:srgbClr val="1B4F72">
                <a:alpha val="25000"/>
              </a:srgbClr>
            </a:solidFill>
            <a:prstDash val="solid"/>
          </a:ln>
        </p:spPr>
        <p:txBody>
          <a:bodyPr/>
          <a:lstStyle/>
          <a:p>
            <a:endParaRPr lang="en-US"/>
          </a:p>
        </p:txBody>
      </p:sp>
      <p:sp>
        <p:nvSpPr>
          <p:cNvPr id="4" name="Shape 2"/>
          <p:cNvSpPr/>
          <p:nvPr/>
        </p:nvSpPr>
        <p:spPr>
          <a:xfrm rot="900000">
            <a:off x="3017520" y="5029200"/>
            <a:ext cx="1280160" cy="2286000"/>
          </a:xfrm>
          <a:prstGeom prst="rect">
            <a:avLst/>
          </a:prstGeom>
          <a:solidFill>
            <a:srgbClr val="1B4F72">
              <a:alpha val="25000"/>
            </a:srgbClr>
          </a:solidFill>
          <a:ln w="12700">
            <a:solidFill>
              <a:srgbClr val="1B4F72">
                <a:alpha val="25000"/>
              </a:srgbClr>
            </a:solidFill>
            <a:prstDash val="solid"/>
          </a:ln>
        </p:spPr>
        <p:txBody>
          <a:bodyPr/>
          <a:lstStyle/>
          <a:p>
            <a:endParaRPr lang="en-US"/>
          </a:p>
        </p:txBody>
      </p:sp>
      <p:sp>
        <p:nvSpPr>
          <p:cNvPr id="5" name="Shape 3"/>
          <p:cNvSpPr/>
          <p:nvPr/>
        </p:nvSpPr>
        <p:spPr>
          <a:xfrm rot="900000">
            <a:off x="4754880" y="5029200"/>
            <a:ext cx="1280160" cy="2286000"/>
          </a:xfrm>
          <a:prstGeom prst="rect">
            <a:avLst/>
          </a:prstGeom>
          <a:solidFill>
            <a:srgbClr val="1B4F72">
              <a:alpha val="25000"/>
            </a:srgbClr>
          </a:solidFill>
          <a:ln w="12700">
            <a:solidFill>
              <a:srgbClr val="1B4F72">
                <a:alpha val="25000"/>
              </a:srgbClr>
            </a:solidFill>
            <a:prstDash val="solid"/>
          </a:ln>
        </p:spPr>
        <p:txBody>
          <a:bodyPr/>
          <a:lstStyle/>
          <a:p>
            <a:endParaRPr lang="en-US"/>
          </a:p>
        </p:txBody>
      </p:sp>
      <p:sp>
        <p:nvSpPr>
          <p:cNvPr id="6" name="Shape 4"/>
          <p:cNvSpPr/>
          <p:nvPr/>
        </p:nvSpPr>
        <p:spPr>
          <a:xfrm rot="900000">
            <a:off x="6492240" y="5029200"/>
            <a:ext cx="1280160" cy="2286000"/>
          </a:xfrm>
          <a:prstGeom prst="rect">
            <a:avLst/>
          </a:prstGeom>
          <a:solidFill>
            <a:srgbClr val="1B4F72">
              <a:alpha val="25000"/>
            </a:srgbClr>
          </a:solidFill>
          <a:ln w="12700">
            <a:solidFill>
              <a:srgbClr val="1B4F72">
                <a:alpha val="25000"/>
              </a:srgbClr>
            </a:solidFill>
            <a:prstDash val="solid"/>
          </a:ln>
        </p:spPr>
        <p:txBody>
          <a:bodyPr/>
          <a:lstStyle/>
          <a:p>
            <a:endParaRPr lang="en-US"/>
          </a:p>
        </p:txBody>
      </p:sp>
      <p:sp>
        <p:nvSpPr>
          <p:cNvPr id="7" name="Shape 5"/>
          <p:cNvSpPr/>
          <p:nvPr/>
        </p:nvSpPr>
        <p:spPr>
          <a:xfrm rot="900000">
            <a:off x="8229600" y="5029200"/>
            <a:ext cx="1280160" cy="2286000"/>
          </a:xfrm>
          <a:prstGeom prst="rect">
            <a:avLst/>
          </a:prstGeom>
          <a:solidFill>
            <a:srgbClr val="1B4F72">
              <a:alpha val="25000"/>
            </a:srgbClr>
          </a:solidFill>
          <a:ln w="12700">
            <a:solidFill>
              <a:srgbClr val="1B4F72">
                <a:alpha val="25000"/>
              </a:srgbClr>
            </a:solidFill>
            <a:prstDash val="solid"/>
          </a:ln>
        </p:spPr>
        <p:txBody>
          <a:bodyPr/>
          <a:lstStyle/>
          <a:p>
            <a:endParaRPr lang="en-US"/>
          </a:p>
        </p:txBody>
      </p:sp>
      <p:sp>
        <p:nvSpPr>
          <p:cNvPr id="8" name="Shape 6"/>
          <p:cNvSpPr/>
          <p:nvPr/>
        </p:nvSpPr>
        <p:spPr>
          <a:xfrm rot="900000">
            <a:off x="9966960" y="5029200"/>
            <a:ext cx="1280160" cy="2286000"/>
          </a:xfrm>
          <a:prstGeom prst="rect">
            <a:avLst/>
          </a:prstGeom>
          <a:solidFill>
            <a:srgbClr val="1B4F72">
              <a:alpha val="25000"/>
            </a:srgbClr>
          </a:solidFill>
          <a:ln w="12700">
            <a:solidFill>
              <a:srgbClr val="1B4F72">
                <a:alpha val="25000"/>
              </a:srgbClr>
            </a:solidFill>
            <a:prstDash val="solid"/>
          </a:ln>
        </p:spPr>
        <p:txBody>
          <a:bodyPr/>
          <a:lstStyle/>
          <a:p>
            <a:endParaRPr lang="en-US"/>
          </a:p>
        </p:txBody>
      </p:sp>
      <p:sp>
        <p:nvSpPr>
          <p:cNvPr id="9" name="Shape 7"/>
          <p:cNvSpPr/>
          <p:nvPr/>
        </p:nvSpPr>
        <p:spPr>
          <a:xfrm rot="900000">
            <a:off x="11704320" y="5029200"/>
            <a:ext cx="1280160" cy="2286000"/>
          </a:xfrm>
          <a:prstGeom prst="rect">
            <a:avLst/>
          </a:prstGeom>
          <a:solidFill>
            <a:srgbClr val="1B4F72">
              <a:alpha val="25000"/>
            </a:srgbClr>
          </a:solidFill>
          <a:ln w="12700">
            <a:solidFill>
              <a:srgbClr val="1B4F72">
                <a:alpha val="25000"/>
              </a:srgbClr>
            </a:solidFill>
            <a:prstDash val="solid"/>
          </a:ln>
        </p:spPr>
        <p:txBody>
          <a:bodyPr/>
          <a:lstStyle/>
          <a:p>
            <a:endParaRPr lang="en-US"/>
          </a:p>
        </p:txBody>
      </p:sp>
      <p:sp>
        <p:nvSpPr>
          <p:cNvPr id="10" name="Text 8"/>
          <p:cNvSpPr/>
          <p:nvPr/>
        </p:nvSpPr>
        <p:spPr>
          <a:xfrm>
            <a:off x="914400" y="1097280"/>
            <a:ext cx="10332720" cy="1097280"/>
          </a:xfrm>
          <a:prstGeom prst="rect">
            <a:avLst/>
          </a:prstGeom>
          <a:noFill/>
          <a:ln/>
        </p:spPr>
        <p:txBody>
          <a:bodyPr wrap="square"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11" name="Text 9"/>
          <p:cNvSpPr/>
          <p:nvPr/>
        </p:nvSpPr>
        <p:spPr>
          <a:xfrm>
            <a:off x="1828800" y="2286000"/>
            <a:ext cx="8503920" cy="502920"/>
          </a:xfrm>
          <a:prstGeom prst="rect">
            <a:avLst/>
          </a:prstGeom>
          <a:noFill/>
          <a:ln/>
        </p:spPr>
        <p:txBody>
          <a:bodyPr wrap="square" rtlCol="0" anchor="ctr"/>
          <a:lstStyle/>
          <a:p>
            <a:pPr marL="0" indent="0" algn="ctr">
              <a:buNone/>
            </a:pPr>
            <a:r>
              <a:rPr lang="en-US" sz="2000" dirty="0">
                <a:solidFill>
                  <a:srgbClr val="E09F3E"/>
                </a:solidFill>
                <a:latin typeface="Calibri" pitchFamily="34" charset="0"/>
                <a:ea typeface="Calibri" pitchFamily="34" charset="-122"/>
                <a:cs typeface="Calibri" pitchFamily="34" charset="-120"/>
              </a:rPr>
              <a:t>Questions &amp; Discussion</a:t>
            </a:r>
            <a:endParaRPr lang="en-US" sz="2000" dirty="0"/>
          </a:p>
        </p:txBody>
      </p:sp>
      <p:sp>
        <p:nvSpPr>
          <p:cNvPr id="12" name="Shape 10"/>
          <p:cNvSpPr/>
          <p:nvPr/>
        </p:nvSpPr>
        <p:spPr>
          <a:xfrm>
            <a:off x="457200" y="3108960"/>
            <a:ext cx="2560320" cy="1188720"/>
          </a:xfrm>
          <a:prstGeom prst="rect">
            <a:avLst/>
          </a:prstGeom>
          <a:solidFill>
            <a:srgbClr val="1B4F72"/>
          </a:solidFill>
          <a:ln w="12700">
            <a:solidFill>
              <a:srgbClr val="2E86AB"/>
            </a:solidFill>
            <a:prstDash val="solid"/>
          </a:ln>
        </p:spPr>
        <p:txBody>
          <a:bodyPr/>
          <a:lstStyle/>
          <a:p>
            <a:endParaRPr lang="en-US"/>
          </a:p>
        </p:txBody>
      </p:sp>
      <p:sp>
        <p:nvSpPr>
          <p:cNvPr id="13" name="Text 11"/>
          <p:cNvSpPr/>
          <p:nvPr/>
        </p:nvSpPr>
        <p:spPr>
          <a:xfrm>
            <a:off x="457200" y="3154680"/>
            <a:ext cx="2560320" cy="640080"/>
          </a:xfrm>
          <a:prstGeom prst="rect">
            <a:avLst/>
          </a:prstGeom>
          <a:noFill/>
          <a:ln/>
        </p:spPr>
        <p:txBody>
          <a:bodyPr wrap="square" rtlCol="0" anchor="ctr"/>
          <a:lstStyle/>
          <a:p>
            <a:pPr marL="0" indent="0" algn="ctr">
              <a:buNone/>
            </a:pPr>
            <a:r>
              <a:rPr lang="en-US" sz="2400" b="1" dirty="0">
                <a:solidFill>
                  <a:srgbClr val="E09F3E"/>
                </a:solidFill>
                <a:latin typeface="Calibri" pitchFamily="34" charset="0"/>
                <a:ea typeface="Calibri" pitchFamily="34" charset="-122"/>
                <a:cs typeface="Calibri" pitchFamily="34" charset="-120"/>
              </a:rPr>
              <a:t>105,317</a:t>
            </a:r>
            <a:endParaRPr lang="en-US" sz="2400" dirty="0"/>
          </a:p>
        </p:txBody>
      </p:sp>
      <p:sp>
        <p:nvSpPr>
          <p:cNvPr id="14" name="Text 12"/>
          <p:cNvSpPr/>
          <p:nvPr/>
        </p:nvSpPr>
        <p:spPr>
          <a:xfrm>
            <a:off x="457200" y="3749040"/>
            <a:ext cx="2560320" cy="457200"/>
          </a:xfrm>
          <a:prstGeom prst="rect">
            <a:avLst/>
          </a:prstGeom>
          <a:noFill/>
          <a:ln/>
        </p:spPr>
        <p:txBody>
          <a:bodyPr wrap="square" rtlCol="0" anchor="ctr"/>
          <a:lstStyle/>
          <a:p>
            <a:pPr marL="0" indent="0" algn="ctr">
              <a:buNone/>
            </a:pPr>
            <a:r>
              <a:rPr lang="en-US" sz="1000" dirty="0">
                <a:solidFill>
                  <a:srgbClr val="D6E8F5"/>
                </a:solidFill>
                <a:latin typeface="Calibri" pitchFamily="34" charset="0"/>
                <a:ea typeface="Calibri" pitchFamily="34" charset="-122"/>
                <a:cs typeface="Calibri" pitchFamily="34" charset="-120"/>
              </a:rPr>
              <a:t>Records Analyzed</a:t>
            </a:r>
            <a:endParaRPr lang="en-US" sz="1000" dirty="0"/>
          </a:p>
        </p:txBody>
      </p:sp>
      <p:sp>
        <p:nvSpPr>
          <p:cNvPr id="15" name="Shape 13"/>
          <p:cNvSpPr/>
          <p:nvPr/>
        </p:nvSpPr>
        <p:spPr>
          <a:xfrm>
            <a:off x="3291840" y="3108960"/>
            <a:ext cx="2560320" cy="1188720"/>
          </a:xfrm>
          <a:prstGeom prst="rect">
            <a:avLst/>
          </a:prstGeom>
          <a:solidFill>
            <a:srgbClr val="1B4F72"/>
          </a:solidFill>
          <a:ln w="12700">
            <a:solidFill>
              <a:srgbClr val="2E86AB"/>
            </a:solidFill>
            <a:prstDash val="solid"/>
          </a:ln>
        </p:spPr>
        <p:txBody>
          <a:bodyPr/>
          <a:lstStyle/>
          <a:p>
            <a:endParaRPr lang="en-US"/>
          </a:p>
        </p:txBody>
      </p:sp>
      <p:sp>
        <p:nvSpPr>
          <p:cNvPr id="16" name="Text 14"/>
          <p:cNvSpPr/>
          <p:nvPr/>
        </p:nvSpPr>
        <p:spPr>
          <a:xfrm>
            <a:off x="3291840" y="3154680"/>
            <a:ext cx="2560320" cy="640080"/>
          </a:xfrm>
          <a:prstGeom prst="rect">
            <a:avLst/>
          </a:prstGeom>
          <a:noFill/>
          <a:ln/>
        </p:spPr>
        <p:txBody>
          <a:bodyPr wrap="square" rtlCol="0" anchor="ctr"/>
          <a:lstStyle/>
          <a:p>
            <a:pPr marL="0" indent="0" algn="ctr">
              <a:buNone/>
            </a:pPr>
            <a:r>
              <a:rPr lang="en-US" sz="2400" b="1" dirty="0">
                <a:solidFill>
                  <a:srgbClr val="E09F3E"/>
                </a:solidFill>
                <a:latin typeface="Calibri" pitchFamily="34" charset="0"/>
                <a:ea typeface="Calibri" pitchFamily="34" charset="-122"/>
                <a:cs typeface="Calibri" pitchFamily="34" charset="-120"/>
              </a:rPr>
              <a:t>-0.79</a:t>
            </a:r>
            <a:endParaRPr lang="en-US" sz="2400" dirty="0"/>
          </a:p>
        </p:txBody>
      </p:sp>
      <p:sp>
        <p:nvSpPr>
          <p:cNvPr id="17" name="Text 15"/>
          <p:cNvSpPr/>
          <p:nvPr/>
        </p:nvSpPr>
        <p:spPr>
          <a:xfrm>
            <a:off x="3291840" y="3749040"/>
            <a:ext cx="2560320" cy="457200"/>
          </a:xfrm>
          <a:prstGeom prst="rect">
            <a:avLst/>
          </a:prstGeom>
          <a:noFill/>
          <a:ln/>
        </p:spPr>
        <p:txBody>
          <a:bodyPr wrap="square" rtlCol="0" anchor="ctr"/>
          <a:lstStyle/>
          <a:p>
            <a:pPr marL="0" indent="0" algn="ctr">
              <a:buNone/>
            </a:pPr>
            <a:r>
              <a:rPr lang="en-US" sz="1000" dirty="0">
                <a:solidFill>
                  <a:srgbClr val="D6E8F5"/>
                </a:solidFill>
                <a:latin typeface="Calibri" pitchFamily="34" charset="0"/>
                <a:ea typeface="Calibri" pitchFamily="34" charset="-122"/>
                <a:cs typeface="Calibri" pitchFamily="34" charset="-120"/>
              </a:rPr>
              <a:t>Correlation (Hosp vs Amp)</a:t>
            </a:r>
            <a:endParaRPr lang="en-US" sz="1000" dirty="0"/>
          </a:p>
        </p:txBody>
      </p:sp>
      <p:sp>
        <p:nvSpPr>
          <p:cNvPr id="18" name="Shape 16"/>
          <p:cNvSpPr/>
          <p:nvPr/>
        </p:nvSpPr>
        <p:spPr>
          <a:xfrm>
            <a:off x="6126480" y="3108960"/>
            <a:ext cx="2560320" cy="1188720"/>
          </a:xfrm>
          <a:prstGeom prst="rect">
            <a:avLst/>
          </a:prstGeom>
          <a:solidFill>
            <a:srgbClr val="1B4F72"/>
          </a:solidFill>
          <a:ln w="12700">
            <a:solidFill>
              <a:srgbClr val="2E86AB"/>
            </a:solidFill>
            <a:prstDash val="solid"/>
          </a:ln>
        </p:spPr>
        <p:txBody>
          <a:bodyPr/>
          <a:lstStyle/>
          <a:p>
            <a:endParaRPr lang="en-US"/>
          </a:p>
        </p:txBody>
      </p:sp>
      <p:sp>
        <p:nvSpPr>
          <p:cNvPr id="19" name="Text 17"/>
          <p:cNvSpPr/>
          <p:nvPr/>
        </p:nvSpPr>
        <p:spPr>
          <a:xfrm>
            <a:off x="6126480" y="3154680"/>
            <a:ext cx="2560320" cy="640080"/>
          </a:xfrm>
          <a:prstGeom prst="rect">
            <a:avLst/>
          </a:prstGeom>
          <a:noFill/>
          <a:ln/>
        </p:spPr>
        <p:txBody>
          <a:bodyPr wrap="square" rtlCol="0" anchor="ctr"/>
          <a:lstStyle/>
          <a:p>
            <a:pPr marL="0" indent="0" algn="ctr">
              <a:buNone/>
            </a:pPr>
            <a:r>
              <a:rPr lang="en-US" sz="2400" b="1" dirty="0">
                <a:solidFill>
                  <a:srgbClr val="E09F3E"/>
                </a:solidFill>
                <a:latin typeface="Calibri" pitchFamily="34" charset="0"/>
                <a:ea typeface="Calibri" pitchFamily="34" charset="-122"/>
                <a:cs typeface="Calibri" pitchFamily="34" charset="-120"/>
              </a:rPr>
              <a:t>97.48%</a:t>
            </a:r>
            <a:endParaRPr lang="en-US" sz="2400" dirty="0"/>
          </a:p>
        </p:txBody>
      </p:sp>
      <p:sp>
        <p:nvSpPr>
          <p:cNvPr id="20" name="Text 18"/>
          <p:cNvSpPr/>
          <p:nvPr/>
        </p:nvSpPr>
        <p:spPr>
          <a:xfrm>
            <a:off x="6126480" y="3749040"/>
            <a:ext cx="2560320" cy="457200"/>
          </a:xfrm>
          <a:prstGeom prst="rect">
            <a:avLst/>
          </a:prstGeom>
          <a:noFill/>
          <a:ln/>
        </p:spPr>
        <p:txBody>
          <a:bodyPr wrap="square" rtlCol="0" anchor="ctr"/>
          <a:lstStyle/>
          <a:p>
            <a:pPr marL="0" indent="0" algn="ctr">
              <a:buNone/>
            </a:pPr>
            <a:r>
              <a:rPr lang="en-US" sz="1000" dirty="0">
                <a:solidFill>
                  <a:srgbClr val="D6E8F5"/>
                </a:solidFill>
                <a:latin typeface="Calibri" pitchFamily="34" charset="0"/>
                <a:ea typeface="Calibri" pitchFamily="34" charset="-122"/>
                <a:cs typeface="Calibri" pitchFamily="34" charset="-120"/>
              </a:rPr>
              <a:t>NAICS Match Rate</a:t>
            </a:r>
            <a:endParaRPr lang="en-US" sz="1000" dirty="0"/>
          </a:p>
        </p:txBody>
      </p:sp>
      <p:sp>
        <p:nvSpPr>
          <p:cNvPr id="21" name="Shape 19"/>
          <p:cNvSpPr/>
          <p:nvPr/>
        </p:nvSpPr>
        <p:spPr>
          <a:xfrm>
            <a:off x="8961120" y="3108960"/>
            <a:ext cx="2560320" cy="1188720"/>
          </a:xfrm>
          <a:prstGeom prst="rect">
            <a:avLst/>
          </a:prstGeom>
          <a:solidFill>
            <a:srgbClr val="1B4F72"/>
          </a:solidFill>
          <a:ln w="12700">
            <a:solidFill>
              <a:srgbClr val="2E86AB"/>
            </a:solidFill>
            <a:prstDash val="solid"/>
          </a:ln>
        </p:spPr>
        <p:txBody>
          <a:bodyPr/>
          <a:lstStyle/>
          <a:p>
            <a:endParaRPr lang="en-US"/>
          </a:p>
        </p:txBody>
      </p:sp>
      <p:sp>
        <p:nvSpPr>
          <p:cNvPr id="22" name="Text 20"/>
          <p:cNvSpPr/>
          <p:nvPr/>
        </p:nvSpPr>
        <p:spPr>
          <a:xfrm>
            <a:off x="8961120" y="3154680"/>
            <a:ext cx="2560320" cy="640080"/>
          </a:xfrm>
          <a:prstGeom prst="rect">
            <a:avLst/>
          </a:prstGeom>
          <a:noFill/>
          <a:ln/>
        </p:spPr>
        <p:txBody>
          <a:bodyPr wrap="square" rtlCol="0" anchor="ctr"/>
          <a:lstStyle/>
          <a:p>
            <a:pPr marL="0" indent="0" algn="ctr">
              <a:buNone/>
            </a:pPr>
            <a:r>
              <a:rPr lang="en-US" sz="2400" b="1" dirty="0">
                <a:solidFill>
                  <a:srgbClr val="E09F3E"/>
                </a:solidFill>
                <a:latin typeface="Calibri" pitchFamily="34" charset="0"/>
                <a:ea typeface="Calibri" pitchFamily="34" charset="-122"/>
                <a:cs typeface="Calibri" pitchFamily="34" charset="-120"/>
              </a:rPr>
              <a:t>3x</a:t>
            </a:r>
            <a:endParaRPr lang="en-US" sz="2400" dirty="0"/>
          </a:p>
        </p:txBody>
      </p:sp>
      <p:sp>
        <p:nvSpPr>
          <p:cNvPr id="23" name="Text 21"/>
          <p:cNvSpPr/>
          <p:nvPr/>
        </p:nvSpPr>
        <p:spPr>
          <a:xfrm>
            <a:off x="8961120" y="3749040"/>
            <a:ext cx="2560320" cy="457200"/>
          </a:xfrm>
          <a:prstGeom prst="rect">
            <a:avLst/>
          </a:prstGeom>
          <a:noFill/>
          <a:ln/>
        </p:spPr>
        <p:txBody>
          <a:bodyPr wrap="square" rtlCol="0" anchor="ctr"/>
          <a:lstStyle/>
          <a:p>
            <a:pPr marL="0" indent="0" algn="ctr">
              <a:buNone/>
            </a:pPr>
            <a:r>
              <a:rPr lang="en-US" sz="1000" dirty="0">
                <a:solidFill>
                  <a:srgbClr val="D6E8F5"/>
                </a:solidFill>
                <a:latin typeface="Calibri" pitchFamily="34" charset="0"/>
                <a:ea typeface="Calibri" pitchFamily="34" charset="-122"/>
                <a:cs typeface="Calibri" pitchFamily="34" charset="-120"/>
              </a:rPr>
              <a:t>Construction vs Next Industry</a:t>
            </a:r>
            <a:endParaRPr lang="en-US" sz="1000" dirty="0"/>
          </a:p>
        </p:txBody>
      </p:sp>
      <p:sp>
        <p:nvSpPr>
          <p:cNvPr id="24" name="Text 22"/>
          <p:cNvSpPr/>
          <p:nvPr/>
        </p:nvSpPr>
        <p:spPr>
          <a:xfrm>
            <a:off x="1371600" y="4663440"/>
            <a:ext cx="9418320" cy="320040"/>
          </a:xfrm>
          <a:prstGeom prst="rect">
            <a:avLst/>
          </a:prstGeom>
          <a:noFill/>
          <a:ln/>
        </p:spPr>
        <p:txBody>
          <a:bodyPr wrap="square" rtlCol="0" anchor="ctr"/>
          <a:lstStyle/>
          <a:p>
            <a:pPr marL="0" indent="0" algn="ctr">
              <a:buNone/>
            </a:pPr>
            <a:r>
              <a:rPr lang="en-US" sz="1100" dirty="0">
                <a:solidFill>
                  <a:srgbClr val="5A7A8E"/>
                </a:solidFill>
                <a:latin typeface="Calibri" pitchFamily="34" charset="0"/>
                <a:ea typeface="Calibri" pitchFamily="34" charset="-122"/>
                <a:cs typeface="Calibri" pitchFamily="34" charset="-120"/>
              </a:rPr>
              <a:t>Mary Becker  |  FullStack Academy Data Analytics Certificate  |  2025</a:t>
            </a:r>
            <a:endParaRPr lang="en-US" sz="1100" dirty="0"/>
          </a:p>
        </p:txBody>
      </p:sp>
      <p:sp>
        <p:nvSpPr>
          <p:cNvPr id="25" name="Text 23"/>
          <p:cNvSpPr/>
          <p:nvPr/>
        </p:nvSpPr>
        <p:spPr>
          <a:xfrm>
            <a:off x="1371600" y="5029200"/>
            <a:ext cx="9418320" cy="320040"/>
          </a:xfrm>
          <a:prstGeom prst="rect">
            <a:avLst/>
          </a:prstGeom>
          <a:noFill/>
          <a:ln/>
        </p:spPr>
        <p:txBody>
          <a:bodyPr wrap="square" rtlCol="0" anchor="ctr"/>
          <a:lstStyle/>
          <a:p>
            <a:pPr marL="0" indent="0" algn="ctr">
              <a:buNone/>
            </a:pPr>
            <a:r>
              <a:rPr lang="en-US" sz="1000" dirty="0">
                <a:solidFill>
                  <a:srgbClr val="5A7A8E"/>
                </a:solidFill>
                <a:latin typeface="Calibri" pitchFamily="34" charset="0"/>
                <a:ea typeface="Calibri" pitchFamily="34" charset="-122"/>
                <a:cs typeface="Calibri" pitchFamily="34" charset="-120"/>
              </a:rPr>
              <a:t>Dataset: OSHA Severe Injury Report  |  osha.gov/severe-injury-reports  |  29 CFR 1904.39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2789</Words>
  <Application>Microsoft Office PowerPoint</Application>
  <PresentationFormat>Widescreen</PresentationFormat>
  <Paragraphs>418</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Mary Becker</cp:lastModifiedBy>
  <cp:revision>2</cp:revision>
  <dcterms:created xsi:type="dcterms:W3CDTF">2026-07-12T13:08:54Z</dcterms:created>
  <dcterms:modified xsi:type="dcterms:W3CDTF">2026-07-12T13:46:07Z</dcterms:modified>
</cp:coreProperties>
</file>